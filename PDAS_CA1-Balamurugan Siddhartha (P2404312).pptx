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20"/>
  </p:notesMasterIdLst>
  <p:sldIdLst>
    <p:sldId id="256" r:id="rId2"/>
    <p:sldId id="318" r:id="rId3"/>
    <p:sldId id="257" r:id="rId4"/>
    <p:sldId id="312" r:id="rId5"/>
    <p:sldId id="315" r:id="rId6"/>
    <p:sldId id="317" r:id="rId7"/>
    <p:sldId id="316" r:id="rId8"/>
    <p:sldId id="330" r:id="rId9"/>
    <p:sldId id="331" r:id="rId10"/>
    <p:sldId id="332" r:id="rId11"/>
    <p:sldId id="333" r:id="rId12"/>
    <p:sldId id="334" r:id="rId13"/>
    <p:sldId id="335" r:id="rId14"/>
    <p:sldId id="336" r:id="rId15"/>
    <p:sldId id="337" r:id="rId16"/>
    <p:sldId id="338" r:id="rId17"/>
    <p:sldId id="339" r:id="rId18"/>
    <p:sldId id="340" r:id="rId19"/>
  </p:sldIdLst>
  <p:sldSz cx="9144000" cy="5143500" type="screen16x9"/>
  <p:notesSz cx="6858000" cy="9144000"/>
  <p:embeddedFontLst>
    <p:embeddedFont>
      <p:font typeface="Baloo 2 ExtraBold" panose="020B0604020202020204" charset="0"/>
      <p:bold r:id="rId21"/>
    </p:embeddedFont>
    <p:embeddedFont>
      <p:font typeface="Book Antiqua" panose="02040602050305030304" pitchFamily="18" charset="0"/>
      <p:regular r:id="rId22"/>
      <p:bold r:id="rId23"/>
      <p:italic r:id="rId24"/>
      <p:boldItalic r:id="rId25"/>
    </p:embeddedFont>
    <p:embeddedFont>
      <p:font typeface="Commissioner ExtraBold" panose="020B0604020202020204" charset="0"/>
      <p:bold r:id="rId26"/>
    </p:embeddedFont>
    <p:embeddedFont>
      <p:font typeface="DM Sans" pitchFamily="2"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Main" id="{8724EC8D-1F17-42C7-B317-D8B53B002344}">
          <p14:sldIdLst>
            <p14:sldId id="256"/>
            <p14:sldId id="318"/>
            <p14:sldId id="257"/>
            <p14:sldId id="312"/>
            <p14:sldId id="315"/>
            <p14:sldId id="317"/>
          </p14:sldIdLst>
        </p14:section>
        <p14:section name="Data Wrangling (Pandas)" id="{364EA753-A45B-4190-BA29-EDC2A5F33197}">
          <p14:sldIdLst>
            <p14:sldId id="316"/>
            <p14:sldId id="330"/>
            <p14:sldId id="331"/>
          </p14:sldIdLst>
        </p14:section>
        <p14:section name="End Of Pandas" id="{E2A85710-994A-40EC-843B-51BAE69263D8}">
          <p14:sldIdLst>
            <p14:sldId id="332"/>
            <p14:sldId id="333"/>
          </p14:sldIdLst>
        </p14:section>
        <p14:section name="Data Visualisation (MatPlotLib)" id="{06D9D290-2D6E-4BFC-8AB3-03DE29363BFF}">
          <p14:sldIdLst>
            <p14:sldId id="334"/>
            <p14:sldId id="335"/>
            <p14:sldId id="336"/>
          </p14:sldIdLst>
        </p14:section>
        <p14:section name="End Of MatPlotLib" id="{152B1B9F-FE0F-4C05-B442-B7B6C19F84BC}">
          <p14:sldIdLst>
            <p14:sldId id="337"/>
            <p14:sldId id="338"/>
            <p14:sldId id="339"/>
            <p14:sldId id="340"/>
          </p14:sldIdLst>
        </p14:section>
      </p14:sectionLst>
    </p:ex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FED9"/>
    <a:srgbClr val="CCCCFF"/>
    <a:srgbClr val="FFFFCC"/>
    <a:srgbClr val="080808"/>
    <a:srgbClr val="242424"/>
    <a:srgbClr val="748C7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B1F146A-F744-4C28-B719-4DA5767C17B3}">
  <a:tblStyle styleId="{5B1F146A-F744-4C28-B719-4DA5767C17B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D59A9CF-FCD4-48AC-8537-53A4C5F7CE93}"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914" autoAdjust="0"/>
  </p:normalViewPr>
  <p:slideViewPr>
    <p:cSldViewPr snapToGrid="0">
      <p:cViewPr>
        <p:scale>
          <a:sx n="66" d="100"/>
          <a:sy n="66" d="100"/>
        </p:scale>
        <p:origin x="1698" y="76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3" name="Google Shape;663;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42343143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10902861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28217414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42616456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2026558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1644614" y="-2747525"/>
            <a:ext cx="12278718" cy="10475804"/>
            <a:chOff x="-1644614" y="-2747525"/>
            <a:chExt cx="12278718" cy="10475804"/>
          </a:xfrm>
        </p:grpSpPr>
        <p:sp>
          <p:nvSpPr>
            <p:cNvPr id="10" name="Google Shape;10;p2"/>
            <p:cNvSpPr/>
            <p:nvPr/>
          </p:nvSpPr>
          <p:spPr>
            <a:xfrm rot="-2526399">
              <a:off x="5593085" y="3029310"/>
              <a:ext cx="4356710" cy="3718191"/>
            </a:xfrm>
            <a:custGeom>
              <a:avLst/>
              <a:gdLst/>
              <a:ahLst/>
              <a:cxnLst/>
              <a:rect l="l" t="t" r="r" b="b"/>
              <a:pathLst>
                <a:path w="1480978" h="1263926" extrusionOk="0">
                  <a:moveTo>
                    <a:pt x="448644" y="41059"/>
                  </a:moveTo>
                  <a:cubicBezTo>
                    <a:pt x="132459" y="160545"/>
                    <a:pt x="-63263" y="534477"/>
                    <a:pt x="18674" y="862391"/>
                  </a:cubicBezTo>
                  <a:cubicBezTo>
                    <a:pt x="50440" y="989451"/>
                    <a:pt x="121056" y="1109506"/>
                    <a:pt x="227835" y="1185417"/>
                  </a:cubicBezTo>
                  <a:cubicBezTo>
                    <a:pt x="334615" y="1261327"/>
                    <a:pt x="479105" y="1287961"/>
                    <a:pt x="600872" y="1239581"/>
                  </a:cubicBezTo>
                  <a:cubicBezTo>
                    <a:pt x="717344" y="1193236"/>
                    <a:pt x="810928" y="1083362"/>
                    <a:pt x="936115" y="1078230"/>
                  </a:cubicBezTo>
                  <a:cubicBezTo>
                    <a:pt x="1040696" y="1073913"/>
                    <a:pt x="1137131" y="1146077"/>
                    <a:pt x="1241712" y="1141190"/>
                  </a:cubicBezTo>
                  <a:cubicBezTo>
                    <a:pt x="1392148" y="1134267"/>
                    <a:pt x="1491841" y="964364"/>
                    <a:pt x="1480031" y="814173"/>
                  </a:cubicBezTo>
                  <a:cubicBezTo>
                    <a:pt x="1468547" y="668461"/>
                    <a:pt x="1377080" y="566894"/>
                    <a:pt x="1324382" y="437553"/>
                  </a:cubicBezTo>
                  <a:cubicBezTo>
                    <a:pt x="1279993" y="328574"/>
                    <a:pt x="1243911" y="248429"/>
                    <a:pt x="1148860" y="169749"/>
                  </a:cubicBezTo>
                  <a:cubicBezTo>
                    <a:pt x="958514" y="12145"/>
                    <a:pt x="682483" y="-47313"/>
                    <a:pt x="448644" y="41059"/>
                  </a:cubicBezTo>
                  <a:close/>
                </a:path>
              </a:pathLst>
            </a:custGeom>
            <a:solidFill>
              <a:srgbClr val="CBDDFA">
                <a:alpha val="3924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 name="Google Shape;11;p2"/>
            <p:cNvSpPr/>
            <p:nvPr/>
          </p:nvSpPr>
          <p:spPr>
            <a:xfrm rot="7128784">
              <a:off x="8363688" y="1001192"/>
              <a:ext cx="1703625" cy="1100471"/>
            </a:xfrm>
            <a:custGeom>
              <a:avLst/>
              <a:gdLst/>
              <a:ahLst/>
              <a:cxnLst/>
              <a:rect l="l" t="t" r="r" b="b"/>
              <a:pathLst>
                <a:path w="616186" h="397857" extrusionOk="0">
                  <a:moveTo>
                    <a:pt x="313618" y="7724"/>
                  </a:moveTo>
                  <a:cubicBezTo>
                    <a:pt x="247889" y="-5144"/>
                    <a:pt x="177517" y="-3516"/>
                    <a:pt x="116756" y="24747"/>
                  </a:cubicBezTo>
                  <a:cubicBezTo>
                    <a:pt x="56077" y="53010"/>
                    <a:pt x="6963" y="110839"/>
                    <a:pt x="610" y="177546"/>
                  </a:cubicBezTo>
                  <a:cubicBezTo>
                    <a:pt x="-5743" y="244171"/>
                    <a:pt x="38158" y="315439"/>
                    <a:pt x="103561" y="329692"/>
                  </a:cubicBezTo>
                  <a:cubicBezTo>
                    <a:pt x="172467" y="344679"/>
                    <a:pt x="243002" y="298660"/>
                    <a:pt x="312478" y="310633"/>
                  </a:cubicBezTo>
                  <a:cubicBezTo>
                    <a:pt x="353365" y="317638"/>
                    <a:pt x="387818" y="343701"/>
                    <a:pt x="423167" y="365367"/>
                  </a:cubicBezTo>
                  <a:cubicBezTo>
                    <a:pt x="458516" y="387032"/>
                    <a:pt x="500380" y="405358"/>
                    <a:pt x="540453" y="394770"/>
                  </a:cubicBezTo>
                  <a:cubicBezTo>
                    <a:pt x="598445" y="379457"/>
                    <a:pt x="625730" y="307619"/>
                    <a:pt x="613187" y="248976"/>
                  </a:cubicBezTo>
                  <a:cubicBezTo>
                    <a:pt x="581829" y="101879"/>
                    <a:pt x="448090" y="34195"/>
                    <a:pt x="313618" y="7724"/>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12;p2"/>
            <p:cNvSpPr/>
            <p:nvPr/>
          </p:nvSpPr>
          <p:spPr>
            <a:xfrm rot="1490198">
              <a:off x="-1039429" y="-1920903"/>
              <a:ext cx="4803426" cy="3939324"/>
            </a:xfrm>
            <a:custGeom>
              <a:avLst/>
              <a:gdLst/>
              <a:ahLst/>
              <a:cxnLst/>
              <a:rect l="l" t="t" r="r" b="b"/>
              <a:pathLst>
                <a:path w="1640321" h="1345239" extrusionOk="0">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rgbClr val="CBDDFA">
                <a:alpha val="3924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3" name="Google Shape;13;p2"/>
          <p:cNvSpPr txBox="1">
            <a:spLocks noGrp="1"/>
          </p:cNvSpPr>
          <p:nvPr>
            <p:ph type="ctrTitle"/>
          </p:nvPr>
        </p:nvSpPr>
        <p:spPr>
          <a:xfrm>
            <a:off x="713225" y="2634850"/>
            <a:ext cx="3862500" cy="1385100"/>
          </a:xfrm>
          <a:prstGeom prst="rect">
            <a:avLst/>
          </a:prstGeom>
        </p:spPr>
        <p:txBody>
          <a:bodyPr spcFirstLastPara="1" wrap="square" lIns="91425" tIns="91425" rIns="91425" bIns="91425" anchor="b" anchorCtr="0">
            <a:noAutofit/>
          </a:bodyPr>
          <a:lstStyle>
            <a:lvl1pPr lvl="0">
              <a:lnSpc>
                <a:spcPct val="85000"/>
              </a:lnSpc>
              <a:spcBef>
                <a:spcPts val="0"/>
              </a:spcBef>
              <a:spcAft>
                <a:spcPts val="0"/>
              </a:spcAft>
              <a:buClr>
                <a:srgbClr val="191919"/>
              </a:buClr>
              <a:buSzPts val="5200"/>
              <a:buNone/>
              <a:defRPr sz="7000" b="0">
                <a:latin typeface="Baloo 2 ExtraBold"/>
                <a:ea typeface="Baloo 2 ExtraBold"/>
                <a:cs typeface="Baloo 2 ExtraBold"/>
                <a:sym typeface="Baloo 2 ExtraBold"/>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4" name="Google Shape;14;p2"/>
          <p:cNvSpPr txBox="1">
            <a:spLocks noGrp="1"/>
          </p:cNvSpPr>
          <p:nvPr>
            <p:ph type="subTitle" idx="1"/>
          </p:nvPr>
        </p:nvSpPr>
        <p:spPr>
          <a:xfrm>
            <a:off x="713225" y="3970798"/>
            <a:ext cx="3862500" cy="4050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solidFill>
                  <a:schemeClr val="dk1"/>
                </a:solidFill>
                <a:latin typeface="DM Sans"/>
                <a:ea typeface="DM Sans"/>
                <a:cs typeface="DM Sans"/>
                <a:sym typeface="DM Sa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0"/>
        <p:cNvGrpSpPr/>
        <p:nvPr/>
      </p:nvGrpSpPr>
      <p:grpSpPr>
        <a:xfrm>
          <a:off x="0" y="0"/>
          <a:ext cx="0" cy="0"/>
          <a:chOff x="0" y="0"/>
          <a:chExt cx="0" cy="0"/>
        </a:xfrm>
      </p:grpSpPr>
      <p:sp>
        <p:nvSpPr>
          <p:cNvPr id="41" name="Google Shape;41;p6"/>
          <p:cNvSpPr/>
          <p:nvPr/>
        </p:nvSpPr>
        <p:spPr>
          <a:xfrm>
            <a:off x="-1276825" y="-338425"/>
            <a:ext cx="3566904" cy="891281"/>
          </a:xfrm>
          <a:custGeom>
            <a:avLst/>
            <a:gdLst/>
            <a:ahLst/>
            <a:cxnLst/>
            <a:rect l="l" t="t" r="r" b="b"/>
            <a:pathLst>
              <a:path w="62079" h="15512" extrusionOk="0">
                <a:moveTo>
                  <a:pt x="34" y="1"/>
                </a:moveTo>
                <a:cubicBezTo>
                  <a:pt x="1" y="2502"/>
                  <a:pt x="201" y="4971"/>
                  <a:pt x="1202" y="7206"/>
                </a:cubicBezTo>
                <a:cubicBezTo>
                  <a:pt x="2669" y="10541"/>
                  <a:pt x="5772" y="13043"/>
                  <a:pt x="9241" y="14211"/>
                </a:cubicBezTo>
                <a:cubicBezTo>
                  <a:pt x="9608" y="14344"/>
                  <a:pt x="10008" y="14478"/>
                  <a:pt x="10408" y="14544"/>
                </a:cubicBezTo>
                <a:cubicBezTo>
                  <a:pt x="14378" y="15512"/>
                  <a:pt x="18581" y="14945"/>
                  <a:pt x="22384" y="13477"/>
                </a:cubicBezTo>
                <a:cubicBezTo>
                  <a:pt x="23084" y="13177"/>
                  <a:pt x="23851" y="12876"/>
                  <a:pt x="24552" y="12543"/>
                </a:cubicBezTo>
                <a:cubicBezTo>
                  <a:pt x="27187" y="11342"/>
                  <a:pt x="29722" y="9974"/>
                  <a:pt x="32524" y="9341"/>
                </a:cubicBezTo>
                <a:cubicBezTo>
                  <a:pt x="35927" y="8540"/>
                  <a:pt x="39462" y="8974"/>
                  <a:pt x="42965" y="9207"/>
                </a:cubicBezTo>
                <a:cubicBezTo>
                  <a:pt x="46034" y="9474"/>
                  <a:pt x="49069" y="9574"/>
                  <a:pt x="51971" y="8840"/>
                </a:cubicBezTo>
                <a:cubicBezTo>
                  <a:pt x="56475" y="7673"/>
                  <a:pt x="60277" y="4270"/>
                  <a:pt x="62079" y="1"/>
                </a:cubicBezTo>
                <a:lnTo>
                  <a:pt x="3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6"/>
          <p:cNvSpPr/>
          <p:nvPr/>
        </p:nvSpPr>
        <p:spPr>
          <a:xfrm rot="10800000">
            <a:off x="6888750" y="4295000"/>
            <a:ext cx="3566904" cy="891281"/>
          </a:xfrm>
          <a:custGeom>
            <a:avLst/>
            <a:gdLst/>
            <a:ahLst/>
            <a:cxnLst/>
            <a:rect l="l" t="t" r="r" b="b"/>
            <a:pathLst>
              <a:path w="62079" h="15512" extrusionOk="0">
                <a:moveTo>
                  <a:pt x="34" y="1"/>
                </a:moveTo>
                <a:cubicBezTo>
                  <a:pt x="1" y="2502"/>
                  <a:pt x="201" y="4971"/>
                  <a:pt x="1202" y="7206"/>
                </a:cubicBezTo>
                <a:cubicBezTo>
                  <a:pt x="2669" y="10541"/>
                  <a:pt x="5772" y="13043"/>
                  <a:pt x="9241" y="14211"/>
                </a:cubicBezTo>
                <a:cubicBezTo>
                  <a:pt x="9608" y="14344"/>
                  <a:pt x="10008" y="14478"/>
                  <a:pt x="10408" y="14544"/>
                </a:cubicBezTo>
                <a:cubicBezTo>
                  <a:pt x="14378" y="15512"/>
                  <a:pt x="18581" y="14945"/>
                  <a:pt x="22384" y="13477"/>
                </a:cubicBezTo>
                <a:cubicBezTo>
                  <a:pt x="23084" y="13177"/>
                  <a:pt x="23851" y="12876"/>
                  <a:pt x="24552" y="12543"/>
                </a:cubicBezTo>
                <a:cubicBezTo>
                  <a:pt x="27187" y="11342"/>
                  <a:pt x="29722" y="9974"/>
                  <a:pt x="32524" y="9341"/>
                </a:cubicBezTo>
                <a:cubicBezTo>
                  <a:pt x="35927" y="8540"/>
                  <a:pt x="39462" y="8974"/>
                  <a:pt x="42965" y="9207"/>
                </a:cubicBezTo>
                <a:cubicBezTo>
                  <a:pt x="46034" y="9474"/>
                  <a:pt x="49069" y="9574"/>
                  <a:pt x="51971" y="8840"/>
                </a:cubicBezTo>
                <a:cubicBezTo>
                  <a:pt x="56475" y="7673"/>
                  <a:pt x="60277" y="4270"/>
                  <a:pt x="62079" y="1"/>
                </a:cubicBezTo>
                <a:lnTo>
                  <a:pt x="3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6"/>
          <p:cNvSpPr/>
          <p:nvPr/>
        </p:nvSpPr>
        <p:spPr>
          <a:xfrm>
            <a:off x="-758875" y="-493000"/>
            <a:ext cx="2531000" cy="1293450"/>
          </a:xfrm>
          <a:custGeom>
            <a:avLst/>
            <a:gdLst/>
            <a:ahLst/>
            <a:cxnLst/>
            <a:rect l="l" t="t" r="r" b="b"/>
            <a:pathLst>
              <a:path w="101240" h="51738" extrusionOk="0">
                <a:moveTo>
                  <a:pt x="100572" y="234"/>
                </a:moveTo>
                <a:cubicBezTo>
                  <a:pt x="96369" y="2669"/>
                  <a:pt x="93000" y="6139"/>
                  <a:pt x="90531" y="10342"/>
                </a:cubicBezTo>
                <a:cubicBezTo>
                  <a:pt x="89364" y="12343"/>
                  <a:pt x="88530" y="14511"/>
                  <a:pt x="87930" y="16746"/>
                </a:cubicBezTo>
                <a:cubicBezTo>
                  <a:pt x="87162" y="19581"/>
                  <a:pt x="87029" y="22584"/>
                  <a:pt x="86162" y="25352"/>
                </a:cubicBezTo>
                <a:cubicBezTo>
                  <a:pt x="83827" y="32624"/>
                  <a:pt x="75354" y="33091"/>
                  <a:pt x="69150" y="31490"/>
                </a:cubicBezTo>
                <a:cubicBezTo>
                  <a:pt x="64513" y="30322"/>
                  <a:pt x="59476" y="27687"/>
                  <a:pt x="55206" y="31223"/>
                </a:cubicBezTo>
                <a:cubicBezTo>
                  <a:pt x="53572" y="32624"/>
                  <a:pt x="52671" y="34726"/>
                  <a:pt x="51737" y="36594"/>
                </a:cubicBezTo>
                <a:cubicBezTo>
                  <a:pt x="50369" y="39362"/>
                  <a:pt x="48702" y="41797"/>
                  <a:pt x="46133" y="43632"/>
                </a:cubicBezTo>
                <a:cubicBezTo>
                  <a:pt x="40162" y="47802"/>
                  <a:pt x="34692" y="43899"/>
                  <a:pt x="29488" y="40763"/>
                </a:cubicBezTo>
                <a:cubicBezTo>
                  <a:pt x="20582" y="35326"/>
                  <a:pt x="9307" y="37494"/>
                  <a:pt x="3002" y="45700"/>
                </a:cubicBezTo>
                <a:cubicBezTo>
                  <a:pt x="1701" y="47368"/>
                  <a:pt x="801" y="49236"/>
                  <a:pt x="134" y="51204"/>
                </a:cubicBezTo>
                <a:cubicBezTo>
                  <a:pt x="0" y="51571"/>
                  <a:pt x="567" y="51738"/>
                  <a:pt x="701" y="51371"/>
                </a:cubicBezTo>
                <a:cubicBezTo>
                  <a:pt x="2702" y="45667"/>
                  <a:pt x="7139" y="41297"/>
                  <a:pt x="12843" y="39296"/>
                </a:cubicBezTo>
                <a:cubicBezTo>
                  <a:pt x="19181" y="37061"/>
                  <a:pt x="25485" y="38862"/>
                  <a:pt x="30889" y="42364"/>
                </a:cubicBezTo>
                <a:cubicBezTo>
                  <a:pt x="35092" y="45033"/>
                  <a:pt x="39195" y="47301"/>
                  <a:pt x="44198" y="45400"/>
                </a:cubicBezTo>
                <a:cubicBezTo>
                  <a:pt x="48802" y="43665"/>
                  <a:pt x="51037" y="39462"/>
                  <a:pt x="53138" y="35359"/>
                </a:cubicBezTo>
                <a:cubicBezTo>
                  <a:pt x="54639" y="32457"/>
                  <a:pt x="56574" y="30222"/>
                  <a:pt x="60076" y="30056"/>
                </a:cubicBezTo>
                <a:cubicBezTo>
                  <a:pt x="63345" y="29889"/>
                  <a:pt x="66648" y="31523"/>
                  <a:pt x="69717" y="32324"/>
                </a:cubicBezTo>
                <a:cubicBezTo>
                  <a:pt x="74220" y="33458"/>
                  <a:pt x="79724" y="33491"/>
                  <a:pt x="83493" y="30322"/>
                </a:cubicBezTo>
                <a:cubicBezTo>
                  <a:pt x="87729" y="26787"/>
                  <a:pt x="87396" y="21216"/>
                  <a:pt x="88730" y="16312"/>
                </a:cubicBezTo>
                <a:cubicBezTo>
                  <a:pt x="90231" y="10809"/>
                  <a:pt x="93800" y="5938"/>
                  <a:pt x="98304" y="2469"/>
                </a:cubicBezTo>
                <a:cubicBezTo>
                  <a:pt x="99138" y="1835"/>
                  <a:pt x="100038" y="1302"/>
                  <a:pt x="100906" y="768"/>
                </a:cubicBezTo>
                <a:cubicBezTo>
                  <a:pt x="101239" y="568"/>
                  <a:pt x="100906" y="1"/>
                  <a:pt x="100572" y="23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txBox="1">
            <a:spLocks noGrp="1"/>
          </p:cNvSpPr>
          <p:nvPr>
            <p:ph type="title"/>
          </p:nvPr>
        </p:nvSpPr>
        <p:spPr>
          <a:xfrm>
            <a:off x="713250" y="469500"/>
            <a:ext cx="7717500" cy="453900"/>
          </a:xfrm>
          <a:prstGeom prst="rect">
            <a:avLst/>
          </a:prstGeom>
        </p:spPr>
        <p:txBody>
          <a:bodyPr spcFirstLastPara="1" wrap="square" lIns="0" tIns="0" rIns="0" bIns="0" anchor="t" anchorCtr="0">
            <a:noAutofit/>
          </a:bodyPr>
          <a:lstStyle>
            <a:lvl1pPr lvl="0" algn="ctr" rtl="0">
              <a:spcBef>
                <a:spcPts val="0"/>
              </a:spcBef>
              <a:spcAft>
                <a:spcPts val="0"/>
              </a:spcAft>
              <a:buSzPts val="2800"/>
              <a:buNone/>
              <a:defRPr sz="3100">
                <a:latin typeface="Commissioner ExtraBold"/>
                <a:ea typeface="Commissioner ExtraBold"/>
                <a:cs typeface="Commissioner ExtraBold"/>
                <a:sym typeface="Commission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30474225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200"/>
              <a:buFont typeface="Baloo 2 ExtraBold"/>
              <a:buNone/>
              <a:defRPr sz="3200">
                <a:solidFill>
                  <a:schemeClr val="dk1"/>
                </a:solidFill>
                <a:latin typeface="Baloo 2 ExtraBold"/>
                <a:ea typeface="Baloo 2 ExtraBold"/>
                <a:cs typeface="Baloo 2 ExtraBold"/>
                <a:sym typeface="Baloo 2 ExtraBold"/>
              </a:defRPr>
            </a:lvl1pPr>
            <a:lvl2pPr lvl="1" rtl="0">
              <a:spcBef>
                <a:spcPts val="0"/>
              </a:spcBef>
              <a:spcAft>
                <a:spcPts val="0"/>
              </a:spcAft>
              <a:buClr>
                <a:schemeClr val="dk1"/>
              </a:buClr>
              <a:buSzPts val="3000"/>
              <a:buFont typeface="Baloo 2 ExtraBold"/>
              <a:buNone/>
              <a:defRPr sz="3000">
                <a:solidFill>
                  <a:schemeClr val="dk1"/>
                </a:solidFill>
                <a:latin typeface="Baloo 2 ExtraBold"/>
                <a:ea typeface="Baloo 2 ExtraBold"/>
                <a:cs typeface="Baloo 2 ExtraBold"/>
                <a:sym typeface="Baloo 2 ExtraBold"/>
              </a:defRPr>
            </a:lvl2pPr>
            <a:lvl3pPr lvl="2" rtl="0">
              <a:spcBef>
                <a:spcPts val="0"/>
              </a:spcBef>
              <a:spcAft>
                <a:spcPts val="0"/>
              </a:spcAft>
              <a:buClr>
                <a:schemeClr val="dk1"/>
              </a:buClr>
              <a:buSzPts val="3000"/>
              <a:buFont typeface="Baloo 2 ExtraBold"/>
              <a:buNone/>
              <a:defRPr sz="3000">
                <a:solidFill>
                  <a:schemeClr val="dk1"/>
                </a:solidFill>
                <a:latin typeface="Baloo 2 ExtraBold"/>
                <a:ea typeface="Baloo 2 ExtraBold"/>
                <a:cs typeface="Baloo 2 ExtraBold"/>
                <a:sym typeface="Baloo 2 ExtraBold"/>
              </a:defRPr>
            </a:lvl3pPr>
            <a:lvl4pPr lvl="3" rtl="0">
              <a:spcBef>
                <a:spcPts val="0"/>
              </a:spcBef>
              <a:spcAft>
                <a:spcPts val="0"/>
              </a:spcAft>
              <a:buClr>
                <a:schemeClr val="dk1"/>
              </a:buClr>
              <a:buSzPts val="3000"/>
              <a:buFont typeface="Baloo 2 ExtraBold"/>
              <a:buNone/>
              <a:defRPr sz="3000">
                <a:solidFill>
                  <a:schemeClr val="dk1"/>
                </a:solidFill>
                <a:latin typeface="Baloo 2 ExtraBold"/>
                <a:ea typeface="Baloo 2 ExtraBold"/>
                <a:cs typeface="Baloo 2 ExtraBold"/>
                <a:sym typeface="Baloo 2 ExtraBold"/>
              </a:defRPr>
            </a:lvl4pPr>
            <a:lvl5pPr lvl="4" rtl="0">
              <a:spcBef>
                <a:spcPts val="0"/>
              </a:spcBef>
              <a:spcAft>
                <a:spcPts val="0"/>
              </a:spcAft>
              <a:buClr>
                <a:schemeClr val="dk1"/>
              </a:buClr>
              <a:buSzPts val="3000"/>
              <a:buFont typeface="Baloo 2 ExtraBold"/>
              <a:buNone/>
              <a:defRPr sz="3000">
                <a:solidFill>
                  <a:schemeClr val="dk1"/>
                </a:solidFill>
                <a:latin typeface="Baloo 2 ExtraBold"/>
                <a:ea typeface="Baloo 2 ExtraBold"/>
                <a:cs typeface="Baloo 2 ExtraBold"/>
                <a:sym typeface="Baloo 2 ExtraBold"/>
              </a:defRPr>
            </a:lvl5pPr>
            <a:lvl6pPr lvl="5" rtl="0">
              <a:spcBef>
                <a:spcPts val="0"/>
              </a:spcBef>
              <a:spcAft>
                <a:spcPts val="0"/>
              </a:spcAft>
              <a:buClr>
                <a:schemeClr val="dk1"/>
              </a:buClr>
              <a:buSzPts val="3000"/>
              <a:buFont typeface="Baloo 2 ExtraBold"/>
              <a:buNone/>
              <a:defRPr sz="3000">
                <a:solidFill>
                  <a:schemeClr val="dk1"/>
                </a:solidFill>
                <a:latin typeface="Baloo 2 ExtraBold"/>
                <a:ea typeface="Baloo 2 ExtraBold"/>
                <a:cs typeface="Baloo 2 ExtraBold"/>
                <a:sym typeface="Baloo 2 ExtraBold"/>
              </a:defRPr>
            </a:lvl6pPr>
            <a:lvl7pPr lvl="6" rtl="0">
              <a:spcBef>
                <a:spcPts val="0"/>
              </a:spcBef>
              <a:spcAft>
                <a:spcPts val="0"/>
              </a:spcAft>
              <a:buClr>
                <a:schemeClr val="dk1"/>
              </a:buClr>
              <a:buSzPts val="3000"/>
              <a:buFont typeface="Baloo 2 ExtraBold"/>
              <a:buNone/>
              <a:defRPr sz="3000">
                <a:solidFill>
                  <a:schemeClr val="dk1"/>
                </a:solidFill>
                <a:latin typeface="Baloo 2 ExtraBold"/>
                <a:ea typeface="Baloo 2 ExtraBold"/>
                <a:cs typeface="Baloo 2 ExtraBold"/>
                <a:sym typeface="Baloo 2 ExtraBold"/>
              </a:defRPr>
            </a:lvl7pPr>
            <a:lvl8pPr lvl="7" rtl="0">
              <a:spcBef>
                <a:spcPts val="0"/>
              </a:spcBef>
              <a:spcAft>
                <a:spcPts val="0"/>
              </a:spcAft>
              <a:buClr>
                <a:schemeClr val="dk1"/>
              </a:buClr>
              <a:buSzPts val="3000"/>
              <a:buFont typeface="Baloo 2 ExtraBold"/>
              <a:buNone/>
              <a:defRPr sz="3000">
                <a:solidFill>
                  <a:schemeClr val="dk1"/>
                </a:solidFill>
                <a:latin typeface="Baloo 2 ExtraBold"/>
                <a:ea typeface="Baloo 2 ExtraBold"/>
                <a:cs typeface="Baloo 2 ExtraBold"/>
                <a:sym typeface="Baloo 2 ExtraBold"/>
              </a:defRPr>
            </a:lvl8pPr>
            <a:lvl9pPr lvl="8" rtl="0">
              <a:spcBef>
                <a:spcPts val="0"/>
              </a:spcBef>
              <a:spcAft>
                <a:spcPts val="0"/>
              </a:spcAft>
              <a:buClr>
                <a:schemeClr val="dk1"/>
              </a:buClr>
              <a:buSzPts val="3000"/>
              <a:buFont typeface="Baloo 2 ExtraBold"/>
              <a:buNone/>
              <a:defRPr sz="3000">
                <a:solidFill>
                  <a:schemeClr val="dk1"/>
                </a:solidFill>
                <a:latin typeface="Baloo 2 ExtraBold"/>
                <a:ea typeface="Baloo 2 ExtraBold"/>
                <a:cs typeface="Baloo 2 ExtraBold"/>
                <a:sym typeface="Baloo 2 ExtraBold"/>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marL="914400" lvl="1"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marL="1371600" lvl="2"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marL="1828800" lvl="3"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marL="2286000" lvl="4"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marL="2743200" lvl="5"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marL="3200400" lvl="6"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marL="3657600" lvl="7"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marL="4114800" lvl="8"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73"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sv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4.png"/><Relationship Id="rId17" Type="http://schemas.openxmlformats.org/officeDocument/2006/relationships/image" Target="../media/image39.svg"/><Relationship Id="rId2" Type="http://schemas.openxmlformats.org/officeDocument/2006/relationships/image" Target="../media/image24.png"/><Relationship Id="rId16"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33.svg"/><Relationship Id="rId5" Type="http://schemas.openxmlformats.org/officeDocument/2006/relationships/image" Target="../media/image27.png"/><Relationship Id="rId15" Type="http://schemas.openxmlformats.org/officeDocument/2006/relationships/image" Target="../media/image37.sv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image" Target="../media/image3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 Id="rId9" Type="http://schemas.openxmlformats.org/officeDocument/2006/relationships/image" Target="../media/image49.png"/></Relationships>
</file>

<file path=ppt/slides/_rels/slide1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1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15.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image" Target="../media/image57.png"/><Relationship Id="rId1" Type="http://schemas.openxmlformats.org/officeDocument/2006/relationships/slideLayout" Target="../slideLayouts/slideLayout1.xml"/><Relationship Id="rId5" Type="http://schemas.openxmlformats.org/officeDocument/2006/relationships/image" Target="../media/image60.svg"/><Relationship Id="rId4" Type="http://schemas.openxmlformats.org/officeDocument/2006/relationships/image" Target="../media/image5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Shape 664"/>
        <p:cNvGrpSpPr/>
        <p:nvPr/>
      </p:nvGrpSpPr>
      <p:grpSpPr>
        <a:xfrm>
          <a:off x="0" y="0"/>
          <a:ext cx="0" cy="0"/>
          <a:chOff x="0" y="0"/>
          <a:chExt cx="0" cy="0"/>
        </a:xfrm>
      </p:grpSpPr>
      <p:sp>
        <p:nvSpPr>
          <p:cNvPr id="665" name="Google Shape;665;p27"/>
          <p:cNvSpPr/>
          <p:nvPr/>
        </p:nvSpPr>
        <p:spPr>
          <a:xfrm>
            <a:off x="7330025" y="459500"/>
            <a:ext cx="1262100" cy="3504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66" name="Google Shape;666;p27"/>
          <p:cNvSpPr txBox="1">
            <a:spLocks noGrp="1"/>
          </p:cNvSpPr>
          <p:nvPr>
            <p:ph type="ctrTitle"/>
          </p:nvPr>
        </p:nvSpPr>
        <p:spPr>
          <a:xfrm>
            <a:off x="635981" y="2246922"/>
            <a:ext cx="4183634" cy="1385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SG" sz="4000" dirty="0">
                <a:solidFill>
                  <a:schemeClr val="accent1">
                    <a:lumMod val="25000"/>
                  </a:schemeClr>
                </a:solidFill>
                <a:latin typeface="Book Antiqua" panose="02040602050305030304" pitchFamily="18" charset="0"/>
              </a:rPr>
              <a:t>A Deep Dive Into IT Job Trends</a:t>
            </a:r>
            <a:endParaRPr sz="4000" dirty="0">
              <a:solidFill>
                <a:schemeClr val="accent1">
                  <a:lumMod val="25000"/>
                </a:schemeClr>
              </a:solidFill>
              <a:latin typeface="Book Antiqua" panose="02040602050305030304" pitchFamily="18" charset="0"/>
            </a:endParaRPr>
          </a:p>
        </p:txBody>
      </p:sp>
      <p:sp>
        <p:nvSpPr>
          <p:cNvPr id="667" name="Google Shape;667;p27"/>
          <p:cNvSpPr txBox="1">
            <a:spLocks noGrp="1"/>
          </p:cNvSpPr>
          <p:nvPr>
            <p:ph type="subTitle" idx="1"/>
          </p:nvPr>
        </p:nvSpPr>
        <p:spPr>
          <a:xfrm>
            <a:off x="645815" y="3514117"/>
            <a:ext cx="4280424" cy="40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b="1" dirty="0">
                <a:latin typeface="Calibri" panose="020F0502020204030204" pitchFamily="34" charset="0"/>
                <a:ea typeface="Calibri" panose="020F0502020204030204" pitchFamily="34" charset="0"/>
                <a:cs typeface="Calibri" panose="020F0502020204030204" pitchFamily="34" charset="0"/>
              </a:rPr>
              <a:t>Done By: Balamurugan Siddhartha DAAA/FT/1B/07 (P2404312)</a:t>
            </a:r>
            <a:endParaRPr sz="1200" b="1" dirty="0">
              <a:latin typeface="Calibri" panose="020F0502020204030204" pitchFamily="34" charset="0"/>
              <a:ea typeface="Calibri" panose="020F0502020204030204" pitchFamily="34" charset="0"/>
              <a:cs typeface="Calibri" panose="020F0502020204030204" pitchFamily="34" charset="0"/>
            </a:endParaRPr>
          </a:p>
        </p:txBody>
      </p:sp>
      <p:sp>
        <p:nvSpPr>
          <p:cNvPr id="668" name="Google Shape;668;p27"/>
          <p:cNvSpPr txBox="1">
            <a:spLocks noGrp="1"/>
          </p:cNvSpPr>
          <p:nvPr>
            <p:ph type="subTitle" idx="1"/>
          </p:nvPr>
        </p:nvSpPr>
        <p:spPr>
          <a:xfrm>
            <a:off x="7417325" y="432175"/>
            <a:ext cx="1087500" cy="405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SG" dirty="0">
                <a:solidFill>
                  <a:schemeClr val="dk2"/>
                </a:solidFill>
                <a:latin typeface="Baloo 2 ExtraBold"/>
                <a:ea typeface="Baloo 2 ExtraBold"/>
                <a:cs typeface="Baloo 2 ExtraBold"/>
                <a:sym typeface="Baloo 2 ExtraBold"/>
              </a:rPr>
              <a:t>CA1</a:t>
            </a:r>
            <a:endParaRPr dirty="0">
              <a:solidFill>
                <a:schemeClr val="dk2"/>
              </a:solidFill>
              <a:latin typeface="Baloo 2 ExtraBold"/>
              <a:ea typeface="Baloo 2 ExtraBold"/>
              <a:cs typeface="Baloo 2 ExtraBold"/>
              <a:sym typeface="Baloo 2 ExtraBold"/>
            </a:endParaRPr>
          </a:p>
        </p:txBody>
      </p:sp>
      <p:grpSp>
        <p:nvGrpSpPr>
          <p:cNvPr id="669" name="Google Shape;669;p27"/>
          <p:cNvGrpSpPr/>
          <p:nvPr/>
        </p:nvGrpSpPr>
        <p:grpSpPr>
          <a:xfrm>
            <a:off x="4926320" y="1070159"/>
            <a:ext cx="2955928" cy="3003181"/>
            <a:chOff x="4765672" y="760436"/>
            <a:chExt cx="3246799" cy="3446635"/>
          </a:xfrm>
        </p:grpSpPr>
        <p:sp>
          <p:nvSpPr>
            <p:cNvPr id="670" name="Google Shape;670;p27"/>
            <p:cNvSpPr/>
            <p:nvPr/>
          </p:nvSpPr>
          <p:spPr>
            <a:xfrm>
              <a:off x="4980353" y="1104437"/>
              <a:ext cx="653350" cy="644790"/>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71" name="Google Shape;671;p27"/>
            <p:cNvGrpSpPr/>
            <p:nvPr/>
          </p:nvGrpSpPr>
          <p:grpSpPr>
            <a:xfrm>
              <a:off x="5401276" y="1531636"/>
              <a:ext cx="1966177" cy="1269999"/>
              <a:chOff x="5401276" y="1531636"/>
              <a:chExt cx="1966177" cy="1269999"/>
            </a:xfrm>
          </p:grpSpPr>
          <p:sp>
            <p:nvSpPr>
              <p:cNvPr id="672" name="Google Shape;672;p27"/>
              <p:cNvSpPr/>
              <p:nvPr/>
            </p:nvSpPr>
            <p:spPr>
              <a:xfrm>
                <a:off x="5401276" y="1651521"/>
                <a:ext cx="1966177" cy="1150114"/>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3" name="Google Shape;673;p27"/>
              <p:cNvSpPr/>
              <p:nvPr/>
            </p:nvSpPr>
            <p:spPr>
              <a:xfrm>
                <a:off x="5401276" y="1531636"/>
                <a:ext cx="1966109" cy="119885"/>
              </a:xfrm>
              <a:custGeom>
                <a:avLst/>
                <a:gdLst/>
                <a:ahLst/>
                <a:cxnLst/>
                <a:rect l="l" t="t" r="r" b="b"/>
                <a:pathLst>
                  <a:path w="2512" h="153" extrusionOk="0">
                    <a:moveTo>
                      <a:pt x="2512" y="73"/>
                    </a:moveTo>
                    <a:cubicBezTo>
                      <a:pt x="2512" y="153"/>
                      <a:pt x="2512" y="153"/>
                      <a:pt x="2512" y="153"/>
                    </a:cubicBezTo>
                    <a:cubicBezTo>
                      <a:pt x="0" y="153"/>
                      <a:pt x="0" y="153"/>
                      <a:pt x="0" y="153"/>
                    </a:cubicBezTo>
                    <a:cubicBezTo>
                      <a:pt x="0" y="73"/>
                      <a:pt x="0" y="73"/>
                      <a:pt x="0" y="73"/>
                    </a:cubicBezTo>
                    <a:cubicBezTo>
                      <a:pt x="0" y="33"/>
                      <a:pt x="32" y="0"/>
                      <a:pt x="72" y="0"/>
                    </a:cubicBezTo>
                    <a:cubicBezTo>
                      <a:pt x="2440" y="0"/>
                      <a:pt x="2440" y="0"/>
                      <a:pt x="2440" y="0"/>
                    </a:cubicBezTo>
                    <a:cubicBezTo>
                      <a:pt x="2480" y="0"/>
                      <a:pt x="2512" y="33"/>
                      <a:pt x="2512" y="73"/>
                    </a:cubicBezTo>
                    <a:close/>
                  </a:path>
                </a:pathLst>
              </a:custGeom>
              <a:solidFill>
                <a:srgbClr val="4C69B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4" name="Google Shape;674;p27"/>
              <p:cNvSpPr/>
              <p:nvPr/>
            </p:nvSpPr>
            <p:spPr>
              <a:xfrm>
                <a:off x="5454368" y="1564176"/>
                <a:ext cx="54780" cy="547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5" name="Google Shape;675;p27"/>
              <p:cNvSpPr/>
              <p:nvPr/>
            </p:nvSpPr>
            <p:spPr>
              <a:xfrm>
                <a:off x="5538287" y="1564176"/>
                <a:ext cx="55586" cy="547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6" name="Google Shape;676;p27"/>
              <p:cNvSpPr/>
              <p:nvPr/>
            </p:nvSpPr>
            <p:spPr>
              <a:xfrm>
                <a:off x="5623919" y="1564176"/>
                <a:ext cx="54780" cy="547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7" name="Google Shape;677;p27"/>
              <p:cNvSpPr/>
              <p:nvPr/>
            </p:nvSpPr>
            <p:spPr>
              <a:xfrm>
                <a:off x="5498040" y="1803090"/>
                <a:ext cx="1773372" cy="6713"/>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8" name="Google Shape;678;p27"/>
              <p:cNvSpPr/>
              <p:nvPr/>
            </p:nvSpPr>
            <p:spPr>
              <a:xfrm>
                <a:off x="5498040" y="1983774"/>
                <a:ext cx="1773372" cy="6713"/>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9" name="Google Shape;679;p27"/>
              <p:cNvSpPr/>
              <p:nvPr/>
            </p:nvSpPr>
            <p:spPr>
              <a:xfrm>
                <a:off x="5498040" y="2165314"/>
                <a:ext cx="1773372" cy="5908"/>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0" name="Google Shape;680;p27"/>
              <p:cNvSpPr/>
              <p:nvPr/>
            </p:nvSpPr>
            <p:spPr>
              <a:xfrm>
                <a:off x="5498040" y="2345997"/>
                <a:ext cx="1773372" cy="5908"/>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1" name="Google Shape;681;p27"/>
              <p:cNvSpPr/>
              <p:nvPr/>
            </p:nvSpPr>
            <p:spPr>
              <a:xfrm>
                <a:off x="5498040" y="1888722"/>
                <a:ext cx="1773436" cy="834914"/>
              </a:xfrm>
              <a:custGeom>
                <a:avLst/>
                <a:gdLst/>
                <a:ahLst/>
                <a:cxnLst/>
                <a:rect l="l" t="t" r="r" b="b"/>
                <a:pathLst>
                  <a:path w="2266" h="1067" extrusionOk="0">
                    <a:moveTo>
                      <a:pt x="0" y="232"/>
                    </a:moveTo>
                    <a:cubicBezTo>
                      <a:pt x="137" y="97"/>
                      <a:pt x="137" y="97"/>
                      <a:pt x="137" y="97"/>
                    </a:cubicBezTo>
                    <a:cubicBezTo>
                      <a:pt x="226" y="9"/>
                      <a:pt x="367" y="0"/>
                      <a:pt x="466" y="76"/>
                    </a:cubicBezTo>
                    <a:cubicBezTo>
                      <a:pt x="852" y="371"/>
                      <a:pt x="852" y="371"/>
                      <a:pt x="852" y="371"/>
                    </a:cubicBezTo>
                    <a:cubicBezTo>
                      <a:pt x="949" y="446"/>
                      <a:pt x="1085" y="440"/>
                      <a:pt x="1174" y="357"/>
                    </a:cubicBezTo>
                    <a:cubicBezTo>
                      <a:pt x="1235" y="302"/>
                      <a:pt x="1235" y="302"/>
                      <a:pt x="1235" y="302"/>
                    </a:cubicBezTo>
                    <a:cubicBezTo>
                      <a:pt x="1308" y="235"/>
                      <a:pt x="1413" y="217"/>
                      <a:pt x="1504" y="256"/>
                    </a:cubicBezTo>
                    <a:cubicBezTo>
                      <a:pt x="2266" y="584"/>
                      <a:pt x="2266" y="584"/>
                      <a:pt x="2266" y="584"/>
                    </a:cubicBezTo>
                    <a:cubicBezTo>
                      <a:pt x="2266" y="1067"/>
                      <a:pt x="2266" y="1067"/>
                      <a:pt x="2266" y="1067"/>
                    </a:cubicBezTo>
                    <a:cubicBezTo>
                      <a:pt x="0" y="1067"/>
                      <a:pt x="0" y="1067"/>
                      <a:pt x="0" y="1067"/>
                    </a:cubicBezTo>
                    <a:lnTo>
                      <a:pt x="0" y="232"/>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2" name="Google Shape;682;p27"/>
              <p:cNvSpPr/>
              <p:nvPr/>
            </p:nvSpPr>
            <p:spPr>
              <a:xfrm>
                <a:off x="5498040" y="1923831"/>
                <a:ext cx="1773436" cy="799805"/>
              </a:xfrm>
              <a:custGeom>
                <a:avLst/>
                <a:gdLst/>
                <a:ahLst/>
                <a:cxnLst/>
                <a:rect l="l" t="t" r="r" b="b"/>
                <a:pathLst>
                  <a:path w="2266" h="1022" extrusionOk="0">
                    <a:moveTo>
                      <a:pt x="0" y="1022"/>
                    </a:moveTo>
                    <a:cubicBezTo>
                      <a:pt x="371" y="590"/>
                      <a:pt x="371" y="590"/>
                      <a:pt x="371" y="590"/>
                    </a:cubicBezTo>
                    <a:cubicBezTo>
                      <a:pt x="468" y="477"/>
                      <a:pt x="643" y="473"/>
                      <a:pt x="745" y="582"/>
                    </a:cubicBezTo>
                    <a:cubicBezTo>
                      <a:pt x="840" y="683"/>
                      <a:pt x="998" y="688"/>
                      <a:pt x="1100" y="594"/>
                    </a:cubicBezTo>
                    <a:cubicBezTo>
                      <a:pt x="1634" y="99"/>
                      <a:pt x="1634" y="99"/>
                      <a:pt x="1634" y="99"/>
                    </a:cubicBezTo>
                    <a:cubicBezTo>
                      <a:pt x="1741" y="0"/>
                      <a:pt x="1909" y="12"/>
                      <a:pt x="2001" y="125"/>
                    </a:cubicBezTo>
                    <a:cubicBezTo>
                      <a:pt x="2266" y="453"/>
                      <a:pt x="2266" y="453"/>
                      <a:pt x="2266" y="453"/>
                    </a:cubicBezTo>
                    <a:cubicBezTo>
                      <a:pt x="2266" y="1022"/>
                      <a:pt x="2266" y="1022"/>
                      <a:pt x="2266" y="1022"/>
                    </a:cubicBezTo>
                    <a:lnTo>
                      <a:pt x="0" y="102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83" name="Google Shape;683;p27"/>
            <p:cNvGrpSpPr/>
            <p:nvPr/>
          </p:nvGrpSpPr>
          <p:grpSpPr>
            <a:xfrm>
              <a:off x="6490512" y="1274487"/>
              <a:ext cx="570358" cy="534450"/>
              <a:chOff x="6490512" y="890962"/>
              <a:chExt cx="570358" cy="534450"/>
            </a:xfrm>
          </p:grpSpPr>
          <p:sp>
            <p:nvSpPr>
              <p:cNvPr id="684" name="Google Shape;684;p27"/>
              <p:cNvSpPr/>
              <p:nvPr/>
            </p:nvSpPr>
            <p:spPr>
              <a:xfrm>
                <a:off x="6490512" y="946623"/>
                <a:ext cx="570358" cy="478789"/>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5" name="Google Shape;685;p27"/>
              <p:cNvSpPr/>
              <p:nvPr/>
            </p:nvSpPr>
            <p:spPr>
              <a:xfrm>
                <a:off x="6581282" y="1372215"/>
                <a:ext cx="88883" cy="14501"/>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6" name="Google Shape;686;p27"/>
              <p:cNvSpPr/>
              <p:nvPr/>
            </p:nvSpPr>
            <p:spPr>
              <a:xfrm>
                <a:off x="6530758" y="1361939"/>
                <a:ext cx="34372" cy="35177"/>
              </a:xfrm>
              <a:prstGeom prst="ellipse">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7" name="Google Shape;687;p27"/>
              <p:cNvSpPr/>
              <p:nvPr/>
            </p:nvSpPr>
            <p:spPr>
              <a:xfrm>
                <a:off x="6938367" y="1372215"/>
                <a:ext cx="89958" cy="14501"/>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8" name="Google Shape;688;p27"/>
              <p:cNvSpPr/>
              <p:nvPr/>
            </p:nvSpPr>
            <p:spPr>
              <a:xfrm>
                <a:off x="6888700" y="1361939"/>
                <a:ext cx="35177" cy="35177"/>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9" name="Google Shape;689;p27"/>
              <p:cNvSpPr/>
              <p:nvPr/>
            </p:nvSpPr>
            <p:spPr>
              <a:xfrm>
                <a:off x="6490512" y="890962"/>
                <a:ext cx="570309" cy="55661"/>
              </a:xfrm>
              <a:custGeom>
                <a:avLst/>
                <a:gdLst/>
                <a:ahLst/>
                <a:cxnLst/>
                <a:rect l="l" t="t" r="r" b="b"/>
                <a:pathLst>
                  <a:path w="729" h="71" extrusionOk="0">
                    <a:moveTo>
                      <a:pt x="695" y="0"/>
                    </a:moveTo>
                    <a:cubicBezTo>
                      <a:pt x="33" y="0"/>
                      <a:pt x="33" y="0"/>
                      <a:pt x="33" y="0"/>
                    </a:cubicBezTo>
                    <a:cubicBezTo>
                      <a:pt x="15" y="0"/>
                      <a:pt x="0" y="15"/>
                      <a:pt x="0" y="34"/>
                    </a:cubicBezTo>
                    <a:cubicBezTo>
                      <a:pt x="0" y="71"/>
                      <a:pt x="0" y="71"/>
                      <a:pt x="0" y="71"/>
                    </a:cubicBezTo>
                    <a:cubicBezTo>
                      <a:pt x="729" y="71"/>
                      <a:pt x="729" y="71"/>
                      <a:pt x="729" y="71"/>
                    </a:cubicBezTo>
                    <a:cubicBezTo>
                      <a:pt x="729" y="34"/>
                      <a:pt x="729" y="34"/>
                      <a:pt x="729" y="34"/>
                    </a:cubicBezTo>
                    <a:cubicBezTo>
                      <a:pt x="729" y="15"/>
                      <a:pt x="714" y="0"/>
                      <a:pt x="695"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0" name="Google Shape;690;p27"/>
              <p:cNvSpPr/>
              <p:nvPr/>
            </p:nvSpPr>
            <p:spPr>
              <a:xfrm>
                <a:off x="6514489" y="906376"/>
                <a:ext cx="25779" cy="25779"/>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1" name="Google Shape;691;p27"/>
              <p:cNvSpPr/>
              <p:nvPr/>
            </p:nvSpPr>
            <p:spPr>
              <a:xfrm>
                <a:off x="6553879" y="906376"/>
                <a:ext cx="25779" cy="25779"/>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2" name="Google Shape;692;p27"/>
              <p:cNvSpPr/>
              <p:nvPr/>
            </p:nvSpPr>
            <p:spPr>
              <a:xfrm>
                <a:off x="6593270" y="906376"/>
                <a:ext cx="26584" cy="25779"/>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3" name="Google Shape;693;p27"/>
              <p:cNvSpPr/>
              <p:nvPr/>
            </p:nvSpPr>
            <p:spPr>
              <a:xfrm>
                <a:off x="6591557" y="980876"/>
                <a:ext cx="368100" cy="368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4" name="Google Shape;694;p27"/>
              <p:cNvSpPr/>
              <p:nvPr/>
            </p:nvSpPr>
            <p:spPr>
              <a:xfrm>
                <a:off x="6654069" y="1044243"/>
                <a:ext cx="236344" cy="236344"/>
              </a:xfrm>
              <a:custGeom>
                <a:avLst/>
                <a:gdLst/>
                <a:ahLst/>
                <a:cxnLst/>
                <a:rect l="l" t="t" r="r" b="b"/>
                <a:pathLst>
                  <a:path w="302" h="301" extrusionOk="0">
                    <a:moveTo>
                      <a:pt x="151" y="151"/>
                    </a:moveTo>
                    <a:cubicBezTo>
                      <a:pt x="95" y="10"/>
                      <a:pt x="95" y="10"/>
                      <a:pt x="95" y="10"/>
                    </a:cubicBezTo>
                    <a:cubicBezTo>
                      <a:pt x="113" y="4"/>
                      <a:pt x="131" y="0"/>
                      <a:pt x="151" y="0"/>
                    </a:cubicBezTo>
                    <a:cubicBezTo>
                      <a:pt x="234" y="0"/>
                      <a:pt x="302" y="67"/>
                      <a:pt x="302" y="151"/>
                    </a:cubicBezTo>
                    <a:cubicBezTo>
                      <a:pt x="302" y="234"/>
                      <a:pt x="234" y="301"/>
                      <a:pt x="151" y="301"/>
                    </a:cubicBezTo>
                    <a:cubicBezTo>
                      <a:pt x="68" y="301"/>
                      <a:pt x="0" y="234"/>
                      <a:pt x="0" y="151"/>
                    </a:cubicBezTo>
                    <a:cubicBezTo>
                      <a:pt x="0" y="142"/>
                      <a:pt x="1" y="134"/>
                      <a:pt x="2" y="126"/>
                    </a:cubicBezTo>
                    <a:lnTo>
                      <a:pt x="151" y="151"/>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5" name="Google Shape;695;p27"/>
              <p:cNvSpPr/>
              <p:nvPr/>
            </p:nvSpPr>
            <p:spPr>
              <a:xfrm>
                <a:off x="6635229" y="1037393"/>
                <a:ext cx="116460" cy="110466"/>
              </a:xfrm>
              <a:custGeom>
                <a:avLst/>
                <a:gdLst/>
                <a:ahLst/>
                <a:cxnLst/>
                <a:rect l="l" t="t" r="r" b="b"/>
                <a:pathLst>
                  <a:path w="149" h="141" extrusionOk="0">
                    <a:moveTo>
                      <a:pt x="0" y="116"/>
                    </a:moveTo>
                    <a:cubicBezTo>
                      <a:pt x="9" y="63"/>
                      <a:pt x="45" y="20"/>
                      <a:pt x="93" y="0"/>
                    </a:cubicBezTo>
                    <a:cubicBezTo>
                      <a:pt x="149" y="141"/>
                      <a:pt x="149" y="141"/>
                      <a:pt x="149" y="141"/>
                    </a:cubicBezTo>
                    <a:lnTo>
                      <a:pt x="0" y="11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96" name="Google Shape;696;p27"/>
            <p:cNvGrpSpPr/>
            <p:nvPr/>
          </p:nvGrpSpPr>
          <p:grpSpPr>
            <a:xfrm>
              <a:off x="5094926" y="2317556"/>
              <a:ext cx="717033" cy="1014339"/>
              <a:chOff x="5094926" y="2317556"/>
              <a:chExt cx="717033" cy="1014339"/>
            </a:xfrm>
          </p:grpSpPr>
          <p:sp>
            <p:nvSpPr>
              <p:cNvPr id="697" name="Google Shape;697;p27"/>
              <p:cNvSpPr/>
              <p:nvPr/>
            </p:nvSpPr>
            <p:spPr>
              <a:xfrm>
                <a:off x="5094926" y="2395159"/>
                <a:ext cx="717033" cy="936736"/>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8" name="Google Shape;698;p27"/>
              <p:cNvSpPr/>
              <p:nvPr/>
            </p:nvSpPr>
            <p:spPr>
              <a:xfrm>
                <a:off x="5094926" y="2317556"/>
                <a:ext cx="717009" cy="77604"/>
              </a:xfrm>
              <a:custGeom>
                <a:avLst/>
                <a:gdLst/>
                <a:ahLst/>
                <a:cxnLst/>
                <a:rect l="l" t="t" r="r" b="b"/>
                <a:pathLst>
                  <a:path w="718" h="78" extrusionOk="0">
                    <a:moveTo>
                      <a:pt x="681" y="0"/>
                    </a:moveTo>
                    <a:cubicBezTo>
                      <a:pt x="37" y="0"/>
                      <a:pt x="37" y="0"/>
                      <a:pt x="37" y="0"/>
                    </a:cubicBezTo>
                    <a:cubicBezTo>
                      <a:pt x="16" y="0"/>
                      <a:pt x="0" y="16"/>
                      <a:pt x="0" y="37"/>
                    </a:cubicBezTo>
                    <a:cubicBezTo>
                      <a:pt x="0" y="78"/>
                      <a:pt x="0" y="78"/>
                      <a:pt x="0" y="78"/>
                    </a:cubicBezTo>
                    <a:cubicBezTo>
                      <a:pt x="718" y="78"/>
                      <a:pt x="718" y="78"/>
                      <a:pt x="718" y="78"/>
                    </a:cubicBezTo>
                    <a:cubicBezTo>
                      <a:pt x="718" y="37"/>
                      <a:pt x="718" y="37"/>
                      <a:pt x="718" y="37"/>
                    </a:cubicBezTo>
                    <a:cubicBezTo>
                      <a:pt x="718" y="16"/>
                      <a:pt x="701" y="0"/>
                      <a:pt x="68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9" name="Google Shape;699;p27"/>
              <p:cNvSpPr/>
              <p:nvPr/>
            </p:nvSpPr>
            <p:spPr>
              <a:xfrm>
                <a:off x="5128808" y="2338323"/>
                <a:ext cx="35989" cy="3496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0" name="Google Shape;700;p27"/>
              <p:cNvSpPr/>
              <p:nvPr/>
            </p:nvSpPr>
            <p:spPr>
              <a:xfrm>
                <a:off x="5183458" y="2338323"/>
                <a:ext cx="35989" cy="3496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1" name="Google Shape;701;p27"/>
              <p:cNvSpPr/>
              <p:nvPr/>
            </p:nvSpPr>
            <p:spPr>
              <a:xfrm>
                <a:off x="5239202" y="2338323"/>
                <a:ext cx="34961" cy="3496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2" name="Google Shape;702;p27"/>
              <p:cNvSpPr/>
              <p:nvPr/>
            </p:nvSpPr>
            <p:spPr>
              <a:xfrm>
                <a:off x="5209690" y="2827988"/>
                <a:ext cx="111394" cy="162806"/>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3" name="Google Shape;703;p27"/>
              <p:cNvSpPr/>
              <p:nvPr/>
            </p:nvSpPr>
            <p:spPr>
              <a:xfrm>
                <a:off x="5379106" y="2715409"/>
                <a:ext cx="112422" cy="275571"/>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4" name="Google Shape;704;p27"/>
              <p:cNvSpPr/>
              <p:nvPr/>
            </p:nvSpPr>
            <p:spPr>
              <a:xfrm>
                <a:off x="5548521" y="2613760"/>
                <a:ext cx="111394" cy="377025"/>
              </a:xfrm>
              <a:prstGeom prst="rect">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5" name="Google Shape;705;p27"/>
              <p:cNvSpPr/>
              <p:nvPr/>
            </p:nvSpPr>
            <p:spPr>
              <a:xfrm>
                <a:off x="5249039" y="2446530"/>
                <a:ext cx="351946" cy="353041"/>
              </a:xfrm>
              <a:custGeom>
                <a:avLst/>
                <a:gdLst/>
                <a:ahLst/>
                <a:cxnLst/>
                <a:rect l="l" t="t" r="r" b="b"/>
                <a:pathLst>
                  <a:path w="352" h="353" extrusionOk="0">
                    <a:moveTo>
                      <a:pt x="351" y="56"/>
                    </a:moveTo>
                    <a:cubicBezTo>
                      <a:pt x="350" y="51"/>
                      <a:pt x="347" y="47"/>
                      <a:pt x="343" y="45"/>
                    </a:cubicBezTo>
                    <a:cubicBezTo>
                      <a:pt x="262" y="4"/>
                      <a:pt x="262" y="4"/>
                      <a:pt x="262" y="4"/>
                    </a:cubicBezTo>
                    <a:cubicBezTo>
                      <a:pt x="255" y="0"/>
                      <a:pt x="246" y="3"/>
                      <a:pt x="242" y="11"/>
                    </a:cubicBezTo>
                    <a:cubicBezTo>
                      <a:pt x="238" y="18"/>
                      <a:pt x="241" y="27"/>
                      <a:pt x="249" y="31"/>
                    </a:cubicBezTo>
                    <a:cubicBezTo>
                      <a:pt x="290" y="52"/>
                      <a:pt x="290" y="52"/>
                      <a:pt x="290" y="52"/>
                    </a:cubicBezTo>
                    <a:cubicBezTo>
                      <a:pt x="43" y="111"/>
                      <a:pt x="2" y="333"/>
                      <a:pt x="2" y="335"/>
                    </a:cubicBezTo>
                    <a:cubicBezTo>
                      <a:pt x="0" y="343"/>
                      <a:pt x="6" y="351"/>
                      <a:pt x="14" y="352"/>
                    </a:cubicBezTo>
                    <a:cubicBezTo>
                      <a:pt x="15" y="353"/>
                      <a:pt x="15" y="353"/>
                      <a:pt x="16" y="353"/>
                    </a:cubicBezTo>
                    <a:cubicBezTo>
                      <a:pt x="23" y="353"/>
                      <a:pt x="30" y="348"/>
                      <a:pt x="31" y="340"/>
                    </a:cubicBezTo>
                    <a:cubicBezTo>
                      <a:pt x="31" y="338"/>
                      <a:pt x="69" y="134"/>
                      <a:pt x="300" y="80"/>
                    </a:cubicBezTo>
                    <a:cubicBezTo>
                      <a:pt x="268" y="120"/>
                      <a:pt x="268" y="120"/>
                      <a:pt x="268" y="120"/>
                    </a:cubicBezTo>
                    <a:cubicBezTo>
                      <a:pt x="263" y="126"/>
                      <a:pt x="264" y="135"/>
                      <a:pt x="270" y="141"/>
                    </a:cubicBezTo>
                    <a:cubicBezTo>
                      <a:pt x="273" y="143"/>
                      <a:pt x="276" y="144"/>
                      <a:pt x="280" y="144"/>
                    </a:cubicBezTo>
                    <a:cubicBezTo>
                      <a:pt x="284" y="144"/>
                      <a:pt x="288" y="142"/>
                      <a:pt x="291" y="138"/>
                    </a:cubicBezTo>
                    <a:cubicBezTo>
                      <a:pt x="348" y="68"/>
                      <a:pt x="348" y="68"/>
                      <a:pt x="348" y="68"/>
                    </a:cubicBezTo>
                    <a:cubicBezTo>
                      <a:pt x="351" y="65"/>
                      <a:pt x="352" y="60"/>
                      <a:pt x="351" y="56"/>
                    </a:cubicBezTo>
                    <a:close/>
                  </a:path>
                </a:pathLst>
              </a:custGeom>
              <a:solidFill>
                <a:srgbClr val="38477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6" name="Google Shape;706;p27"/>
              <p:cNvSpPr/>
              <p:nvPr/>
            </p:nvSpPr>
            <p:spPr>
              <a:xfrm>
                <a:off x="5176900" y="3061891"/>
                <a:ext cx="551828" cy="22964"/>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7" name="Google Shape;707;p27"/>
              <p:cNvSpPr/>
              <p:nvPr/>
            </p:nvSpPr>
            <p:spPr>
              <a:xfrm>
                <a:off x="5176900" y="3122006"/>
                <a:ext cx="551828" cy="22964"/>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8" name="Google Shape;708;p27"/>
              <p:cNvSpPr/>
              <p:nvPr/>
            </p:nvSpPr>
            <p:spPr>
              <a:xfrm>
                <a:off x="5237016" y="3182121"/>
                <a:ext cx="431522" cy="22964"/>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9" name="Google Shape;709;p27"/>
              <p:cNvSpPr/>
              <p:nvPr/>
            </p:nvSpPr>
            <p:spPr>
              <a:xfrm>
                <a:off x="5314619" y="3242236"/>
                <a:ext cx="276599" cy="22964"/>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710" name="Google Shape;710;p27"/>
            <p:cNvSpPr/>
            <p:nvPr/>
          </p:nvSpPr>
          <p:spPr>
            <a:xfrm>
              <a:off x="5914065" y="760436"/>
              <a:ext cx="232055" cy="382764"/>
            </a:xfrm>
            <a:custGeom>
              <a:avLst/>
              <a:gdLst/>
              <a:ahLst/>
              <a:cxnLst/>
              <a:rect l="l" t="t" r="r" b="b"/>
              <a:pathLst>
                <a:path w="271" h="447" extrusionOk="0">
                  <a:moveTo>
                    <a:pt x="271" y="234"/>
                  </a:moveTo>
                  <a:lnTo>
                    <a:pt x="135" y="0"/>
                  </a:lnTo>
                  <a:lnTo>
                    <a:pt x="0" y="234"/>
                  </a:lnTo>
                  <a:lnTo>
                    <a:pt x="69" y="234"/>
                  </a:lnTo>
                  <a:lnTo>
                    <a:pt x="69" y="447"/>
                  </a:lnTo>
                  <a:lnTo>
                    <a:pt x="201" y="447"/>
                  </a:lnTo>
                  <a:lnTo>
                    <a:pt x="201" y="234"/>
                  </a:lnTo>
                  <a:lnTo>
                    <a:pt x="271" y="23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1" name="Google Shape;711;p27"/>
            <p:cNvSpPr/>
            <p:nvPr/>
          </p:nvSpPr>
          <p:spPr>
            <a:xfrm>
              <a:off x="7710871" y="1262143"/>
              <a:ext cx="301600" cy="497575"/>
            </a:xfrm>
            <a:custGeom>
              <a:avLst/>
              <a:gdLst/>
              <a:ahLst/>
              <a:cxnLst/>
              <a:rect l="l" t="t" r="r" b="b"/>
              <a:pathLst>
                <a:path w="271" h="447" extrusionOk="0">
                  <a:moveTo>
                    <a:pt x="271" y="234"/>
                  </a:moveTo>
                  <a:lnTo>
                    <a:pt x="135" y="0"/>
                  </a:lnTo>
                  <a:lnTo>
                    <a:pt x="0" y="234"/>
                  </a:lnTo>
                  <a:lnTo>
                    <a:pt x="69" y="234"/>
                  </a:lnTo>
                  <a:lnTo>
                    <a:pt x="69" y="447"/>
                  </a:lnTo>
                  <a:lnTo>
                    <a:pt x="201" y="447"/>
                  </a:lnTo>
                  <a:lnTo>
                    <a:pt x="201" y="234"/>
                  </a:lnTo>
                  <a:lnTo>
                    <a:pt x="271" y="234"/>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12" name="Google Shape;712;p27"/>
            <p:cNvGrpSpPr/>
            <p:nvPr/>
          </p:nvGrpSpPr>
          <p:grpSpPr>
            <a:xfrm>
              <a:off x="6655110" y="1951719"/>
              <a:ext cx="1239180" cy="2255353"/>
              <a:chOff x="7710885" y="1951719"/>
              <a:chExt cx="1239180" cy="2255353"/>
            </a:xfrm>
          </p:grpSpPr>
          <p:sp>
            <p:nvSpPr>
              <p:cNvPr id="713" name="Google Shape;713;p27"/>
              <p:cNvSpPr/>
              <p:nvPr/>
            </p:nvSpPr>
            <p:spPr>
              <a:xfrm>
                <a:off x="7999817" y="4017723"/>
                <a:ext cx="409554" cy="189349"/>
              </a:xfrm>
              <a:custGeom>
                <a:avLst/>
                <a:gdLst/>
                <a:ahLst/>
                <a:cxnLst/>
                <a:rect l="l" t="t" r="r" b="b"/>
                <a:pathLst>
                  <a:path w="446" h="206" extrusionOk="0">
                    <a:moveTo>
                      <a:pt x="446" y="206"/>
                    </a:moveTo>
                    <a:cubicBezTo>
                      <a:pt x="417" y="10"/>
                      <a:pt x="417" y="10"/>
                      <a:pt x="417" y="10"/>
                    </a:cubicBezTo>
                    <a:cubicBezTo>
                      <a:pt x="396" y="0"/>
                      <a:pt x="253" y="23"/>
                      <a:pt x="253" y="23"/>
                    </a:cubicBezTo>
                    <a:cubicBezTo>
                      <a:pt x="253" y="23"/>
                      <a:pt x="234" y="72"/>
                      <a:pt x="202" y="83"/>
                    </a:cubicBezTo>
                    <a:cubicBezTo>
                      <a:pt x="169" y="93"/>
                      <a:pt x="0" y="68"/>
                      <a:pt x="0" y="206"/>
                    </a:cubicBezTo>
                    <a:lnTo>
                      <a:pt x="446" y="20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4" name="Google Shape;714;p27"/>
              <p:cNvSpPr/>
              <p:nvPr/>
            </p:nvSpPr>
            <p:spPr>
              <a:xfrm>
                <a:off x="8421293" y="4017723"/>
                <a:ext cx="409554" cy="189349"/>
              </a:xfrm>
              <a:custGeom>
                <a:avLst/>
                <a:gdLst/>
                <a:ahLst/>
                <a:cxnLst/>
                <a:rect l="l" t="t" r="r" b="b"/>
                <a:pathLst>
                  <a:path w="446" h="206" extrusionOk="0">
                    <a:moveTo>
                      <a:pt x="446" y="206"/>
                    </a:moveTo>
                    <a:cubicBezTo>
                      <a:pt x="417" y="10"/>
                      <a:pt x="417" y="10"/>
                      <a:pt x="417" y="10"/>
                    </a:cubicBezTo>
                    <a:cubicBezTo>
                      <a:pt x="395" y="0"/>
                      <a:pt x="253" y="23"/>
                      <a:pt x="253" y="23"/>
                    </a:cubicBezTo>
                    <a:cubicBezTo>
                      <a:pt x="253" y="23"/>
                      <a:pt x="234" y="72"/>
                      <a:pt x="202" y="83"/>
                    </a:cubicBezTo>
                    <a:cubicBezTo>
                      <a:pt x="169" y="93"/>
                      <a:pt x="0" y="68"/>
                      <a:pt x="0" y="206"/>
                    </a:cubicBezTo>
                    <a:lnTo>
                      <a:pt x="446" y="20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5" name="Google Shape;715;p27"/>
              <p:cNvSpPr/>
              <p:nvPr/>
            </p:nvSpPr>
            <p:spPr>
              <a:xfrm>
                <a:off x="8168829" y="2965085"/>
                <a:ext cx="673940" cy="1132586"/>
              </a:xfrm>
              <a:custGeom>
                <a:avLst/>
                <a:gdLst/>
                <a:ahLst/>
                <a:cxnLst/>
                <a:rect l="l" t="t" r="r" b="b"/>
                <a:pathLst>
                  <a:path w="734" h="1232" extrusionOk="0">
                    <a:moveTo>
                      <a:pt x="136" y="0"/>
                    </a:moveTo>
                    <a:cubicBezTo>
                      <a:pt x="19" y="622"/>
                      <a:pt x="19" y="622"/>
                      <a:pt x="19" y="622"/>
                    </a:cubicBezTo>
                    <a:cubicBezTo>
                      <a:pt x="0" y="1201"/>
                      <a:pt x="0" y="1201"/>
                      <a:pt x="0" y="1201"/>
                    </a:cubicBezTo>
                    <a:cubicBezTo>
                      <a:pt x="0" y="1201"/>
                      <a:pt x="202" y="1223"/>
                      <a:pt x="282" y="1201"/>
                    </a:cubicBezTo>
                    <a:cubicBezTo>
                      <a:pt x="284" y="657"/>
                      <a:pt x="284" y="657"/>
                      <a:pt x="284" y="657"/>
                    </a:cubicBezTo>
                    <a:cubicBezTo>
                      <a:pt x="367" y="278"/>
                      <a:pt x="367" y="278"/>
                      <a:pt x="367" y="278"/>
                    </a:cubicBezTo>
                    <a:cubicBezTo>
                      <a:pt x="434" y="1215"/>
                      <a:pt x="434" y="1215"/>
                      <a:pt x="434" y="1215"/>
                    </a:cubicBezTo>
                    <a:cubicBezTo>
                      <a:pt x="434" y="1215"/>
                      <a:pt x="647" y="1232"/>
                      <a:pt x="734" y="1201"/>
                    </a:cubicBezTo>
                    <a:cubicBezTo>
                      <a:pt x="635" y="0"/>
                      <a:pt x="635" y="0"/>
                      <a:pt x="635" y="0"/>
                    </a:cubicBezTo>
                    <a:cubicBezTo>
                      <a:pt x="136" y="0"/>
                      <a:pt x="136" y="0"/>
                      <a:pt x="136" y="0"/>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6" name="Google Shape;716;p27"/>
              <p:cNvSpPr/>
              <p:nvPr/>
            </p:nvSpPr>
            <p:spPr>
              <a:xfrm>
                <a:off x="8051713" y="2361974"/>
                <a:ext cx="343633" cy="682356"/>
              </a:xfrm>
              <a:custGeom>
                <a:avLst/>
                <a:gdLst/>
                <a:ahLst/>
                <a:cxnLst/>
                <a:rect l="l" t="t" r="r" b="b"/>
                <a:pathLst>
                  <a:path w="374" h="743" extrusionOk="0">
                    <a:moveTo>
                      <a:pt x="343" y="587"/>
                    </a:moveTo>
                    <a:cubicBezTo>
                      <a:pt x="335" y="602"/>
                      <a:pt x="300" y="626"/>
                      <a:pt x="270" y="646"/>
                    </a:cubicBezTo>
                    <a:cubicBezTo>
                      <a:pt x="248" y="661"/>
                      <a:pt x="228" y="673"/>
                      <a:pt x="224" y="676"/>
                    </a:cubicBezTo>
                    <a:cubicBezTo>
                      <a:pt x="215" y="681"/>
                      <a:pt x="207" y="686"/>
                      <a:pt x="198" y="690"/>
                    </a:cubicBezTo>
                    <a:cubicBezTo>
                      <a:pt x="116" y="734"/>
                      <a:pt x="0" y="743"/>
                      <a:pt x="0" y="743"/>
                    </a:cubicBezTo>
                    <a:cubicBezTo>
                      <a:pt x="5" y="519"/>
                      <a:pt x="5" y="519"/>
                      <a:pt x="5" y="519"/>
                    </a:cubicBezTo>
                    <a:cubicBezTo>
                      <a:pt x="129" y="490"/>
                      <a:pt x="129" y="490"/>
                      <a:pt x="129" y="490"/>
                    </a:cubicBezTo>
                    <a:cubicBezTo>
                      <a:pt x="129" y="490"/>
                      <a:pt x="221" y="136"/>
                      <a:pt x="240" y="86"/>
                    </a:cubicBezTo>
                    <a:cubicBezTo>
                      <a:pt x="259" y="36"/>
                      <a:pt x="355" y="0"/>
                      <a:pt x="355" y="0"/>
                    </a:cubicBezTo>
                    <a:cubicBezTo>
                      <a:pt x="346" y="67"/>
                      <a:pt x="346" y="67"/>
                      <a:pt x="346" y="67"/>
                    </a:cubicBezTo>
                    <a:cubicBezTo>
                      <a:pt x="348" y="371"/>
                      <a:pt x="348" y="371"/>
                      <a:pt x="348" y="371"/>
                    </a:cubicBezTo>
                    <a:cubicBezTo>
                      <a:pt x="345" y="444"/>
                      <a:pt x="374" y="529"/>
                      <a:pt x="343" y="587"/>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7" name="Google Shape;717;p27"/>
              <p:cNvSpPr/>
              <p:nvPr/>
            </p:nvSpPr>
            <p:spPr>
              <a:xfrm>
                <a:off x="7986493" y="2838852"/>
                <a:ext cx="130500" cy="205500"/>
              </a:xfrm>
              <a:prstGeom prst="ellipse">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8" name="Google Shape;718;p27"/>
              <p:cNvSpPr/>
              <p:nvPr/>
            </p:nvSpPr>
            <p:spPr>
              <a:xfrm>
                <a:off x="8234049" y="2584283"/>
                <a:ext cx="113609" cy="411658"/>
              </a:xfrm>
              <a:custGeom>
                <a:avLst/>
                <a:gdLst/>
                <a:ahLst/>
                <a:cxnLst/>
                <a:rect l="l" t="t" r="r" b="b"/>
                <a:pathLst>
                  <a:path w="124" h="448" extrusionOk="0">
                    <a:moveTo>
                      <a:pt x="67" y="275"/>
                    </a:moveTo>
                    <a:cubicBezTo>
                      <a:pt x="64" y="285"/>
                      <a:pt x="60" y="291"/>
                      <a:pt x="55" y="295"/>
                    </a:cubicBezTo>
                    <a:cubicBezTo>
                      <a:pt x="51" y="300"/>
                      <a:pt x="45" y="301"/>
                      <a:pt x="41" y="302"/>
                    </a:cubicBezTo>
                    <a:cubicBezTo>
                      <a:pt x="0" y="448"/>
                      <a:pt x="0" y="448"/>
                      <a:pt x="0" y="448"/>
                    </a:cubicBezTo>
                    <a:cubicBezTo>
                      <a:pt x="9" y="444"/>
                      <a:pt x="17" y="439"/>
                      <a:pt x="26" y="434"/>
                    </a:cubicBezTo>
                    <a:cubicBezTo>
                      <a:pt x="28" y="432"/>
                      <a:pt x="38" y="426"/>
                      <a:pt x="50" y="418"/>
                    </a:cubicBezTo>
                    <a:cubicBezTo>
                      <a:pt x="71" y="298"/>
                      <a:pt x="71" y="298"/>
                      <a:pt x="71" y="298"/>
                    </a:cubicBezTo>
                    <a:cubicBezTo>
                      <a:pt x="67" y="296"/>
                      <a:pt x="64" y="293"/>
                      <a:pt x="64" y="293"/>
                    </a:cubicBezTo>
                    <a:cubicBezTo>
                      <a:pt x="67" y="275"/>
                      <a:pt x="67" y="275"/>
                      <a:pt x="67" y="275"/>
                    </a:cubicBezTo>
                    <a:moveTo>
                      <a:pt x="124" y="0"/>
                    </a:moveTo>
                    <a:cubicBezTo>
                      <a:pt x="85" y="143"/>
                      <a:pt x="85" y="143"/>
                      <a:pt x="85" y="143"/>
                    </a:cubicBezTo>
                    <a:cubicBezTo>
                      <a:pt x="88" y="143"/>
                      <a:pt x="93" y="144"/>
                      <a:pt x="99" y="145"/>
                    </a:cubicBezTo>
                    <a:cubicBezTo>
                      <a:pt x="122" y="14"/>
                      <a:pt x="122" y="14"/>
                      <a:pt x="122" y="14"/>
                    </a:cubicBezTo>
                    <a:cubicBezTo>
                      <a:pt x="124" y="0"/>
                      <a:pt x="124" y="0"/>
                      <a:pt x="124" y="0"/>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9" name="Google Shape;719;p27"/>
              <p:cNvSpPr/>
              <p:nvPr/>
            </p:nvSpPr>
            <p:spPr>
              <a:xfrm>
                <a:off x="8264204" y="2298858"/>
                <a:ext cx="522463" cy="815601"/>
              </a:xfrm>
              <a:custGeom>
                <a:avLst/>
                <a:gdLst/>
                <a:ahLst/>
                <a:cxnLst/>
                <a:rect l="l" t="t" r="r" b="b"/>
                <a:pathLst>
                  <a:path w="569" h="887" extrusionOk="0">
                    <a:moveTo>
                      <a:pt x="550" y="796"/>
                    </a:moveTo>
                    <a:cubicBezTo>
                      <a:pt x="555" y="837"/>
                      <a:pt x="555" y="837"/>
                      <a:pt x="555" y="837"/>
                    </a:cubicBezTo>
                    <a:cubicBezTo>
                      <a:pt x="484" y="882"/>
                      <a:pt x="303" y="887"/>
                      <a:pt x="190" y="875"/>
                    </a:cubicBezTo>
                    <a:cubicBezTo>
                      <a:pt x="114" y="867"/>
                      <a:pt x="8" y="832"/>
                      <a:pt x="0" y="825"/>
                    </a:cubicBezTo>
                    <a:cubicBezTo>
                      <a:pt x="99" y="268"/>
                      <a:pt x="99" y="268"/>
                      <a:pt x="99" y="268"/>
                    </a:cubicBezTo>
                    <a:cubicBezTo>
                      <a:pt x="75" y="91"/>
                      <a:pt x="75" y="91"/>
                      <a:pt x="75" y="91"/>
                    </a:cubicBezTo>
                    <a:cubicBezTo>
                      <a:pt x="75" y="91"/>
                      <a:pt x="75" y="91"/>
                      <a:pt x="75" y="91"/>
                    </a:cubicBezTo>
                    <a:cubicBezTo>
                      <a:pt x="79" y="89"/>
                      <a:pt x="131" y="65"/>
                      <a:pt x="182" y="42"/>
                    </a:cubicBezTo>
                    <a:cubicBezTo>
                      <a:pt x="189" y="39"/>
                      <a:pt x="196" y="36"/>
                      <a:pt x="202" y="33"/>
                    </a:cubicBezTo>
                    <a:cubicBezTo>
                      <a:pt x="239" y="16"/>
                      <a:pt x="272" y="2"/>
                      <a:pt x="280" y="0"/>
                    </a:cubicBezTo>
                    <a:cubicBezTo>
                      <a:pt x="303" y="1"/>
                      <a:pt x="370" y="4"/>
                      <a:pt x="370" y="4"/>
                    </a:cubicBezTo>
                    <a:cubicBezTo>
                      <a:pt x="382" y="7"/>
                      <a:pt x="393" y="11"/>
                      <a:pt x="405" y="16"/>
                    </a:cubicBezTo>
                    <a:cubicBezTo>
                      <a:pt x="481" y="44"/>
                      <a:pt x="569" y="85"/>
                      <a:pt x="569" y="85"/>
                    </a:cubicBezTo>
                    <a:cubicBezTo>
                      <a:pt x="499" y="328"/>
                      <a:pt x="499" y="328"/>
                      <a:pt x="499" y="328"/>
                    </a:cubicBezTo>
                    <a:cubicBezTo>
                      <a:pt x="501" y="344"/>
                      <a:pt x="501" y="344"/>
                      <a:pt x="501" y="344"/>
                    </a:cubicBezTo>
                    <a:cubicBezTo>
                      <a:pt x="550" y="796"/>
                      <a:pt x="550" y="796"/>
                      <a:pt x="550" y="796"/>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0" name="Google Shape;720;p27"/>
              <p:cNvSpPr/>
              <p:nvPr/>
            </p:nvSpPr>
            <p:spPr>
              <a:xfrm>
                <a:off x="8394644" y="2599011"/>
                <a:ext cx="374490" cy="431294"/>
              </a:xfrm>
              <a:custGeom>
                <a:avLst/>
                <a:gdLst/>
                <a:ahLst/>
                <a:cxnLst/>
                <a:rect l="l" t="t" r="r" b="b"/>
                <a:pathLst>
                  <a:path w="408" h="470" extrusionOk="0">
                    <a:moveTo>
                      <a:pt x="336" y="0"/>
                    </a:moveTo>
                    <a:cubicBezTo>
                      <a:pt x="281" y="217"/>
                      <a:pt x="281" y="217"/>
                      <a:pt x="281" y="217"/>
                    </a:cubicBezTo>
                    <a:cubicBezTo>
                      <a:pt x="0" y="286"/>
                      <a:pt x="0" y="286"/>
                      <a:pt x="0" y="286"/>
                    </a:cubicBezTo>
                    <a:cubicBezTo>
                      <a:pt x="0" y="286"/>
                      <a:pt x="129" y="397"/>
                      <a:pt x="408" y="470"/>
                    </a:cubicBezTo>
                    <a:cubicBezTo>
                      <a:pt x="359" y="18"/>
                      <a:pt x="359" y="18"/>
                      <a:pt x="359" y="18"/>
                    </a:cubicBezTo>
                    <a:cubicBezTo>
                      <a:pt x="336" y="0"/>
                      <a:pt x="336" y="0"/>
                      <a:pt x="336" y="0"/>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1" name="Google Shape;721;p27"/>
              <p:cNvSpPr/>
              <p:nvPr/>
            </p:nvSpPr>
            <p:spPr>
              <a:xfrm>
                <a:off x="8473890" y="2174028"/>
                <a:ext cx="133245" cy="263685"/>
              </a:xfrm>
              <a:custGeom>
                <a:avLst/>
                <a:gdLst/>
                <a:ahLst/>
                <a:cxnLst/>
                <a:rect l="l" t="t" r="r" b="b"/>
                <a:pathLst>
                  <a:path w="145" h="287" extrusionOk="0">
                    <a:moveTo>
                      <a:pt x="145" y="0"/>
                    </a:moveTo>
                    <a:cubicBezTo>
                      <a:pt x="144" y="45"/>
                      <a:pt x="144" y="45"/>
                      <a:pt x="144" y="45"/>
                    </a:cubicBezTo>
                    <a:cubicBezTo>
                      <a:pt x="144" y="46"/>
                      <a:pt x="144" y="46"/>
                      <a:pt x="144" y="46"/>
                    </a:cubicBezTo>
                    <a:cubicBezTo>
                      <a:pt x="142" y="140"/>
                      <a:pt x="142" y="140"/>
                      <a:pt x="142" y="140"/>
                    </a:cubicBezTo>
                    <a:cubicBezTo>
                      <a:pt x="138" y="156"/>
                      <a:pt x="90" y="287"/>
                      <a:pt x="37" y="284"/>
                    </a:cubicBezTo>
                    <a:cubicBezTo>
                      <a:pt x="5" y="283"/>
                      <a:pt x="0" y="232"/>
                      <a:pt x="2" y="194"/>
                    </a:cubicBezTo>
                    <a:cubicBezTo>
                      <a:pt x="2" y="187"/>
                      <a:pt x="2" y="180"/>
                      <a:pt x="3" y="174"/>
                    </a:cubicBezTo>
                    <a:cubicBezTo>
                      <a:pt x="4" y="161"/>
                      <a:pt x="5" y="152"/>
                      <a:pt x="5" y="152"/>
                    </a:cubicBezTo>
                    <a:cubicBezTo>
                      <a:pt x="6" y="148"/>
                      <a:pt x="6" y="148"/>
                      <a:pt x="6" y="148"/>
                    </a:cubicBezTo>
                    <a:cubicBezTo>
                      <a:pt x="19" y="95"/>
                      <a:pt x="19" y="95"/>
                      <a:pt x="19" y="95"/>
                    </a:cubicBezTo>
                    <a:cubicBezTo>
                      <a:pt x="20" y="93"/>
                      <a:pt x="21" y="90"/>
                      <a:pt x="22" y="87"/>
                    </a:cubicBezTo>
                    <a:cubicBezTo>
                      <a:pt x="29" y="75"/>
                      <a:pt x="39" y="64"/>
                      <a:pt x="51" y="54"/>
                    </a:cubicBezTo>
                    <a:cubicBezTo>
                      <a:pt x="89" y="24"/>
                      <a:pt x="145" y="0"/>
                      <a:pt x="145" y="0"/>
                    </a:cubicBezTo>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2" name="Google Shape;722;p27"/>
              <p:cNvSpPr/>
              <p:nvPr/>
            </p:nvSpPr>
            <p:spPr>
              <a:xfrm>
                <a:off x="8605733" y="2215404"/>
                <a:ext cx="0" cy="1403"/>
              </a:xfrm>
              <a:custGeom>
                <a:avLst/>
                <a:gdLst/>
                <a:ahLst/>
                <a:cxnLst/>
                <a:rect l="l" t="t" r="r" b="b"/>
                <a:pathLst>
                  <a:path w="120000" h="1" extrusionOk="0">
                    <a:moveTo>
                      <a:pt x="0" y="0"/>
                    </a:moveTo>
                    <a:cubicBezTo>
                      <a:pt x="0" y="0"/>
                      <a:pt x="0" y="0"/>
                      <a:pt x="0" y="0"/>
                    </a:cubicBezTo>
                    <a:cubicBezTo>
                      <a:pt x="0" y="0"/>
                      <a:pt x="0" y="1"/>
                      <a:pt x="0" y="1"/>
                    </a:cubicBezTo>
                    <a:cubicBezTo>
                      <a:pt x="0" y="1"/>
                      <a:pt x="0" y="1"/>
                      <a:pt x="0" y="1"/>
                    </a:cubicBezTo>
                    <a:cubicBezTo>
                      <a:pt x="0" y="1"/>
                      <a:pt x="0" y="0"/>
                      <a:pt x="0" y="0"/>
                    </a:cubicBezTo>
                  </a:path>
                </a:pathLst>
              </a:custGeom>
              <a:solidFill>
                <a:srgbClr val="FFBFA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3" name="Google Shape;723;p27"/>
              <p:cNvSpPr/>
              <p:nvPr/>
            </p:nvSpPr>
            <p:spPr>
              <a:xfrm>
                <a:off x="8475293" y="2216807"/>
                <a:ext cx="130440" cy="135349"/>
              </a:xfrm>
              <a:custGeom>
                <a:avLst/>
                <a:gdLst/>
                <a:ahLst/>
                <a:cxnLst/>
                <a:rect l="l" t="t" r="r" b="b"/>
                <a:pathLst>
                  <a:path w="142" h="148" extrusionOk="0">
                    <a:moveTo>
                      <a:pt x="142" y="0"/>
                    </a:moveTo>
                    <a:cubicBezTo>
                      <a:pt x="119" y="40"/>
                      <a:pt x="59" y="105"/>
                      <a:pt x="10" y="108"/>
                    </a:cubicBezTo>
                    <a:cubicBezTo>
                      <a:pt x="9" y="108"/>
                      <a:pt x="8" y="108"/>
                      <a:pt x="7" y="108"/>
                    </a:cubicBezTo>
                    <a:cubicBezTo>
                      <a:pt x="6" y="108"/>
                      <a:pt x="5" y="108"/>
                      <a:pt x="3" y="108"/>
                    </a:cubicBezTo>
                    <a:cubicBezTo>
                      <a:pt x="3" y="111"/>
                      <a:pt x="2" y="118"/>
                      <a:pt x="1" y="128"/>
                    </a:cubicBezTo>
                    <a:cubicBezTo>
                      <a:pt x="0" y="134"/>
                      <a:pt x="0" y="141"/>
                      <a:pt x="0" y="148"/>
                    </a:cubicBezTo>
                    <a:cubicBezTo>
                      <a:pt x="103" y="112"/>
                      <a:pt x="138" y="12"/>
                      <a:pt x="142" y="0"/>
                    </a:cubicBezTo>
                    <a:cubicBezTo>
                      <a:pt x="142" y="0"/>
                      <a:pt x="142" y="0"/>
                      <a:pt x="142" y="0"/>
                    </a:cubicBezTo>
                    <a:cubicBezTo>
                      <a:pt x="142" y="0"/>
                      <a:pt x="142" y="0"/>
                      <a:pt x="142"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4" name="Google Shape;724;p27"/>
              <p:cNvSpPr/>
              <p:nvPr/>
            </p:nvSpPr>
            <p:spPr>
              <a:xfrm>
                <a:off x="8181452" y="2713321"/>
                <a:ext cx="231426" cy="161998"/>
              </a:xfrm>
              <a:custGeom>
                <a:avLst/>
                <a:gdLst/>
                <a:ahLst/>
                <a:cxnLst/>
                <a:rect l="l" t="t" r="r" b="b"/>
                <a:pathLst>
                  <a:path w="252" h="176" extrusionOk="0">
                    <a:moveTo>
                      <a:pt x="158" y="124"/>
                    </a:moveTo>
                    <a:cubicBezTo>
                      <a:pt x="142" y="176"/>
                      <a:pt x="121" y="152"/>
                      <a:pt x="121" y="152"/>
                    </a:cubicBezTo>
                    <a:cubicBezTo>
                      <a:pt x="124" y="134"/>
                      <a:pt x="124" y="134"/>
                      <a:pt x="124" y="134"/>
                    </a:cubicBezTo>
                    <a:cubicBezTo>
                      <a:pt x="121" y="144"/>
                      <a:pt x="117" y="150"/>
                      <a:pt x="112" y="154"/>
                    </a:cubicBezTo>
                    <a:cubicBezTo>
                      <a:pt x="98" y="168"/>
                      <a:pt x="82" y="156"/>
                      <a:pt x="82" y="156"/>
                    </a:cubicBezTo>
                    <a:cubicBezTo>
                      <a:pt x="89" y="139"/>
                      <a:pt x="89" y="139"/>
                      <a:pt x="89" y="139"/>
                    </a:cubicBezTo>
                    <a:cubicBezTo>
                      <a:pt x="85" y="145"/>
                      <a:pt x="81" y="149"/>
                      <a:pt x="77" y="152"/>
                    </a:cubicBezTo>
                    <a:cubicBezTo>
                      <a:pt x="62" y="162"/>
                      <a:pt x="47" y="152"/>
                      <a:pt x="47" y="152"/>
                    </a:cubicBezTo>
                    <a:cubicBezTo>
                      <a:pt x="47" y="152"/>
                      <a:pt x="74" y="83"/>
                      <a:pt x="80" y="78"/>
                    </a:cubicBezTo>
                    <a:cubicBezTo>
                      <a:pt x="85" y="73"/>
                      <a:pt x="125" y="50"/>
                      <a:pt x="125" y="50"/>
                    </a:cubicBezTo>
                    <a:cubicBezTo>
                      <a:pt x="80" y="61"/>
                      <a:pt x="80" y="61"/>
                      <a:pt x="80" y="61"/>
                    </a:cubicBezTo>
                    <a:cubicBezTo>
                      <a:pt x="80" y="61"/>
                      <a:pt x="78" y="68"/>
                      <a:pt x="54" y="95"/>
                    </a:cubicBezTo>
                    <a:cubicBezTo>
                      <a:pt x="29" y="123"/>
                      <a:pt x="0" y="103"/>
                      <a:pt x="0" y="103"/>
                    </a:cubicBezTo>
                    <a:cubicBezTo>
                      <a:pt x="4" y="98"/>
                      <a:pt x="54" y="31"/>
                      <a:pt x="58" y="29"/>
                    </a:cubicBezTo>
                    <a:cubicBezTo>
                      <a:pt x="62" y="26"/>
                      <a:pt x="123" y="0"/>
                      <a:pt x="134" y="1"/>
                    </a:cubicBezTo>
                    <a:cubicBezTo>
                      <a:pt x="146" y="1"/>
                      <a:pt x="246" y="23"/>
                      <a:pt x="246" y="23"/>
                    </a:cubicBezTo>
                    <a:cubicBezTo>
                      <a:pt x="252" y="109"/>
                      <a:pt x="252" y="109"/>
                      <a:pt x="252" y="109"/>
                    </a:cubicBezTo>
                    <a:cubicBezTo>
                      <a:pt x="210" y="157"/>
                      <a:pt x="158" y="124"/>
                      <a:pt x="158" y="124"/>
                    </a:cubicBezTo>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5" name="Google Shape;725;p27"/>
              <p:cNvSpPr/>
              <p:nvPr/>
            </p:nvSpPr>
            <p:spPr>
              <a:xfrm>
                <a:off x="8252282" y="2781346"/>
                <a:ext cx="57506" cy="72233"/>
              </a:xfrm>
              <a:custGeom>
                <a:avLst/>
                <a:gdLst/>
                <a:ahLst/>
                <a:cxnLst/>
                <a:rect l="l" t="t" r="r" b="b"/>
                <a:pathLst>
                  <a:path w="63" h="78" extrusionOk="0">
                    <a:moveTo>
                      <a:pt x="63" y="0"/>
                    </a:moveTo>
                    <a:cubicBezTo>
                      <a:pt x="26" y="24"/>
                      <a:pt x="26" y="24"/>
                      <a:pt x="26" y="24"/>
                    </a:cubicBezTo>
                    <a:cubicBezTo>
                      <a:pt x="0" y="78"/>
                      <a:pt x="0" y="78"/>
                      <a:pt x="0" y="78"/>
                    </a:cubicBezTo>
                    <a:cubicBezTo>
                      <a:pt x="4" y="75"/>
                      <a:pt x="8" y="71"/>
                      <a:pt x="12" y="65"/>
                    </a:cubicBezTo>
                    <a:cubicBezTo>
                      <a:pt x="12" y="65"/>
                      <a:pt x="27" y="32"/>
                      <a:pt x="30" y="27"/>
                    </a:cubicBezTo>
                    <a:cubicBezTo>
                      <a:pt x="34" y="22"/>
                      <a:pt x="61" y="1"/>
                      <a:pt x="63"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6" name="Google Shape;726;p27"/>
              <p:cNvSpPr/>
              <p:nvPr/>
            </p:nvSpPr>
            <p:spPr>
              <a:xfrm>
                <a:off x="8284541" y="2798878"/>
                <a:ext cx="41376" cy="56103"/>
              </a:xfrm>
              <a:custGeom>
                <a:avLst/>
                <a:gdLst/>
                <a:ahLst/>
                <a:cxnLst/>
                <a:rect l="l" t="t" r="r" b="b"/>
                <a:pathLst>
                  <a:path w="45" h="61" extrusionOk="0">
                    <a:moveTo>
                      <a:pt x="45" y="0"/>
                    </a:moveTo>
                    <a:cubicBezTo>
                      <a:pt x="43" y="1"/>
                      <a:pt x="23" y="9"/>
                      <a:pt x="19" y="12"/>
                    </a:cubicBezTo>
                    <a:cubicBezTo>
                      <a:pt x="16" y="15"/>
                      <a:pt x="4" y="49"/>
                      <a:pt x="0" y="61"/>
                    </a:cubicBezTo>
                    <a:cubicBezTo>
                      <a:pt x="5" y="57"/>
                      <a:pt x="9" y="51"/>
                      <a:pt x="12" y="41"/>
                    </a:cubicBezTo>
                    <a:cubicBezTo>
                      <a:pt x="12" y="41"/>
                      <a:pt x="20" y="20"/>
                      <a:pt x="22" y="15"/>
                    </a:cubicBezTo>
                    <a:cubicBezTo>
                      <a:pt x="24" y="11"/>
                      <a:pt x="43" y="1"/>
                      <a:pt x="45"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7" name="Google Shape;727;p27"/>
              <p:cNvSpPr/>
              <p:nvPr/>
            </p:nvSpPr>
            <p:spPr>
              <a:xfrm>
                <a:off x="8386930" y="2377403"/>
                <a:ext cx="563136" cy="631162"/>
              </a:xfrm>
              <a:custGeom>
                <a:avLst/>
                <a:gdLst/>
                <a:ahLst/>
                <a:cxnLst/>
                <a:rect l="l" t="t" r="r" b="b"/>
                <a:pathLst>
                  <a:path w="613" h="687" extrusionOk="0">
                    <a:moveTo>
                      <a:pt x="435" y="0"/>
                    </a:moveTo>
                    <a:cubicBezTo>
                      <a:pt x="510" y="34"/>
                      <a:pt x="613" y="580"/>
                      <a:pt x="538" y="634"/>
                    </a:cubicBezTo>
                    <a:cubicBezTo>
                      <a:pt x="464" y="687"/>
                      <a:pt x="8" y="527"/>
                      <a:pt x="8" y="527"/>
                    </a:cubicBezTo>
                    <a:cubicBezTo>
                      <a:pt x="8" y="527"/>
                      <a:pt x="0" y="425"/>
                      <a:pt x="28" y="381"/>
                    </a:cubicBezTo>
                    <a:cubicBezTo>
                      <a:pt x="367" y="429"/>
                      <a:pt x="367" y="429"/>
                      <a:pt x="367" y="429"/>
                    </a:cubicBezTo>
                    <a:cubicBezTo>
                      <a:pt x="367" y="429"/>
                      <a:pt x="345" y="303"/>
                      <a:pt x="344" y="241"/>
                    </a:cubicBezTo>
                    <a:cubicBezTo>
                      <a:pt x="346" y="114"/>
                      <a:pt x="435" y="0"/>
                      <a:pt x="435"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8" name="Google Shape;728;p27"/>
              <p:cNvSpPr/>
              <p:nvPr/>
            </p:nvSpPr>
            <p:spPr>
              <a:xfrm>
                <a:off x="7722808" y="2617945"/>
                <a:ext cx="561735" cy="307867"/>
              </a:xfrm>
              <a:custGeom>
                <a:avLst/>
                <a:gdLst/>
                <a:ahLst/>
                <a:cxnLst/>
                <a:rect l="l" t="t" r="r" b="b"/>
                <a:pathLst>
                  <a:path w="611" h="335" extrusionOk="0">
                    <a:moveTo>
                      <a:pt x="520" y="7"/>
                    </a:moveTo>
                    <a:cubicBezTo>
                      <a:pt x="519" y="3"/>
                      <a:pt x="515" y="0"/>
                      <a:pt x="510" y="0"/>
                    </a:cubicBezTo>
                    <a:cubicBezTo>
                      <a:pt x="11" y="0"/>
                      <a:pt x="11" y="0"/>
                      <a:pt x="11" y="0"/>
                    </a:cubicBezTo>
                    <a:cubicBezTo>
                      <a:pt x="5" y="0"/>
                      <a:pt x="0" y="6"/>
                      <a:pt x="2" y="12"/>
                    </a:cubicBezTo>
                    <a:cubicBezTo>
                      <a:pt x="92" y="335"/>
                      <a:pt x="92" y="335"/>
                      <a:pt x="92" y="335"/>
                    </a:cubicBezTo>
                    <a:cubicBezTo>
                      <a:pt x="611" y="335"/>
                      <a:pt x="611" y="335"/>
                      <a:pt x="611" y="335"/>
                    </a:cubicBezTo>
                    <a:lnTo>
                      <a:pt x="520" y="7"/>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9" name="Google Shape;729;p27"/>
              <p:cNvSpPr/>
              <p:nvPr/>
            </p:nvSpPr>
            <p:spPr>
              <a:xfrm>
                <a:off x="8154803" y="2901267"/>
                <a:ext cx="301500" cy="24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0" name="Google Shape;730;p27"/>
              <p:cNvSpPr/>
              <p:nvPr/>
            </p:nvSpPr>
            <p:spPr>
              <a:xfrm>
                <a:off x="7893923" y="2920202"/>
                <a:ext cx="96778" cy="34363"/>
              </a:xfrm>
              <a:custGeom>
                <a:avLst/>
                <a:gdLst/>
                <a:ahLst/>
                <a:cxnLst/>
                <a:rect l="l" t="t" r="r" b="b"/>
                <a:pathLst>
                  <a:path w="105" h="37" extrusionOk="0">
                    <a:moveTo>
                      <a:pt x="95" y="37"/>
                    </a:moveTo>
                    <a:cubicBezTo>
                      <a:pt x="0" y="30"/>
                      <a:pt x="0" y="30"/>
                      <a:pt x="0" y="30"/>
                    </a:cubicBezTo>
                    <a:cubicBezTo>
                      <a:pt x="0" y="30"/>
                      <a:pt x="1" y="3"/>
                      <a:pt x="33" y="1"/>
                    </a:cubicBezTo>
                    <a:cubicBezTo>
                      <a:pt x="64" y="0"/>
                      <a:pt x="105" y="7"/>
                      <a:pt x="105" y="7"/>
                    </a:cubicBezTo>
                    <a:lnTo>
                      <a:pt x="95" y="37"/>
                    </a:lnTo>
                    <a:close/>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1" name="Google Shape;731;p27"/>
              <p:cNvSpPr/>
              <p:nvPr/>
            </p:nvSpPr>
            <p:spPr>
              <a:xfrm>
                <a:off x="7710885" y="2617945"/>
                <a:ext cx="561735" cy="307867"/>
              </a:xfrm>
              <a:custGeom>
                <a:avLst/>
                <a:gdLst/>
                <a:ahLst/>
                <a:cxnLst/>
                <a:rect l="l" t="t" r="r" b="b"/>
                <a:pathLst>
                  <a:path w="611" h="335" extrusionOk="0">
                    <a:moveTo>
                      <a:pt x="519" y="7"/>
                    </a:moveTo>
                    <a:cubicBezTo>
                      <a:pt x="518" y="3"/>
                      <a:pt x="514" y="0"/>
                      <a:pt x="510" y="0"/>
                    </a:cubicBezTo>
                    <a:cubicBezTo>
                      <a:pt x="11" y="0"/>
                      <a:pt x="11" y="0"/>
                      <a:pt x="11" y="0"/>
                    </a:cubicBezTo>
                    <a:cubicBezTo>
                      <a:pt x="4" y="0"/>
                      <a:pt x="0" y="6"/>
                      <a:pt x="2" y="12"/>
                    </a:cubicBezTo>
                    <a:cubicBezTo>
                      <a:pt x="92" y="335"/>
                      <a:pt x="92" y="335"/>
                      <a:pt x="92" y="335"/>
                    </a:cubicBezTo>
                    <a:cubicBezTo>
                      <a:pt x="611" y="335"/>
                      <a:pt x="611" y="335"/>
                      <a:pt x="611" y="335"/>
                    </a:cubicBezTo>
                    <a:lnTo>
                      <a:pt x="519" y="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2" name="Google Shape;732;p27"/>
              <p:cNvSpPr/>
              <p:nvPr/>
            </p:nvSpPr>
            <p:spPr>
              <a:xfrm>
                <a:off x="7902338" y="2748385"/>
                <a:ext cx="149463" cy="45010"/>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3" name="Google Shape;733;p27"/>
              <p:cNvSpPr/>
              <p:nvPr/>
            </p:nvSpPr>
            <p:spPr>
              <a:xfrm>
                <a:off x="7915662" y="2825528"/>
                <a:ext cx="200569" cy="164102"/>
              </a:xfrm>
              <a:custGeom>
                <a:avLst/>
                <a:gdLst/>
                <a:ahLst/>
                <a:cxnLst/>
                <a:rect l="l" t="t" r="r" b="b"/>
                <a:pathLst>
                  <a:path w="218" h="178" extrusionOk="0">
                    <a:moveTo>
                      <a:pt x="218" y="109"/>
                    </a:moveTo>
                    <a:cubicBezTo>
                      <a:pt x="214" y="126"/>
                      <a:pt x="204" y="152"/>
                      <a:pt x="183" y="160"/>
                    </a:cubicBezTo>
                    <a:cubicBezTo>
                      <a:pt x="152" y="170"/>
                      <a:pt x="66" y="178"/>
                      <a:pt x="50" y="162"/>
                    </a:cubicBezTo>
                    <a:cubicBezTo>
                      <a:pt x="34" y="146"/>
                      <a:pt x="0" y="28"/>
                      <a:pt x="0" y="28"/>
                    </a:cubicBezTo>
                    <a:cubicBezTo>
                      <a:pt x="0" y="28"/>
                      <a:pt x="23" y="21"/>
                      <a:pt x="34" y="43"/>
                    </a:cubicBezTo>
                    <a:cubicBezTo>
                      <a:pt x="44" y="65"/>
                      <a:pt x="64" y="123"/>
                      <a:pt x="64" y="123"/>
                    </a:cubicBezTo>
                    <a:cubicBezTo>
                      <a:pt x="53" y="3"/>
                      <a:pt x="53" y="3"/>
                      <a:pt x="53" y="3"/>
                    </a:cubicBezTo>
                    <a:cubicBezTo>
                      <a:pt x="53" y="3"/>
                      <a:pt x="69" y="0"/>
                      <a:pt x="78" y="13"/>
                    </a:cubicBezTo>
                    <a:cubicBezTo>
                      <a:pt x="87" y="26"/>
                      <a:pt x="95" y="105"/>
                      <a:pt x="95" y="105"/>
                    </a:cubicBezTo>
                    <a:cubicBezTo>
                      <a:pt x="86" y="7"/>
                      <a:pt x="86" y="7"/>
                      <a:pt x="86" y="7"/>
                    </a:cubicBezTo>
                    <a:cubicBezTo>
                      <a:pt x="86" y="7"/>
                      <a:pt x="110" y="3"/>
                      <a:pt x="114" y="28"/>
                    </a:cubicBezTo>
                    <a:cubicBezTo>
                      <a:pt x="118" y="54"/>
                      <a:pt x="127" y="113"/>
                      <a:pt x="127" y="113"/>
                    </a:cubicBezTo>
                    <a:cubicBezTo>
                      <a:pt x="121" y="44"/>
                      <a:pt x="121" y="44"/>
                      <a:pt x="121" y="44"/>
                    </a:cubicBezTo>
                    <a:cubicBezTo>
                      <a:pt x="121" y="44"/>
                      <a:pt x="143" y="44"/>
                      <a:pt x="148" y="67"/>
                    </a:cubicBezTo>
                    <a:cubicBezTo>
                      <a:pt x="151" y="85"/>
                      <a:pt x="156" y="108"/>
                      <a:pt x="156" y="108"/>
                    </a:cubicBezTo>
                    <a:lnTo>
                      <a:pt x="218" y="109"/>
                    </a:lnTo>
                    <a:close/>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4" name="Google Shape;734;p27"/>
              <p:cNvSpPr/>
              <p:nvPr/>
            </p:nvSpPr>
            <p:spPr>
              <a:xfrm>
                <a:off x="8373606" y="2021848"/>
                <a:ext cx="246854" cy="295945"/>
              </a:xfrm>
              <a:custGeom>
                <a:avLst/>
                <a:gdLst/>
                <a:ahLst/>
                <a:cxnLst/>
                <a:rect l="l" t="t" r="r" b="b"/>
                <a:pathLst>
                  <a:path w="269" h="322" extrusionOk="0">
                    <a:moveTo>
                      <a:pt x="257" y="204"/>
                    </a:moveTo>
                    <a:cubicBezTo>
                      <a:pt x="238" y="243"/>
                      <a:pt x="173" y="317"/>
                      <a:pt x="121" y="320"/>
                    </a:cubicBezTo>
                    <a:cubicBezTo>
                      <a:pt x="98" y="322"/>
                      <a:pt x="48" y="292"/>
                      <a:pt x="21" y="259"/>
                    </a:cubicBezTo>
                    <a:cubicBezTo>
                      <a:pt x="15" y="251"/>
                      <a:pt x="10" y="236"/>
                      <a:pt x="8" y="218"/>
                    </a:cubicBezTo>
                    <a:cubicBezTo>
                      <a:pt x="7" y="213"/>
                      <a:pt x="6" y="208"/>
                      <a:pt x="5" y="203"/>
                    </a:cubicBezTo>
                    <a:cubicBezTo>
                      <a:pt x="0" y="151"/>
                      <a:pt x="4" y="86"/>
                      <a:pt x="5" y="75"/>
                    </a:cubicBezTo>
                    <a:cubicBezTo>
                      <a:pt x="11" y="46"/>
                      <a:pt x="55" y="22"/>
                      <a:pt x="104" y="15"/>
                    </a:cubicBezTo>
                    <a:cubicBezTo>
                      <a:pt x="202" y="0"/>
                      <a:pt x="223" y="46"/>
                      <a:pt x="223" y="46"/>
                    </a:cubicBezTo>
                    <a:cubicBezTo>
                      <a:pt x="228" y="57"/>
                      <a:pt x="234" y="59"/>
                      <a:pt x="245" y="87"/>
                    </a:cubicBezTo>
                    <a:cubicBezTo>
                      <a:pt x="264" y="133"/>
                      <a:pt x="269" y="180"/>
                      <a:pt x="257" y="204"/>
                    </a:cubicBezTo>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5" name="Google Shape;735;p27"/>
              <p:cNvSpPr/>
              <p:nvPr/>
            </p:nvSpPr>
            <p:spPr>
              <a:xfrm>
                <a:off x="8516669" y="2180340"/>
                <a:ext cx="41376" cy="23142"/>
              </a:xfrm>
              <a:custGeom>
                <a:avLst/>
                <a:gdLst/>
                <a:ahLst/>
                <a:cxnLst/>
                <a:rect l="l" t="t" r="r" b="b"/>
                <a:pathLst>
                  <a:path w="45" h="25" extrusionOk="0">
                    <a:moveTo>
                      <a:pt x="27" y="0"/>
                    </a:moveTo>
                    <a:cubicBezTo>
                      <a:pt x="24" y="0"/>
                      <a:pt x="21" y="1"/>
                      <a:pt x="18" y="2"/>
                    </a:cubicBezTo>
                    <a:cubicBezTo>
                      <a:pt x="6" y="7"/>
                      <a:pt x="0" y="21"/>
                      <a:pt x="0" y="21"/>
                    </a:cubicBezTo>
                    <a:cubicBezTo>
                      <a:pt x="0" y="21"/>
                      <a:pt x="8" y="25"/>
                      <a:pt x="17" y="25"/>
                    </a:cubicBezTo>
                    <a:cubicBezTo>
                      <a:pt x="20" y="25"/>
                      <a:pt x="23" y="25"/>
                      <a:pt x="26" y="24"/>
                    </a:cubicBezTo>
                    <a:cubicBezTo>
                      <a:pt x="39" y="19"/>
                      <a:pt x="45" y="4"/>
                      <a:pt x="45" y="4"/>
                    </a:cubicBezTo>
                    <a:cubicBezTo>
                      <a:pt x="45" y="4"/>
                      <a:pt x="37" y="0"/>
                      <a:pt x="27"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6" name="Google Shape;736;p27"/>
              <p:cNvSpPr/>
              <p:nvPr/>
            </p:nvSpPr>
            <p:spPr>
              <a:xfrm>
                <a:off x="8377813" y="2206288"/>
                <a:ext cx="25247" cy="16831"/>
              </a:xfrm>
              <a:custGeom>
                <a:avLst/>
                <a:gdLst/>
                <a:ahLst/>
                <a:cxnLst/>
                <a:rect l="l" t="t" r="r" b="b"/>
                <a:pathLst>
                  <a:path w="27" h="18" extrusionOk="0">
                    <a:moveTo>
                      <a:pt x="8" y="0"/>
                    </a:moveTo>
                    <a:cubicBezTo>
                      <a:pt x="5" y="0"/>
                      <a:pt x="3" y="1"/>
                      <a:pt x="0" y="2"/>
                    </a:cubicBezTo>
                    <a:cubicBezTo>
                      <a:pt x="1" y="7"/>
                      <a:pt x="2" y="12"/>
                      <a:pt x="3" y="17"/>
                    </a:cubicBezTo>
                    <a:cubicBezTo>
                      <a:pt x="4" y="18"/>
                      <a:pt x="6" y="18"/>
                      <a:pt x="8" y="18"/>
                    </a:cubicBezTo>
                    <a:cubicBezTo>
                      <a:pt x="8" y="18"/>
                      <a:pt x="9" y="18"/>
                      <a:pt x="9" y="18"/>
                    </a:cubicBezTo>
                    <a:cubicBezTo>
                      <a:pt x="19" y="18"/>
                      <a:pt x="27" y="10"/>
                      <a:pt x="27" y="10"/>
                    </a:cubicBezTo>
                    <a:cubicBezTo>
                      <a:pt x="27" y="10"/>
                      <a:pt x="20" y="1"/>
                      <a:pt x="9" y="0"/>
                    </a:cubicBezTo>
                    <a:cubicBezTo>
                      <a:pt x="9" y="0"/>
                      <a:pt x="8" y="0"/>
                      <a:pt x="8"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7" name="Google Shape;737;p27"/>
              <p:cNvSpPr/>
              <p:nvPr/>
            </p:nvSpPr>
            <p:spPr>
              <a:xfrm>
                <a:off x="8404462" y="2170521"/>
                <a:ext cx="19636" cy="39272"/>
              </a:xfrm>
              <a:custGeom>
                <a:avLst/>
                <a:gdLst/>
                <a:ahLst/>
                <a:cxnLst/>
                <a:rect l="l" t="t" r="r" b="b"/>
                <a:pathLst>
                  <a:path w="21" h="43" extrusionOk="0">
                    <a:moveTo>
                      <a:pt x="19" y="20"/>
                    </a:moveTo>
                    <a:cubicBezTo>
                      <a:pt x="21" y="31"/>
                      <a:pt x="18" y="41"/>
                      <a:pt x="14" y="42"/>
                    </a:cubicBezTo>
                    <a:cubicBezTo>
                      <a:pt x="9" y="43"/>
                      <a:pt x="4" y="34"/>
                      <a:pt x="2" y="23"/>
                    </a:cubicBezTo>
                    <a:cubicBezTo>
                      <a:pt x="0" y="12"/>
                      <a:pt x="2" y="2"/>
                      <a:pt x="7" y="1"/>
                    </a:cubicBezTo>
                    <a:cubicBezTo>
                      <a:pt x="11" y="0"/>
                      <a:pt x="17" y="9"/>
                      <a:pt x="19"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8" name="Google Shape;738;p27"/>
              <p:cNvSpPr/>
              <p:nvPr/>
            </p:nvSpPr>
            <p:spPr>
              <a:xfrm>
                <a:off x="8472487" y="2158600"/>
                <a:ext cx="18935" cy="39272"/>
              </a:xfrm>
              <a:custGeom>
                <a:avLst/>
                <a:gdLst/>
                <a:ahLst/>
                <a:cxnLst/>
                <a:rect l="l" t="t" r="r" b="b"/>
                <a:pathLst>
                  <a:path w="20" h="43" extrusionOk="0">
                    <a:moveTo>
                      <a:pt x="18" y="20"/>
                    </a:moveTo>
                    <a:cubicBezTo>
                      <a:pt x="20" y="31"/>
                      <a:pt x="18" y="41"/>
                      <a:pt x="13" y="42"/>
                    </a:cubicBezTo>
                    <a:cubicBezTo>
                      <a:pt x="9" y="43"/>
                      <a:pt x="3" y="34"/>
                      <a:pt x="2" y="23"/>
                    </a:cubicBezTo>
                    <a:cubicBezTo>
                      <a:pt x="0" y="12"/>
                      <a:pt x="2" y="2"/>
                      <a:pt x="6" y="1"/>
                    </a:cubicBezTo>
                    <a:cubicBezTo>
                      <a:pt x="11" y="0"/>
                      <a:pt x="16" y="9"/>
                      <a:pt x="18"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9" name="Google Shape;739;p27"/>
              <p:cNvSpPr/>
              <p:nvPr/>
            </p:nvSpPr>
            <p:spPr>
              <a:xfrm>
                <a:off x="8465475" y="2102496"/>
                <a:ext cx="64519" cy="59610"/>
              </a:xfrm>
              <a:custGeom>
                <a:avLst/>
                <a:gdLst/>
                <a:ahLst/>
                <a:cxnLst/>
                <a:rect l="l" t="t" r="r" b="b"/>
                <a:pathLst>
                  <a:path w="70" h="65" extrusionOk="0">
                    <a:moveTo>
                      <a:pt x="0" y="51"/>
                    </a:moveTo>
                    <a:cubicBezTo>
                      <a:pt x="0" y="51"/>
                      <a:pt x="36" y="30"/>
                      <a:pt x="70" y="65"/>
                    </a:cubicBezTo>
                    <a:cubicBezTo>
                      <a:pt x="70" y="65"/>
                      <a:pt x="32" y="0"/>
                      <a:pt x="0" y="5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0" name="Google Shape;740;p27"/>
              <p:cNvSpPr/>
              <p:nvPr/>
            </p:nvSpPr>
            <p:spPr>
              <a:xfrm>
                <a:off x="8379917" y="2126340"/>
                <a:ext cx="44883" cy="51194"/>
              </a:xfrm>
              <a:custGeom>
                <a:avLst/>
                <a:gdLst/>
                <a:ahLst/>
                <a:cxnLst/>
                <a:rect l="l" t="t" r="r" b="b"/>
                <a:pathLst>
                  <a:path w="49" h="56" extrusionOk="0">
                    <a:moveTo>
                      <a:pt x="49" y="30"/>
                    </a:moveTo>
                    <a:cubicBezTo>
                      <a:pt x="49" y="30"/>
                      <a:pt x="16" y="24"/>
                      <a:pt x="0" y="56"/>
                    </a:cubicBezTo>
                    <a:cubicBezTo>
                      <a:pt x="0" y="56"/>
                      <a:pt x="14" y="0"/>
                      <a:pt x="49" y="3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1" name="Google Shape;741;p27"/>
              <p:cNvSpPr/>
              <p:nvPr/>
            </p:nvSpPr>
            <p:spPr>
              <a:xfrm>
                <a:off x="8602227" y="2099691"/>
                <a:ext cx="70129" cy="122025"/>
              </a:xfrm>
              <a:custGeom>
                <a:avLst/>
                <a:gdLst/>
                <a:ahLst/>
                <a:cxnLst/>
                <a:rect l="l" t="t" r="r" b="b"/>
                <a:pathLst>
                  <a:path w="76" h="133" extrusionOk="0">
                    <a:moveTo>
                      <a:pt x="0" y="50"/>
                    </a:moveTo>
                    <a:cubicBezTo>
                      <a:pt x="0" y="50"/>
                      <a:pt x="7" y="8"/>
                      <a:pt x="32" y="4"/>
                    </a:cubicBezTo>
                    <a:cubicBezTo>
                      <a:pt x="58" y="0"/>
                      <a:pt x="76" y="133"/>
                      <a:pt x="6" y="92"/>
                    </a:cubicBezTo>
                    <a:lnTo>
                      <a:pt x="0" y="50"/>
                    </a:lnTo>
                    <a:close/>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2" name="Google Shape;742;p27"/>
              <p:cNvSpPr/>
              <p:nvPr/>
            </p:nvSpPr>
            <p:spPr>
              <a:xfrm>
                <a:off x="8609941" y="2134054"/>
                <a:ext cx="30156" cy="30857"/>
              </a:xfrm>
              <a:custGeom>
                <a:avLst/>
                <a:gdLst/>
                <a:ahLst/>
                <a:cxnLst/>
                <a:rect l="l" t="t" r="r" b="b"/>
                <a:pathLst>
                  <a:path w="33" h="34" extrusionOk="0">
                    <a:moveTo>
                      <a:pt x="2" y="34"/>
                    </a:moveTo>
                    <a:cubicBezTo>
                      <a:pt x="3" y="34"/>
                      <a:pt x="4" y="33"/>
                      <a:pt x="4" y="32"/>
                    </a:cubicBezTo>
                    <a:cubicBezTo>
                      <a:pt x="4" y="32"/>
                      <a:pt x="4" y="22"/>
                      <a:pt x="10" y="18"/>
                    </a:cubicBezTo>
                    <a:cubicBezTo>
                      <a:pt x="12" y="17"/>
                      <a:pt x="16" y="17"/>
                      <a:pt x="20" y="19"/>
                    </a:cubicBezTo>
                    <a:cubicBezTo>
                      <a:pt x="21" y="19"/>
                      <a:pt x="22" y="19"/>
                      <a:pt x="22" y="18"/>
                    </a:cubicBezTo>
                    <a:cubicBezTo>
                      <a:pt x="22" y="17"/>
                      <a:pt x="22" y="16"/>
                      <a:pt x="21" y="16"/>
                    </a:cubicBezTo>
                    <a:cubicBezTo>
                      <a:pt x="16" y="14"/>
                      <a:pt x="12" y="14"/>
                      <a:pt x="8" y="16"/>
                    </a:cubicBezTo>
                    <a:cubicBezTo>
                      <a:pt x="7" y="16"/>
                      <a:pt x="6" y="17"/>
                      <a:pt x="6" y="18"/>
                    </a:cubicBezTo>
                    <a:cubicBezTo>
                      <a:pt x="8" y="10"/>
                      <a:pt x="13" y="4"/>
                      <a:pt x="18" y="4"/>
                    </a:cubicBezTo>
                    <a:cubicBezTo>
                      <a:pt x="21" y="3"/>
                      <a:pt x="24" y="5"/>
                      <a:pt x="27" y="8"/>
                    </a:cubicBezTo>
                    <a:cubicBezTo>
                      <a:pt x="29" y="10"/>
                      <a:pt x="30" y="13"/>
                      <a:pt x="30" y="13"/>
                    </a:cubicBezTo>
                    <a:cubicBezTo>
                      <a:pt x="31" y="13"/>
                      <a:pt x="31" y="14"/>
                      <a:pt x="32" y="13"/>
                    </a:cubicBezTo>
                    <a:cubicBezTo>
                      <a:pt x="33" y="13"/>
                      <a:pt x="33" y="12"/>
                      <a:pt x="33" y="11"/>
                    </a:cubicBezTo>
                    <a:cubicBezTo>
                      <a:pt x="33" y="11"/>
                      <a:pt x="28" y="0"/>
                      <a:pt x="18" y="1"/>
                    </a:cubicBezTo>
                    <a:cubicBezTo>
                      <a:pt x="8" y="2"/>
                      <a:pt x="0" y="16"/>
                      <a:pt x="1" y="32"/>
                    </a:cubicBezTo>
                    <a:cubicBezTo>
                      <a:pt x="1" y="33"/>
                      <a:pt x="1" y="34"/>
                      <a:pt x="2" y="34"/>
                    </a:cubicBezTo>
                    <a:close/>
                  </a:path>
                </a:pathLst>
              </a:custGeom>
              <a:solidFill>
                <a:srgbClr val="FFA47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3" name="Google Shape;743;p27"/>
              <p:cNvSpPr/>
              <p:nvPr/>
            </p:nvSpPr>
            <p:spPr>
              <a:xfrm>
                <a:off x="8325918" y="1951719"/>
                <a:ext cx="323295" cy="246153"/>
              </a:xfrm>
              <a:custGeom>
                <a:avLst/>
                <a:gdLst/>
                <a:ahLst/>
                <a:cxnLst/>
                <a:rect l="l" t="t" r="r" b="b"/>
                <a:pathLst>
                  <a:path w="352" h="268" extrusionOk="0">
                    <a:moveTo>
                      <a:pt x="284" y="209"/>
                    </a:moveTo>
                    <a:cubicBezTo>
                      <a:pt x="284" y="209"/>
                      <a:pt x="240" y="202"/>
                      <a:pt x="234" y="166"/>
                    </a:cubicBezTo>
                    <a:cubicBezTo>
                      <a:pt x="219" y="176"/>
                      <a:pt x="149" y="190"/>
                      <a:pt x="103" y="173"/>
                    </a:cubicBezTo>
                    <a:cubicBezTo>
                      <a:pt x="113" y="185"/>
                      <a:pt x="145" y="206"/>
                      <a:pt x="145" y="206"/>
                    </a:cubicBezTo>
                    <a:cubicBezTo>
                      <a:pt x="18" y="221"/>
                      <a:pt x="0" y="135"/>
                      <a:pt x="0" y="135"/>
                    </a:cubicBezTo>
                    <a:cubicBezTo>
                      <a:pt x="0" y="135"/>
                      <a:pt x="77" y="30"/>
                      <a:pt x="170" y="18"/>
                    </a:cubicBezTo>
                    <a:cubicBezTo>
                      <a:pt x="276" y="0"/>
                      <a:pt x="276" y="51"/>
                      <a:pt x="276" y="51"/>
                    </a:cubicBezTo>
                    <a:cubicBezTo>
                      <a:pt x="276" y="51"/>
                      <a:pt x="301" y="49"/>
                      <a:pt x="326" y="68"/>
                    </a:cubicBezTo>
                    <a:cubicBezTo>
                      <a:pt x="352" y="88"/>
                      <a:pt x="323" y="169"/>
                      <a:pt x="323" y="169"/>
                    </a:cubicBezTo>
                    <a:cubicBezTo>
                      <a:pt x="323" y="169"/>
                      <a:pt x="302" y="186"/>
                      <a:pt x="302" y="206"/>
                    </a:cubicBezTo>
                    <a:cubicBezTo>
                      <a:pt x="301" y="268"/>
                      <a:pt x="301" y="268"/>
                      <a:pt x="301" y="268"/>
                    </a:cubicBezTo>
                    <a:cubicBezTo>
                      <a:pt x="301" y="268"/>
                      <a:pt x="281" y="231"/>
                      <a:pt x="284" y="20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744" name="Google Shape;744;p27"/>
            <p:cNvSpPr/>
            <p:nvPr/>
          </p:nvSpPr>
          <p:spPr>
            <a:xfrm>
              <a:off x="6208623" y="3034516"/>
              <a:ext cx="200575" cy="197948"/>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5" name="Google Shape;745;p27"/>
            <p:cNvSpPr/>
            <p:nvPr/>
          </p:nvSpPr>
          <p:spPr>
            <a:xfrm>
              <a:off x="4765672" y="1863625"/>
              <a:ext cx="157450" cy="259725"/>
            </a:xfrm>
            <a:custGeom>
              <a:avLst/>
              <a:gdLst/>
              <a:ahLst/>
              <a:cxnLst/>
              <a:rect l="l" t="t" r="r" b="b"/>
              <a:pathLst>
                <a:path w="271" h="447" extrusionOk="0">
                  <a:moveTo>
                    <a:pt x="271" y="234"/>
                  </a:moveTo>
                  <a:lnTo>
                    <a:pt x="135" y="0"/>
                  </a:lnTo>
                  <a:lnTo>
                    <a:pt x="0" y="234"/>
                  </a:lnTo>
                  <a:lnTo>
                    <a:pt x="69" y="234"/>
                  </a:lnTo>
                  <a:lnTo>
                    <a:pt x="69" y="447"/>
                  </a:lnTo>
                  <a:lnTo>
                    <a:pt x="201" y="447"/>
                  </a:lnTo>
                  <a:lnTo>
                    <a:pt x="201" y="234"/>
                  </a:lnTo>
                  <a:lnTo>
                    <a:pt x="271" y="234"/>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 name="Google Shape;667;p27">
            <a:extLst>
              <a:ext uri="{FF2B5EF4-FFF2-40B4-BE49-F238E27FC236}">
                <a16:creationId xmlns:a16="http://schemas.microsoft.com/office/drawing/2014/main" id="{D8527D85-7247-7701-45B1-DC1888116072}"/>
              </a:ext>
            </a:extLst>
          </p:cNvPr>
          <p:cNvSpPr txBox="1">
            <a:spLocks/>
          </p:cNvSpPr>
          <p:nvPr/>
        </p:nvSpPr>
        <p:spPr>
          <a:xfrm>
            <a:off x="529276" y="2126427"/>
            <a:ext cx="4052447" cy="405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chemeClr val="dk1"/>
              </a:buClr>
              <a:buSzPts val="1800"/>
              <a:buFont typeface="DM Sans"/>
              <a:buNone/>
              <a:defRPr sz="1800" b="0"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chemeClr val="dk1"/>
              </a:buClr>
              <a:buSzPts val="1800"/>
              <a:buFont typeface="DM Sans"/>
              <a:buNone/>
              <a:defRPr sz="1800" b="0"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chemeClr val="dk1"/>
              </a:buClr>
              <a:buSzPts val="1800"/>
              <a:buFont typeface="DM Sans"/>
              <a:buNone/>
              <a:defRPr sz="1800" b="0"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chemeClr val="dk1"/>
              </a:buClr>
              <a:buSzPts val="1800"/>
              <a:buFont typeface="DM Sans"/>
              <a:buNone/>
              <a:defRPr sz="1800" b="0"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chemeClr val="dk1"/>
              </a:buClr>
              <a:buSzPts val="1800"/>
              <a:buFont typeface="DM Sans"/>
              <a:buNone/>
              <a:defRPr sz="1800" b="0"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chemeClr val="dk1"/>
              </a:buClr>
              <a:buSzPts val="1800"/>
              <a:buFont typeface="DM Sans"/>
              <a:buNone/>
              <a:defRPr sz="1800" b="0"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chemeClr val="dk1"/>
              </a:buClr>
              <a:buSzPts val="1800"/>
              <a:buFont typeface="DM Sans"/>
              <a:buNone/>
              <a:defRPr sz="1800" b="0"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chemeClr val="dk1"/>
              </a:buClr>
              <a:buSzPts val="1800"/>
              <a:buFont typeface="DM Sans"/>
              <a:buNone/>
              <a:defRPr sz="1800" b="0" i="0" u="none" strike="noStrike" cap="none">
                <a:solidFill>
                  <a:schemeClr val="dk1"/>
                </a:solidFill>
                <a:latin typeface="DM Sans"/>
                <a:ea typeface="DM Sans"/>
                <a:cs typeface="DM Sans"/>
                <a:sym typeface="DM Sans"/>
              </a:defRPr>
            </a:lvl9pPr>
          </a:lstStyle>
          <a:p>
            <a:pPr>
              <a:lnSpc>
                <a:spcPts val="1650"/>
              </a:lnSpc>
            </a:pPr>
            <a:r>
              <a:rPr lang="en-SG" sz="1200" dirty="0">
                <a:latin typeface="Calibri" panose="020F0502020204030204" pitchFamily="34" charset="0"/>
                <a:ea typeface="Calibri" panose="020F0502020204030204" pitchFamily="34" charset="0"/>
                <a:cs typeface="Calibri" panose="020F0502020204030204" pitchFamily="34" charset="0"/>
              </a:rPr>
              <a:t>ST1510 Programming for Data Analytics - CA1</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8EEDE86-D182-B268-E2AD-86C29BA4821E}"/>
              </a:ext>
            </a:extLst>
          </p:cNvPr>
          <p:cNvSpPr/>
          <p:nvPr/>
        </p:nvSpPr>
        <p:spPr>
          <a:xfrm>
            <a:off x="800082" y="633413"/>
            <a:ext cx="7662862" cy="3948112"/>
          </a:xfrm>
          <a:prstGeom prst="rect">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b="1">
              <a:latin typeface="Book Antiqua" panose="0204060205030503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315D25B6-F107-622C-A5A4-B82AE5FE49BB}"/>
              </a:ext>
            </a:extLst>
          </p:cNvPr>
          <p:cNvSpPr txBox="1">
            <a:spLocks/>
          </p:cNvSpPr>
          <p:nvPr/>
        </p:nvSpPr>
        <p:spPr>
          <a:xfrm>
            <a:off x="1314431" y="3105931"/>
            <a:ext cx="2876550" cy="1102125"/>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Baloo 2 ExtraBold"/>
              <a:buNone/>
              <a:defRPr sz="3100" b="0" i="0" u="none" strike="noStrike" cap="none">
                <a:solidFill>
                  <a:schemeClr val="dk1"/>
                </a:solidFill>
                <a:latin typeface="Commissioner ExtraBold"/>
                <a:ea typeface="Commissioner ExtraBold"/>
                <a:cs typeface="Commissioner ExtraBold"/>
                <a:sym typeface="Commissioner ExtraBold"/>
              </a:defRPr>
            </a:lvl1pPr>
            <a:lvl2pPr marR="0" lvl="1"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2pPr>
            <a:lvl3pPr marR="0" lvl="2"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3pPr>
            <a:lvl4pPr marR="0" lvl="3"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4pPr>
            <a:lvl5pPr marR="0" lvl="4"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5pPr>
            <a:lvl6pPr marR="0" lvl="5"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6pPr>
            <a:lvl7pPr marR="0" lvl="6"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7pPr>
            <a:lvl8pPr marR="0" lvl="7"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8pPr>
            <a:lvl9pPr marR="0" lvl="8"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9pPr>
          </a:lstStyle>
          <a:p>
            <a:r>
              <a:rPr lang="en-SG" sz="1900" b="1" dirty="0">
                <a:latin typeface="Book Antiqua" panose="02040602050305030304" pitchFamily="18" charset="0"/>
                <a:ea typeface="Calibri" panose="020F0502020204030204" pitchFamily="34" charset="0"/>
                <a:cs typeface="Times New Roman" panose="02020603050405020304" pitchFamily="18" charset="0"/>
              </a:rPr>
              <a:t>03</a:t>
            </a:r>
          </a:p>
          <a:p>
            <a:r>
              <a:rPr lang="en-SG" sz="1900" b="1" dirty="0">
                <a:latin typeface="Book Antiqua" panose="02040602050305030304" pitchFamily="18" charset="0"/>
                <a:ea typeface="Calibri" panose="020F0502020204030204" pitchFamily="34" charset="0"/>
                <a:cs typeface="Times New Roman" panose="02020603050405020304" pitchFamily="18" charset="0"/>
              </a:rPr>
              <a:t>Data Visualisation With </a:t>
            </a:r>
            <a:r>
              <a:rPr lang="en-SG" sz="1900" b="1" dirty="0">
                <a:solidFill>
                  <a:schemeClr val="bg1"/>
                </a:solidFill>
                <a:latin typeface="Book Antiqua" panose="02040602050305030304" pitchFamily="18" charset="0"/>
                <a:ea typeface="Calibri" panose="020F0502020204030204" pitchFamily="34" charset="0"/>
                <a:cs typeface="Times New Roman" panose="02020603050405020304" pitchFamily="18" charset="0"/>
              </a:rPr>
              <a:t>MatPlotLib</a:t>
            </a:r>
          </a:p>
        </p:txBody>
      </p:sp>
      <p:sp>
        <p:nvSpPr>
          <p:cNvPr id="6" name="Title 1">
            <a:extLst>
              <a:ext uri="{FF2B5EF4-FFF2-40B4-BE49-F238E27FC236}">
                <a16:creationId xmlns:a16="http://schemas.microsoft.com/office/drawing/2014/main" id="{3BCE88E3-BBC8-33DE-5B14-DAB85F020E87}"/>
              </a:ext>
            </a:extLst>
          </p:cNvPr>
          <p:cNvSpPr txBox="1">
            <a:spLocks/>
          </p:cNvSpPr>
          <p:nvPr/>
        </p:nvSpPr>
        <p:spPr>
          <a:xfrm>
            <a:off x="4793437" y="1074734"/>
            <a:ext cx="3490914" cy="1102125"/>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Baloo 2 ExtraBold"/>
              <a:buNone/>
              <a:defRPr sz="3100" b="0" i="0" u="none" strike="noStrike" cap="none">
                <a:solidFill>
                  <a:schemeClr val="dk1"/>
                </a:solidFill>
                <a:latin typeface="Commissioner ExtraBold"/>
                <a:ea typeface="Commissioner ExtraBold"/>
                <a:cs typeface="Commissioner ExtraBold"/>
                <a:sym typeface="Commissioner ExtraBold"/>
              </a:defRPr>
            </a:lvl1pPr>
            <a:lvl2pPr marR="0" lvl="1"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2pPr>
            <a:lvl3pPr marR="0" lvl="2"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3pPr>
            <a:lvl4pPr marR="0" lvl="3"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4pPr>
            <a:lvl5pPr marR="0" lvl="4"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5pPr>
            <a:lvl6pPr marR="0" lvl="5"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6pPr>
            <a:lvl7pPr marR="0" lvl="6"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7pPr>
            <a:lvl8pPr marR="0" lvl="7"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8pPr>
            <a:lvl9pPr marR="0" lvl="8"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9pPr>
          </a:lstStyle>
          <a:p>
            <a:r>
              <a:rPr lang="en-SG" sz="1900" b="1" dirty="0">
                <a:latin typeface="Book Antiqua" panose="02040602050305030304" pitchFamily="18" charset="0"/>
                <a:ea typeface="Calibri" panose="020F0502020204030204" pitchFamily="34" charset="0"/>
                <a:cs typeface="Times New Roman" panose="02020603050405020304" pitchFamily="18" charset="0"/>
              </a:rPr>
              <a:t>02</a:t>
            </a:r>
          </a:p>
          <a:p>
            <a:r>
              <a:rPr lang="en-SG" sz="1900" b="1" dirty="0">
                <a:latin typeface="Book Antiqua" panose="02040602050305030304" pitchFamily="18" charset="0"/>
                <a:ea typeface="Calibri" panose="020F0502020204030204" pitchFamily="34" charset="0"/>
                <a:cs typeface="Times New Roman" panose="02020603050405020304" pitchFamily="18" charset="0"/>
              </a:rPr>
              <a:t>Exploratory Data Analysis (EDA) &amp; Data Wrangling (</a:t>
            </a:r>
            <a:r>
              <a:rPr lang="en-SG" sz="1900" b="1" dirty="0">
                <a:solidFill>
                  <a:srgbClr val="00B050"/>
                </a:solidFill>
                <a:latin typeface="Book Antiqua" panose="02040602050305030304" pitchFamily="18" charset="0"/>
                <a:ea typeface="Calibri" panose="020F0502020204030204" pitchFamily="34" charset="0"/>
                <a:cs typeface="Times New Roman" panose="02020603050405020304" pitchFamily="18" charset="0"/>
              </a:rPr>
              <a:t>Pandas</a:t>
            </a:r>
            <a:r>
              <a:rPr lang="en-SG" sz="1900" b="1" dirty="0">
                <a:latin typeface="Book Antiqua" panose="02040602050305030304" pitchFamily="18" charset="0"/>
                <a:ea typeface="Calibri" panose="020F0502020204030204" pitchFamily="34" charset="0"/>
                <a:cs typeface="Times New Roman" panose="02020603050405020304" pitchFamily="18" charset="0"/>
              </a:rPr>
              <a:t>)</a:t>
            </a:r>
          </a:p>
        </p:txBody>
      </p:sp>
      <p:sp>
        <p:nvSpPr>
          <p:cNvPr id="9" name="Title 1">
            <a:extLst>
              <a:ext uri="{FF2B5EF4-FFF2-40B4-BE49-F238E27FC236}">
                <a16:creationId xmlns:a16="http://schemas.microsoft.com/office/drawing/2014/main" id="{6F4A830F-B6E3-C977-AE7A-882144FAF316}"/>
              </a:ext>
            </a:extLst>
          </p:cNvPr>
          <p:cNvSpPr txBox="1">
            <a:spLocks/>
          </p:cNvSpPr>
          <p:nvPr/>
        </p:nvSpPr>
        <p:spPr>
          <a:xfrm>
            <a:off x="1241801" y="1131875"/>
            <a:ext cx="3021809" cy="1102125"/>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Baloo 2 ExtraBold"/>
              <a:buNone/>
              <a:defRPr sz="3100" b="0" i="0" u="none" strike="noStrike" cap="none">
                <a:solidFill>
                  <a:schemeClr val="dk1"/>
                </a:solidFill>
                <a:latin typeface="Commissioner ExtraBold"/>
                <a:ea typeface="Commissioner ExtraBold"/>
                <a:cs typeface="Commissioner ExtraBold"/>
                <a:sym typeface="Commissioner ExtraBold"/>
              </a:defRPr>
            </a:lvl1pPr>
            <a:lvl2pPr marR="0" lvl="1"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2pPr>
            <a:lvl3pPr marR="0" lvl="2"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3pPr>
            <a:lvl4pPr marR="0" lvl="3"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4pPr>
            <a:lvl5pPr marR="0" lvl="4"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5pPr>
            <a:lvl6pPr marR="0" lvl="5"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6pPr>
            <a:lvl7pPr marR="0" lvl="6"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7pPr>
            <a:lvl8pPr marR="0" lvl="7"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8pPr>
            <a:lvl9pPr marR="0" lvl="8"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9pPr>
          </a:lstStyle>
          <a:p>
            <a:r>
              <a:rPr lang="en-SG" sz="1900" b="1" dirty="0">
                <a:latin typeface="Book Antiqua" panose="02040602050305030304" pitchFamily="18" charset="0"/>
                <a:ea typeface="Calibri" panose="020F0502020204030204" pitchFamily="34" charset="0"/>
                <a:cs typeface="Times New Roman" panose="02020603050405020304" pitchFamily="18" charset="0"/>
              </a:rPr>
              <a:t>01</a:t>
            </a:r>
          </a:p>
          <a:p>
            <a:r>
              <a:rPr lang="en-SG" sz="1900" b="1" dirty="0">
                <a:latin typeface="Book Antiqua" panose="02040602050305030304" pitchFamily="18" charset="0"/>
                <a:ea typeface="Calibri" panose="020F0502020204030204" pitchFamily="34" charset="0"/>
                <a:cs typeface="Times New Roman" panose="02020603050405020304" pitchFamily="18" charset="0"/>
              </a:rPr>
              <a:t>Background Information </a:t>
            </a:r>
          </a:p>
          <a:p>
            <a:r>
              <a:rPr lang="en-SG" sz="1900" b="1" dirty="0">
                <a:latin typeface="Book Antiqua" panose="02040602050305030304" pitchFamily="18" charset="0"/>
                <a:ea typeface="Calibri" panose="020F0502020204030204" pitchFamily="34" charset="0"/>
                <a:cs typeface="Times New Roman" panose="02020603050405020304" pitchFamily="18" charset="0"/>
              </a:rPr>
              <a:t>&amp; Research</a:t>
            </a:r>
          </a:p>
        </p:txBody>
      </p:sp>
      <p:sp>
        <p:nvSpPr>
          <p:cNvPr id="10" name="Title 1">
            <a:extLst>
              <a:ext uri="{FF2B5EF4-FFF2-40B4-BE49-F238E27FC236}">
                <a16:creationId xmlns:a16="http://schemas.microsoft.com/office/drawing/2014/main" id="{4B644F9D-76A9-E00F-757B-DD7127595521}"/>
              </a:ext>
            </a:extLst>
          </p:cNvPr>
          <p:cNvSpPr txBox="1">
            <a:spLocks/>
          </p:cNvSpPr>
          <p:nvPr/>
        </p:nvSpPr>
        <p:spPr>
          <a:xfrm>
            <a:off x="4795819" y="3105931"/>
            <a:ext cx="3226593" cy="1102125"/>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Baloo 2 ExtraBold"/>
              <a:buNone/>
              <a:defRPr sz="3100" b="0" i="0" u="none" strike="noStrike" cap="none">
                <a:solidFill>
                  <a:schemeClr val="dk1"/>
                </a:solidFill>
                <a:latin typeface="Commissioner ExtraBold"/>
                <a:ea typeface="Commissioner ExtraBold"/>
                <a:cs typeface="Commissioner ExtraBold"/>
                <a:sym typeface="Commissioner ExtraBold"/>
              </a:defRPr>
            </a:lvl1pPr>
            <a:lvl2pPr marR="0" lvl="1"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2pPr>
            <a:lvl3pPr marR="0" lvl="2"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3pPr>
            <a:lvl4pPr marR="0" lvl="3"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4pPr>
            <a:lvl5pPr marR="0" lvl="4"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5pPr>
            <a:lvl6pPr marR="0" lvl="5"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6pPr>
            <a:lvl7pPr marR="0" lvl="6"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7pPr>
            <a:lvl8pPr marR="0" lvl="7"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8pPr>
            <a:lvl9pPr marR="0" lvl="8" algn="l" rtl="0">
              <a:lnSpc>
                <a:spcPct val="100000"/>
              </a:lnSpc>
              <a:spcBef>
                <a:spcPts val="0"/>
              </a:spcBef>
              <a:spcAft>
                <a:spcPts val="0"/>
              </a:spcAft>
              <a:buClr>
                <a:schemeClr val="dk1"/>
              </a:buClr>
              <a:buSzPts val="2800"/>
              <a:buFont typeface="Baloo 2 ExtraBold"/>
              <a:buNone/>
              <a:defRPr sz="3000" b="0" i="0" u="none" strike="noStrike" cap="none">
                <a:solidFill>
                  <a:schemeClr val="dk1"/>
                </a:solidFill>
                <a:latin typeface="Baloo 2 ExtraBold"/>
                <a:ea typeface="Baloo 2 ExtraBold"/>
                <a:cs typeface="Baloo 2 ExtraBold"/>
                <a:sym typeface="Baloo 2 ExtraBold"/>
              </a:defRPr>
            </a:lvl9pPr>
          </a:lstStyle>
          <a:p>
            <a:r>
              <a:rPr lang="en-SG" sz="1900" b="1" dirty="0">
                <a:latin typeface="Book Antiqua" panose="02040602050305030304" pitchFamily="18" charset="0"/>
                <a:ea typeface="Calibri" panose="020F0502020204030204" pitchFamily="34" charset="0"/>
                <a:cs typeface="Times New Roman" panose="02020603050405020304" pitchFamily="18" charset="0"/>
              </a:rPr>
              <a:t>04</a:t>
            </a:r>
          </a:p>
          <a:p>
            <a:r>
              <a:rPr lang="en-SG" sz="1900" b="1" dirty="0">
                <a:latin typeface="Book Antiqua" panose="02040602050305030304" pitchFamily="18" charset="0"/>
                <a:ea typeface="Calibri" panose="020F0502020204030204" pitchFamily="34" charset="0"/>
                <a:cs typeface="Times New Roman" panose="02020603050405020304" pitchFamily="18" charset="0"/>
              </a:rPr>
              <a:t>Conclusions To My Crafted Research Question</a:t>
            </a:r>
          </a:p>
          <a:p>
            <a:endParaRPr lang="en-SG" sz="1900" b="1" dirty="0">
              <a:latin typeface="Book Antiqua" panose="02040602050305030304" pitchFamily="18" charset="0"/>
              <a:ea typeface="Calibri" panose="020F0502020204030204" pitchFamily="34" charset="0"/>
              <a:cs typeface="Times New Roman" panose="02020603050405020304" pitchFamily="18" charset="0"/>
            </a:endParaRPr>
          </a:p>
        </p:txBody>
      </p:sp>
      <p:cxnSp>
        <p:nvCxnSpPr>
          <p:cNvPr id="13" name="Straight Connector 12">
            <a:extLst>
              <a:ext uri="{FF2B5EF4-FFF2-40B4-BE49-F238E27FC236}">
                <a16:creationId xmlns:a16="http://schemas.microsoft.com/office/drawing/2014/main" id="{5C6D7EFF-C833-7649-EE49-F70B553ABAEC}"/>
              </a:ext>
            </a:extLst>
          </p:cNvPr>
          <p:cNvCxnSpPr>
            <a:cxnSpLocks/>
            <a:stCxn id="11" idx="0"/>
            <a:endCxn id="11" idx="2"/>
          </p:cNvCxnSpPr>
          <p:nvPr/>
        </p:nvCxnSpPr>
        <p:spPr>
          <a:xfrm>
            <a:off x="4631513" y="633413"/>
            <a:ext cx="0" cy="3948112"/>
          </a:xfrm>
          <a:prstGeom prst="line">
            <a:avLst/>
          </a:prstGeom>
        </p:spPr>
        <p:style>
          <a:lnRef idx="3">
            <a:schemeClr val="accent1"/>
          </a:lnRef>
          <a:fillRef idx="0">
            <a:schemeClr val="accent1"/>
          </a:fillRef>
          <a:effectRef idx="2">
            <a:schemeClr val="accent1"/>
          </a:effectRef>
          <a:fontRef idx="minor">
            <a:schemeClr val="tx1"/>
          </a:fontRef>
        </p:style>
      </p:cxnSp>
      <p:cxnSp>
        <p:nvCxnSpPr>
          <p:cNvPr id="14" name="Straight Connector 13">
            <a:extLst>
              <a:ext uri="{FF2B5EF4-FFF2-40B4-BE49-F238E27FC236}">
                <a16:creationId xmlns:a16="http://schemas.microsoft.com/office/drawing/2014/main" id="{AE729F0B-29A0-E940-5855-72C57D92EF4E}"/>
              </a:ext>
            </a:extLst>
          </p:cNvPr>
          <p:cNvCxnSpPr>
            <a:cxnSpLocks/>
            <a:stCxn id="11" idx="1"/>
            <a:endCxn id="11" idx="3"/>
          </p:cNvCxnSpPr>
          <p:nvPr/>
        </p:nvCxnSpPr>
        <p:spPr>
          <a:xfrm>
            <a:off x="800082" y="2607469"/>
            <a:ext cx="7662862"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040242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BEF49-5342-4DFB-FD38-8086E00226A1}"/>
              </a:ext>
            </a:extLst>
          </p:cNvPr>
          <p:cNvSpPr>
            <a:spLocks noGrp="1"/>
          </p:cNvSpPr>
          <p:nvPr>
            <p:ph type="ctrTitle"/>
          </p:nvPr>
        </p:nvSpPr>
        <p:spPr>
          <a:xfrm>
            <a:off x="2126456" y="866345"/>
            <a:ext cx="4891088" cy="797464"/>
          </a:xfrm>
        </p:spPr>
        <p:txBody>
          <a:bodyPr/>
          <a:lstStyle/>
          <a:p>
            <a:r>
              <a:rPr lang="en-SG" sz="4400" dirty="0">
                <a:latin typeface="Book Antiqua" panose="02040602050305030304" pitchFamily="18" charset="0"/>
                <a:ea typeface="Calibri" panose="020F0502020204030204" pitchFamily="34" charset="0"/>
                <a:cs typeface="Calibri" panose="020F0502020204030204" pitchFamily="34" charset="0"/>
              </a:rPr>
              <a:t>Research Question</a:t>
            </a:r>
          </a:p>
        </p:txBody>
      </p:sp>
      <p:sp>
        <p:nvSpPr>
          <p:cNvPr id="4" name="TextBox 3">
            <a:extLst>
              <a:ext uri="{FF2B5EF4-FFF2-40B4-BE49-F238E27FC236}">
                <a16:creationId xmlns:a16="http://schemas.microsoft.com/office/drawing/2014/main" id="{2C6CA6A7-1422-0297-7C1C-E1B987B24495}"/>
              </a:ext>
            </a:extLst>
          </p:cNvPr>
          <p:cNvSpPr txBox="1"/>
          <p:nvPr/>
        </p:nvSpPr>
        <p:spPr>
          <a:xfrm>
            <a:off x="1549003" y="1663809"/>
            <a:ext cx="6045994" cy="2277547"/>
          </a:xfrm>
          <a:prstGeom prst="rect">
            <a:avLst/>
          </a:prstGeom>
          <a:noFill/>
        </p:spPr>
        <p:txBody>
          <a:bodyPr wrap="square" rtlCol="0">
            <a:spAutoFit/>
          </a:bodyPr>
          <a:lstStyle/>
          <a:p>
            <a:pPr lvl="1" algn="ctr"/>
            <a:r>
              <a:rPr lang="en-US" sz="2800" b="0" dirty="0">
                <a:solidFill>
                  <a:srgbClr val="080808"/>
                </a:solidFill>
                <a:effectLst/>
                <a:latin typeface="Calibri" panose="020F0502020204030204" pitchFamily="34" charset="0"/>
                <a:ea typeface="Calibri" panose="020F0502020204030204" pitchFamily="34" charset="0"/>
                <a:cs typeface="Calibri" panose="020F0502020204030204" pitchFamily="34" charset="0"/>
              </a:rPr>
              <a:t>How do </a:t>
            </a:r>
            <a:r>
              <a:rPr lang="en-US" sz="2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IT-related</a:t>
            </a:r>
            <a:r>
              <a:rPr lang="en-US" sz="2800" b="0" dirty="0">
                <a:solidFill>
                  <a:srgbClr val="080808"/>
                </a:solidFill>
                <a:effectLst/>
                <a:latin typeface="Calibri" panose="020F0502020204030204" pitchFamily="34" charset="0"/>
                <a:ea typeface="Calibri" panose="020F0502020204030204" pitchFamily="34" charset="0"/>
                <a:cs typeface="Calibri" panose="020F0502020204030204" pitchFamily="34" charset="0"/>
              </a:rPr>
              <a:t> job postings vary across </a:t>
            </a:r>
            <a:r>
              <a:rPr lang="en-US" sz="2850" b="0" dirty="0">
                <a:solidFill>
                  <a:schemeClr val="tx2">
                    <a:lumMod val="75000"/>
                  </a:schemeClr>
                </a:solidFill>
                <a:effectLst/>
                <a:latin typeface="Calibri" panose="020F0502020204030204" pitchFamily="34" charset="0"/>
                <a:ea typeface="Calibri" panose="020F0502020204030204" pitchFamily="34" charset="0"/>
                <a:cs typeface="Calibri" panose="020F0502020204030204" pitchFamily="34" charset="0"/>
              </a:rPr>
              <a:t>geographic</a:t>
            </a:r>
            <a:r>
              <a:rPr lang="en-US" sz="2800" b="0" dirty="0">
                <a:solidFill>
                  <a:srgbClr val="080808"/>
                </a:solidFill>
                <a:effectLst/>
                <a:latin typeface="Calibri" panose="020F0502020204030204" pitchFamily="34" charset="0"/>
                <a:ea typeface="Calibri" panose="020F0502020204030204" pitchFamily="34" charset="0"/>
                <a:cs typeface="Calibri" panose="020F0502020204030204" pitchFamily="34" charset="0"/>
              </a:rPr>
              <a:t> locations in terms of </a:t>
            </a:r>
            <a:r>
              <a:rPr lang="en-US" sz="2850" dirty="0">
                <a:solidFill>
                  <a:schemeClr val="tx2">
                    <a:lumMod val="75000"/>
                  </a:schemeClr>
                </a:solidFill>
                <a:latin typeface="Calibri" panose="020F0502020204030204" pitchFamily="34" charset="0"/>
                <a:ea typeface="Calibri" panose="020F0502020204030204" pitchFamily="34" charset="0"/>
                <a:cs typeface="Calibri" panose="020F0502020204030204" pitchFamily="34" charset="0"/>
              </a:rPr>
              <a:t>hiring trends</a:t>
            </a:r>
            <a:r>
              <a:rPr lang="en-US" sz="2800" b="0" dirty="0">
                <a:solidFill>
                  <a:srgbClr val="080808"/>
                </a:solidFill>
                <a:effectLst/>
                <a:latin typeface="Calibri" panose="020F0502020204030204" pitchFamily="34" charset="0"/>
                <a:ea typeface="Calibri" panose="020F0502020204030204" pitchFamily="34" charset="0"/>
                <a:cs typeface="Calibri" panose="020F0502020204030204" pitchFamily="34" charset="0"/>
              </a:rPr>
              <a:t>, </a:t>
            </a:r>
            <a:r>
              <a:rPr lang="en-US" sz="2850" dirty="0">
                <a:solidFill>
                  <a:schemeClr val="tx2">
                    <a:lumMod val="75000"/>
                  </a:schemeClr>
                </a:solidFill>
                <a:latin typeface="Calibri" panose="020F0502020204030204" pitchFamily="34" charset="0"/>
                <a:ea typeface="Calibri" panose="020F0502020204030204" pitchFamily="34" charset="0"/>
                <a:cs typeface="Calibri" panose="020F0502020204030204" pitchFamily="34" charset="0"/>
              </a:rPr>
              <a:t>salary ranges</a:t>
            </a:r>
            <a:r>
              <a:rPr lang="en-US" sz="2800" b="0" dirty="0">
                <a:solidFill>
                  <a:srgbClr val="080808"/>
                </a:solidFill>
                <a:effectLst/>
                <a:latin typeface="Calibri" panose="020F0502020204030204" pitchFamily="34" charset="0"/>
                <a:ea typeface="Calibri" panose="020F0502020204030204" pitchFamily="34" charset="0"/>
                <a:cs typeface="Calibri" panose="020F0502020204030204" pitchFamily="34" charset="0"/>
              </a:rPr>
              <a:t>, </a:t>
            </a:r>
            <a:r>
              <a:rPr lang="en-US" sz="2850" dirty="0">
                <a:solidFill>
                  <a:schemeClr val="tx2">
                    <a:lumMod val="75000"/>
                  </a:schemeClr>
                </a:solidFill>
                <a:latin typeface="Calibri" panose="020F0502020204030204" pitchFamily="34" charset="0"/>
                <a:ea typeface="Calibri" panose="020F0502020204030204" pitchFamily="34" charset="0"/>
                <a:cs typeface="Calibri" panose="020F0502020204030204" pitchFamily="34" charset="0"/>
              </a:rPr>
              <a:t>required skills</a:t>
            </a:r>
            <a:r>
              <a:rPr lang="en-US" sz="2800" b="0" dirty="0">
                <a:solidFill>
                  <a:srgbClr val="080808"/>
                </a:solidFill>
                <a:effectLst/>
                <a:latin typeface="Calibri" panose="020F0502020204030204" pitchFamily="34" charset="0"/>
                <a:ea typeface="Calibri" panose="020F0502020204030204" pitchFamily="34" charset="0"/>
                <a:cs typeface="Calibri" panose="020F0502020204030204" pitchFamily="34" charset="0"/>
              </a:rPr>
              <a:t>, </a:t>
            </a:r>
            <a:r>
              <a:rPr lang="en-US" sz="2850" dirty="0">
                <a:solidFill>
                  <a:schemeClr val="tx2">
                    <a:lumMod val="75000"/>
                  </a:schemeClr>
                </a:solidFill>
                <a:latin typeface="Calibri" panose="020F0502020204030204" pitchFamily="34" charset="0"/>
                <a:ea typeface="Calibri" panose="020F0502020204030204" pitchFamily="34" charset="0"/>
                <a:cs typeface="Calibri" panose="020F0502020204030204" pitchFamily="34" charset="0"/>
              </a:rPr>
              <a:t>experience levels</a:t>
            </a:r>
            <a:r>
              <a:rPr lang="en-US" sz="2800" b="0" dirty="0">
                <a:solidFill>
                  <a:srgbClr val="080808"/>
                </a:solidFill>
                <a:effectLst/>
                <a:latin typeface="Calibri" panose="020F0502020204030204" pitchFamily="34" charset="0"/>
                <a:ea typeface="Calibri" panose="020F0502020204030204" pitchFamily="34" charset="0"/>
                <a:cs typeface="Calibri" panose="020F0502020204030204" pitchFamily="34" charset="0"/>
              </a:rPr>
              <a:t>, and </a:t>
            </a:r>
            <a:r>
              <a:rPr lang="en-US" sz="2850" dirty="0">
                <a:solidFill>
                  <a:schemeClr val="tx2">
                    <a:lumMod val="75000"/>
                  </a:schemeClr>
                </a:solidFill>
                <a:latin typeface="Calibri" panose="020F0502020204030204" pitchFamily="34" charset="0"/>
                <a:ea typeface="Calibri" panose="020F0502020204030204" pitchFamily="34" charset="0"/>
                <a:cs typeface="Calibri" panose="020F0502020204030204" pitchFamily="34" charset="0"/>
              </a:rPr>
              <a:t>work types</a:t>
            </a:r>
            <a:r>
              <a:rPr lang="en-US" sz="2800" b="0" dirty="0">
                <a:solidFill>
                  <a:srgbClr val="080808"/>
                </a:solidFill>
                <a:effectLst/>
                <a:latin typeface="Calibri" panose="020F0502020204030204" pitchFamily="34" charset="0"/>
                <a:ea typeface="Calibri" panose="020F0502020204030204" pitchFamily="34" charset="0"/>
                <a:cs typeface="Calibri" panose="020F0502020204030204" pitchFamily="34" charset="0"/>
              </a:rPr>
              <a:t>?</a:t>
            </a:r>
          </a:p>
        </p:txBody>
      </p:sp>
      <p:pic>
        <p:nvPicPr>
          <p:cNvPr id="7" name="Graphic 6" descr="Artificial Intelligence with solid fill">
            <a:extLst>
              <a:ext uri="{FF2B5EF4-FFF2-40B4-BE49-F238E27FC236}">
                <a16:creationId xmlns:a16="http://schemas.microsoft.com/office/drawing/2014/main" id="{DDE83596-AEBB-0F59-9EA2-C5B0B3E8209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339" y="3034166"/>
            <a:ext cx="2327672" cy="2327672"/>
          </a:xfrm>
          <a:prstGeom prst="rect">
            <a:avLst/>
          </a:prstGeom>
        </p:spPr>
      </p:pic>
    </p:spTree>
    <p:extLst>
      <p:ext uri="{BB962C8B-B14F-4D97-AF65-F5344CB8AC3E}">
        <p14:creationId xmlns:p14="http://schemas.microsoft.com/office/powerpoint/2010/main" val="23025066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98381-122D-4AE6-0A22-10645F5AEC6A}"/>
              </a:ext>
            </a:extLst>
          </p:cNvPr>
          <p:cNvSpPr>
            <a:spLocks noGrp="1"/>
          </p:cNvSpPr>
          <p:nvPr>
            <p:ph type="title"/>
          </p:nvPr>
        </p:nvSpPr>
        <p:spPr>
          <a:xfrm>
            <a:off x="968943" y="364585"/>
            <a:ext cx="7206107" cy="902100"/>
          </a:xfrm>
        </p:spPr>
        <p:txBody>
          <a:bodyPr/>
          <a:lstStyle/>
          <a:p>
            <a:r>
              <a:rPr lang="en-SG" sz="2800" dirty="0">
                <a:latin typeface="Calibri" panose="020F0502020204030204" pitchFamily="34" charset="0"/>
                <a:ea typeface="Calibri" panose="020F0502020204030204" pitchFamily="34" charset="0"/>
                <a:cs typeface="Calibri" panose="020F0502020204030204" pitchFamily="34" charset="0"/>
              </a:rPr>
              <a:t>Datasets Provided</a:t>
            </a:r>
          </a:p>
        </p:txBody>
      </p:sp>
      <p:sp>
        <p:nvSpPr>
          <p:cNvPr id="3" name="TextBox 2">
            <a:extLst>
              <a:ext uri="{FF2B5EF4-FFF2-40B4-BE49-F238E27FC236}">
                <a16:creationId xmlns:a16="http://schemas.microsoft.com/office/drawing/2014/main" id="{1A315160-6121-03C5-415D-16A207C979DC}"/>
              </a:ext>
            </a:extLst>
          </p:cNvPr>
          <p:cNvSpPr txBox="1"/>
          <p:nvPr/>
        </p:nvSpPr>
        <p:spPr>
          <a:xfrm>
            <a:off x="427431" y="839450"/>
            <a:ext cx="8289133" cy="954107"/>
          </a:xfrm>
          <a:prstGeom prst="rect">
            <a:avLst/>
          </a:prstGeom>
          <a:noFill/>
        </p:spPr>
        <p:txBody>
          <a:bodyPr wrap="square" rtlCol="0">
            <a:spAutoFit/>
          </a:bodyPr>
          <a:lstStyle/>
          <a:p>
            <a:pPr algn="just"/>
            <a:r>
              <a:rPr lang="en-US" dirty="0">
                <a:latin typeface="Calibri" panose="020F0502020204030204" pitchFamily="34" charset="0"/>
                <a:ea typeface="Calibri" panose="020F0502020204030204" pitchFamily="34" charset="0"/>
                <a:cs typeface="Calibri" panose="020F0502020204030204" pitchFamily="34" charset="0"/>
              </a:rPr>
              <a:t>Before starting the assignment, I skimmed through the provided datasets to get an initial understanding of the </a:t>
            </a:r>
            <a:r>
              <a:rPr lang="en-US" u="sng" dirty="0">
                <a:latin typeface="Calibri" panose="020F0502020204030204" pitchFamily="34" charset="0"/>
                <a:ea typeface="Calibri" panose="020F0502020204030204" pitchFamily="34" charset="0"/>
                <a:cs typeface="Calibri" panose="020F0502020204030204" pitchFamily="34" charset="0"/>
              </a:rPr>
              <a:t>data quality</a:t>
            </a:r>
            <a:r>
              <a:rPr lang="en-US" dirty="0">
                <a:latin typeface="Calibri" panose="020F0502020204030204" pitchFamily="34" charset="0"/>
                <a:ea typeface="Calibri" panose="020F0502020204030204" pitchFamily="34" charset="0"/>
                <a:cs typeface="Calibri" panose="020F0502020204030204" pitchFamily="34" charset="0"/>
              </a:rPr>
              <a:t>, including the extent of </a:t>
            </a:r>
            <a:r>
              <a:rPr lang="en-US" b="1" dirty="0">
                <a:latin typeface="Calibri" panose="020F0502020204030204" pitchFamily="34" charset="0"/>
                <a:ea typeface="Calibri" panose="020F0502020204030204" pitchFamily="34" charset="0"/>
                <a:cs typeface="Calibri" panose="020F0502020204030204" pitchFamily="34" charset="0"/>
              </a:rPr>
              <a:t>missing values</a:t>
            </a:r>
            <a:r>
              <a:rPr lang="en-US" dirty="0">
                <a:latin typeface="Calibri" panose="020F0502020204030204" pitchFamily="34" charset="0"/>
                <a:ea typeface="Calibri" panose="020F0502020204030204" pitchFamily="34" charset="0"/>
                <a:cs typeface="Calibri" panose="020F0502020204030204" pitchFamily="34" charset="0"/>
              </a:rPr>
              <a:t> and the </a:t>
            </a:r>
            <a:r>
              <a:rPr lang="en-US" b="1" dirty="0">
                <a:latin typeface="Calibri" panose="020F0502020204030204" pitchFamily="34" charset="0"/>
                <a:ea typeface="Calibri" panose="020F0502020204030204" pitchFamily="34" charset="0"/>
                <a:cs typeface="Calibri" panose="020F0502020204030204" pitchFamily="34" charset="0"/>
              </a:rPr>
              <a:t>range of variability</a:t>
            </a:r>
            <a:r>
              <a:rPr lang="en-US" dirty="0">
                <a:latin typeface="Calibri" panose="020F0502020204030204" pitchFamily="34" charset="0"/>
                <a:ea typeface="Calibri" panose="020F0502020204030204" pitchFamily="34" charset="0"/>
                <a:cs typeface="Calibri" panose="020F0502020204030204" pitchFamily="34" charset="0"/>
              </a:rPr>
              <a:t> in the data. I also inspected the </a:t>
            </a:r>
            <a:r>
              <a:rPr lang="en-US" b="1" dirty="0">
                <a:latin typeface="Calibri" panose="020F0502020204030204" pitchFamily="34" charset="0"/>
                <a:ea typeface="Calibri" panose="020F0502020204030204" pitchFamily="34" charset="0"/>
                <a:cs typeface="Calibri" panose="020F0502020204030204" pitchFamily="34" charset="0"/>
              </a:rPr>
              <a:t>columns</a:t>
            </a:r>
            <a:r>
              <a:rPr lang="en-US" dirty="0">
                <a:latin typeface="Calibri" panose="020F0502020204030204" pitchFamily="34" charset="0"/>
                <a:ea typeface="Calibri" panose="020F0502020204030204" pitchFamily="34" charset="0"/>
                <a:cs typeface="Calibri" panose="020F0502020204030204" pitchFamily="34" charset="0"/>
              </a:rPr>
              <a:t> to gain better clarity. To ensure accurate results for my research question, I aimed to identify potential trends and get an overall sense of the number and structure of the columns.</a:t>
            </a:r>
            <a:endParaRPr lang="en-SG"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4" name="Table 3">
            <a:extLst>
              <a:ext uri="{FF2B5EF4-FFF2-40B4-BE49-F238E27FC236}">
                <a16:creationId xmlns:a16="http://schemas.microsoft.com/office/drawing/2014/main" id="{13429B20-0703-DCEC-AEC1-B281D395BCE2}"/>
              </a:ext>
            </a:extLst>
          </p:cNvPr>
          <p:cNvGraphicFramePr>
            <a:graphicFrameLocks noGrp="1"/>
          </p:cNvGraphicFramePr>
          <p:nvPr>
            <p:extLst>
              <p:ext uri="{D42A27DB-BD31-4B8C-83A1-F6EECF244321}">
                <p14:modId xmlns:p14="http://schemas.microsoft.com/office/powerpoint/2010/main" val="2805313468"/>
              </p:ext>
            </p:extLst>
          </p:nvPr>
        </p:nvGraphicFramePr>
        <p:xfrm>
          <a:off x="266696" y="1793557"/>
          <a:ext cx="8610604" cy="2842260"/>
        </p:xfrm>
        <a:graphic>
          <a:graphicData uri="http://schemas.openxmlformats.org/drawingml/2006/table">
            <a:tbl>
              <a:tblPr firstRow="1" bandRow="1">
                <a:tableStyleId>{69012ECD-51FC-41F1-AA8D-1B2483CD663E}</a:tableStyleId>
              </a:tblPr>
              <a:tblGrid>
                <a:gridCol w="4305302">
                  <a:extLst>
                    <a:ext uri="{9D8B030D-6E8A-4147-A177-3AD203B41FA5}">
                      <a16:colId xmlns:a16="http://schemas.microsoft.com/office/drawing/2014/main" val="2565842050"/>
                    </a:ext>
                  </a:extLst>
                </a:gridCol>
                <a:gridCol w="4305302">
                  <a:extLst>
                    <a:ext uri="{9D8B030D-6E8A-4147-A177-3AD203B41FA5}">
                      <a16:colId xmlns:a16="http://schemas.microsoft.com/office/drawing/2014/main" val="1323721422"/>
                    </a:ext>
                  </a:extLst>
                </a:gridCol>
              </a:tblGrid>
              <a:tr h="297116">
                <a:tc>
                  <a:txBody>
                    <a:bodyPr/>
                    <a:lstStyle/>
                    <a:p>
                      <a:pPr algn="ctr"/>
                      <a:r>
                        <a:rPr lang="en-SG" dirty="0">
                          <a:latin typeface="Calibri" panose="020F0502020204030204" pitchFamily="34" charset="0"/>
                          <a:ea typeface="Calibri" panose="020F0502020204030204" pitchFamily="34" charset="0"/>
                          <a:cs typeface="Calibri" panose="020F0502020204030204" pitchFamily="34" charset="0"/>
                        </a:rPr>
                        <a:t>Dataset Provided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SG" dirty="0">
                          <a:latin typeface="Calibri" panose="020F0502020204030204" pitchFamily="34" charset="0"/>
                          <a:ea typeface="Calibri" panose="020F0502020204030204" pitchFamily="34" charset="0"/>
                          <a:cs typeface="Calibri" panose="020F0502020204030204" pitchFamily="34" charset="0"/>
                        </a:rPr>
                        <a:t>Brief Understanding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1695625"/>
                  </a:ext>
                </a:extLst>
              </a:tr>
              <a:tr h="352950">
                <a:tc>
                  <a:txBody>
                    <a:bodyPr/>
                    <a:lstStyle/>
                    <a:p>
                      <a:pPr algn="ctr"/>
                      <a:r>
                        <a:rPr lang="en-SG" dirty="0">
                          <a:latin typeface="Calibri" panose="020F0502020204030204" pitchFamily="34" charset="0"/>
                          <a:ea typeface="Calibri" panose="020F0502020204030204" pitchFamily="34" charset="0"/>
                          <a:cs typeface="Calibri" panose="020F0502020204030204" pitchFamily="34" charset="0"/>
                        </a:rPr>
                        <a:t>postings1.csv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Contains job postings with company names, job titles, and unique job IDs, requiring cleaning of missing company names.</a:t>
                      </a:r>
                      <a:endParaRPr lang="en-SG" sz="105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4136820"/>
                  </a:ext>
                </a:extLst>
              </a:tr>
              <a:tr h="352950">
                <a:tc>
                  <a:txBody>
                    <a:bodyPr/>
                    <a:lstStyle/>
                    <a:p>
                      <a:pPr algn="ctr"/>
                      <a:r>
                        <a:rPr lang="en-SG" dirty="0">
                          <a:latin typeface="Calibri" panose="020F0502020204030204" pitchFamily="34" charset="0"/>
                          <a:ea typeface="Calibri" panose="020F0502020204030204" pitchFamily="34" charset="0"/>
                          <a:cs typeface="Calibri" panose="020F0502020204030204" pitchFamily="34" charset="0"/>
                        </a:rPr>
                        <a:t>postings2.csv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50" b="0" i="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Arial"/>
                        </a:rPr>
                        <a:t>Includes job descriptions, max salary, and job IDs, highlighting the need for salary distribution analysis and text cleaning.</a:t>
                      </a:r>
                      <a:endParaRPr lang="en-SG" sz="1050" b="0" i="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2202970"/>
                  </a:ext>
                </a:extLst>
              </a:tr>
              <a:tr h="490209">
                <a:tc>
                  <a:txBody>
                    <a:bodyPr/>
                    <a:lstStyle/>
                    <a:p>
                      <a:pPr algn="ctr"/>
                      <a:r>
                        <a:rPr lang="en-SG" dirty="0">
                          <a:latin typeface="Calibri" panose="020F0502020204030204" pitchFamily="34" charset="0"/>
                          <a:ea typeface="Calibri" panose="020F0502020204030204" pitchFamily="34" charset="0"/>
                          <a:cs typeface="Calibri" panose="020F0502020204030204" pitchFamily="34" charset="0"/>
                        </a:rPr>
                        <a:t>postings3.csv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50" b="0" i="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Arial"/>
                        </a:rPr>
                        <a:t>Offers data on pay periods, job location, salary metrics, and views for job postings, requiring handling of missing salary values and engagement analysis.</a:t>
                      </a:r>
                      <a:endParaRPr lang="en-SG" sz="1050" b="0" i="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7947198"/>
                  </a:ext>
                </a:extLst>
              </a:tr>
              <a:tr h="490209">
                <a:tc>
                  <a:txBody>
                    <a:bodyPr/>
                    <a:lstStyle/>
                    <a:p>
                      <a:pPr algn="ctr"/>
                      <a:r>
                        <a:rPr lang="en-SG" dirty="0">
                          <a:latin typeface="Calibri" panose="020F0502020204030204" pitchFamily="34" charset="0"/>
                          <a:ea typeface="Calibri" panose="020F0502020204030204" pitchFamily="34" charset="0"/>
                          <a:cs typeface="Calibri" panose="020F0502020204030204" pitchFamily="34" charset="0"/>
                        </a:rPr>
                        <a:t>postings4.csv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50" b="0" i="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Arial"/>
                        </a:rPr>
                        <a:t>Provides detailed metadata for job postings, including application types, timestamps, work types, and missing data points for better application trend analysis.</a:t>
                      </a:r>
                      <a:endParaRPr lang="en-SG" sz="1050" b="0" i="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6233722"/>
                  </a:ext>
                </a:extLst>
              </a:tr>
              <a:tr h="490209">
                <a:tc>
                  <a:txBody>
                    <a:bodyPr/>
                    <a:lstStyle/>
                    <a:p>
                      <a:pPr algn="ctr"/>
                      <a:r>
                        <a:rPr lang="en-SG" dirty="0">
                          <a:latin typeface="Calibri" panose="020F0502020204030204" pitchFamily="34" charset="0"/>
                          <a:ea typeface="Calibri" panose="020F0502020204030204" pitchFamily="34" charset="0"/>
                          <a:cs typeface="Calibri" panose="020F0502020204030204" pitchFamily="34" charset="0"/>
                        </a:rPr>
                        <a:t>postings5.csv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50" b="0" i="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Arial"/>
                        </a:rPr>
                        <a:t>Features job postings with company names, titles, and irrelevant/unimportant columns, requiring removal of unnecessary data for focused analysis.</a:t>
                      </a:r>
                      <a:endParaRPr lang="en-SG" sz="1050" b="0" i="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9046411"/>
                  </a:ext>
                </a:extLst>
              </a:tr>
            </a:tbl>
          </a:graphicData>
        </a:graphic>
      </p:graphicFrame>
    </p:spTree>
    <p:extLst>
      <p:ext uri="{BB962C8B-B14F-4D97-AF65-F5344CB8AC3E}">
        <p14:creationId xmlns:p14="http://schemas.microsoft.com/office/powerpoint/2010/main" val="11879526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31FF995A-4EAF-13A5-631E-251E0A964AC5}"/>
              </a:ext>
            </a:extLst>
          </p:cNvPr>
          <p:cNvSpPr/>
          <p:nvPr/>
        </p:nvSpPr>
        <p:spPr>
          <a:xfrm>
            <a:off x="455974" y="1062039"/>
            <a:ext cx="3804784" cy="16877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 name="Title 1">
            <a:extLst>
              <a:ext uri="{FF2B5EF4-FFF2-40B4-BE49-F238E27FC236}">
                <a16:creationId xmlns:a16="http://schemas.microsoft.com/office/drawing/2014/main" id="{31194E24-CE69-B893-90F3-993AA8836649}"/>
              </a:ext>
            </a:extLst>
          </p:cNvPr>
          <p:cNvSpPr>
            <a:spLocks noGrp="1"/>
          </p:cNvSpPr>
          <p:nvPr>
            <p:ph type="title"/>
          </p:nvPr>
        </p:nvSpPr>
        <p:spPr/>
        <p:txBody>
          <a:bodyPr/>
          <a:lstStyle/>
          <a:p>
            <a:r>
              <a:rPr lang="en-SG" dirty="0">
                <a:latin typeface="Calibri" panose="020F0502020204030204" pitchFamily="34" charset="0"/>
                <a:ea typeface="Calibri" panose="020F0502020204030204" pitchFamily="34" charset="0"/>
                <a:cs typeface="Calibri" panose="020F0502020204030204" pitchFamily="34" charset="0"/>
              </a:rPr>
              <a:t>Background Information</a:t>
            </a:r>
          </a:p>
        </p:txBody>
      </p:sp>
      <p:sp>
        <p:nvSpPr>
          <p:cNvPr id="8" name="TextBox 7">
            <a:extLst>
              <a:ext uri="{FF2B5EF4-FFF2-40B4-BE49-F238E27FC236}">
                <a16:creationId xmlns:a16="http://schemas.microsoft.com/office/drawing/2014/main" id="{A70B97CC-7BA7-4294-9092-5E9E89E9B3F1}"/>
              </a:ext>
            </a:extLst>
          </p:cNvPr>
          <p:cNvSpPr txBox="1"/>
          <p:nvPr/>
        </p:nvSpPr>
        <p:spPr>
          <a:xfrm>
            <a:off x="537390" y="1215387"/>
            <a:ext cx="3625724" cy="1815882"/>
          </a:xfrm>
          <a:prstGeom prst="rect">
            <a:avLst/>
          </a:prstGeom>
          <a:noFill/>
        </p:spPr>
        <p:txBody>
          <a:bodyPr wrap="square">
            <a:spAutoFit/>
          </a:bodyPr>
          <a:lstStyle/>
          <a:p>
            <a:pPr algn="just"/>
            <a:r>
              <a:rPr lang="en-US" dirty="0">
                <a:latin typeface="Calibri" panose="020F0502020204030204" pitchFamily="34" charset="0"/>
                <a:ea typeface="Calibri" panose="020F0502020204030204" pitchFamily="34" charset="0"/>
                <a:cs typeface="Calibri" panose="020F0502020204030204" pitchFamily="34" charset="0"/>
              </a:rPr>
              <a:t>This assignment involved analysing a dataset of job postings to uncover meaningful patterns and trends in the job market. The dataset included attributes such as job titles, salaries, locations, work types, and application counts, as mentioned in the earlier slide.</a:t>
            </a:r>
          </a:p>
          <a:p>
            <a:pPr algn="just"/>
            <a:endParaRPr lang="en-US" dirty="0">
              <a:latin typeface="Calibri" panose="020F0502020204030204" pitchFamily="34" charset="0"/>
              <a:ea typeface="Calibri" panose="020F0502020204030204" pitchFamily="34" charset="0"/>
              <a:cs typeface="Calibri" panose="020F0502020204030204" pitchFamily="34" charset="0"/>
            </a:endParaRPr>
          </a:p>
          <a:p>
            <a:pPr algn="just"/>
            <a:endParaRPr lang="en-SG" dirty="0">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C58F1FCE-FDC8-D22A-60D2-1520A23B2B56}"/>
              </a:ext>
            </a:extLst>
          </p:cNvPr>
          <p:cNvSpPr txBox="1"/>
          <p:nvPr/>
        </p:nvSpPr>
        <p:spPr>
          <a:xfrm>
            <a:off x="447540" y="2888412"/>
            <a:ext cx="3805423" cy="1892826"/>
          </a:xfrm>
          <a:prstGeom prst="rect">
            <a:avLst/>
          </a:prstGeom>
          <a:noFill/>
        </p:spPr>
        <p:txBody>
          <a:bodyPr wrap="square">
            <a:spAutoFit/>
          </a:bodyPr>
          <a:lstStyle/>
          <a:p>
            <a:pPr marR="0" algn="just" rtl="0"/>
            <a:r>
              <a:rPr lang="en-US" sz="13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To carry out this analysis, I will be using </a:t>
            </a:r>
            <a:r>
              <a:rPr lang="en-US" sz="1300" b="1"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Pandas</a:t>
            </a:r>
            <a:r>
              <a:rPr lang="en-US" sz="13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for data manipulation and </a:t>
            </a:r>
            <a:r>
              <a:rPr lang="en-US" sz="1300" b="1"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Matplotlib</a:t>
            </a:r>
            <a:r>
              <a:rPr lang="en-US" sz="13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for data visualisation. </a:t>
            </a:r>
          </a:p>
          <a:p>
            <a:pPr marR="0" algn="just" rtl="0"/>
            <a:endParaRPr lang="en-SG" sz="1300" dirty="0">
              <a:effectLst/>
              <a:latin typeface="Calibri" panose="020F0502020204030204" pitchFamily="34" charset="0"/>
              <a:ea typeface="Calibri" panose="020F0502020204030204" pitchFamily="34" charset="0"/>
              <a:cs typeface="Calibri" panose="020F0502020204030204" pitchFamily="34" charset="0"/>
            </a:endParaRPr>
          </a:p>
          <a:p>
            <a:pPr algn="just"/>
            <a:r>
              <a:rPr lang="en-US" sz="13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context centers around an intern, Alex, who discovered a forgotten USB drive containing valuable job data. Tasked by the CEO, Alex </a:t>
            </a:r>
            <a:r>
              <a:rPr lang="en-US" sz="1300" b="0" i="0" u="sng"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analysed this information to uncover trends and explore the popularity of various job postings.</a:t>
            </a:r>
            <a:endParaRPr lang="en-SG" sz="1300" u="sng" dirty="0">
              <a:latin typeface="Calibri" panose="020F0502020204030204" pitchFamily="34" charset="0"/>
              <a:ea typeface="Calibri" panose="020F0502020204030204" pitchFamily="34" charset="0"/>
              <a:cs typeface="Calibri" panose="020F0502020204030204" pitchFamily="34" charset="0"/>
            </a:endParaRPr>
          </a:p>
        </p:txBody>
      </p:sp>
      <p:pic>
        <p:nvPicPr>
          <p:cNvPr id="12" name="Picture 11">
            <a:extLst>
              <a:ext uri="{FF2B5EF4-FFF2-40B4-BE49-F238E27FC236}">
                <a16:creationId xmlns:a16="http://schemas.microsoft.com/office/drawing/2014/main" id="{5BF95805-69D8-E57A-3706-D2C772F8C746}"/>
              </a:ext>
            </a:extLst>
          </p:cNvPr>
          <p:cNvPicPr>
            <a:picLocks noChangeAspect="1"/>
          </p:cNvPicPr>
          <p:nvPr/>
        </p:nvPicPr>
        <p:blipFill>
          <a:blip r:embed="rId3"/>
          <a:stretch>
            <a:fillRect/>
          </a:stretch>
        </p:blipFill>
        <p:spPr>
          <a:xfrm>
            <a:off x="4695802" y="1596336"/>
            <a:ext cx="2276498" cy="948185"/>
          </a:xfrm>
          <a:prstGeom prst="rect">
            <a:avLst/>
          </a:prstGeom>
        </p:spPr>
      </p:pic>
      <p:pic>
        <p:nvPicPr>
          <p:cNvPr id="14" name="Picture 13">
            <a:extLst>
              <a:ext uri="{FF2B5EF4-FFF2-40B4-BE49-F238E27FC236}">
                <a16:creationId xmlns:a16="http://schemas.microsoft.com/office/drawing/2014/main" id="{38402859-311A-1548-B30C-30F87B2D899D}"/>
              </a:ext>
            </a:extLst>
          </p:cNvPr>
          <p:cNvPicPr>
            <a:picLocks noChangeAspect="1"/>
          </p:cNvPicPr>
          <p:nvPr/>
        </p:nvPicPr>
        <p:blipFill>
          <a:blip r:embed="rId4"/>
          <a:stretch>
            <a:fillRect/>
          </a:stretch>
        </p:blipFill>
        <p:spPr>
          <a:xfrm>
            <a:off x="5738814" y="2564173"/>
            <a:ext cx="2243136" cy="1039384"/>
          </a:xfrm>
          <a:prstGeom prst="rect">
            <a:avLst/>
          </a:prstGeom>
        </p:spPr>
      </p:pic>
      <p:pic>
        <p:nvPicPr>
          <p:cNvPr id="16" name="Picture 15">
            <a:extLst>
              <a:ext uri="{FF2B5EF4-FFF2-40B4-BE49-F238E27FC236}">
                <a16:creationId xmlns:a16="http://schemas.microsoft.com/office/drawing/2014/main" id="{19622FBE-4ADC-1A40-67E2-BAB67B89BA67}"/>
              </a:ext>
            </a:extLst>
          </p:cNvPr>
          <p:cNvPicPr>
            <a:picLocks noChangeAspect="1"/>
          </p:cNvPicPr>
          <p:nvPr/>
        </p:nvPicPr>
        <p:blipFill>
          <a:blip r:embed="rId5"/>
          <a:stretch>
            <a:fillRect/>
          </a:stretch>
        </p:blipFill>
        <p:spPr>
          <a:xfrm>
            <a:off x="6972300" y="1615988"/>
            <a:ext cx="2019300" cy="876735"/>
          </a:xfrm>
          <a:prstGeom prst="rect">
            <a:avLst/>
          </a:prstGeom>
        </p:spPr>
      </p:pic>
      <p:pic>
        <p:nvPicPr>
          <p:cNvPr id="18" name="Picture 17">
            <a:extLst>
              <a:ext uri="{FF2B5EF4-FFF2-40B4-BE49-F238E27FC236}">
                <a16:creationId xmlns:a16="http://schemas.microsoft.com/office/drawing/2014/main" id="{97E046AD-D254-ED61-24D7-F1BF4B669AA0}"/>
              </a:ext>
            </a:extLst>
          </p:cNvPr>
          <p:cNvPicPr>
            <a:picLocks noChangeAspect="1"/>
          </p:cNvPicPr>
          <p:nvPr/>
        </p:nvPicPr>
        <p:blipFill>
          <a:blip r:embed="rId6"/>
          <a:stretch>
            <a:fillRect/>
          </a:stretch>
        </p:blipFill>
        <p:spPr>
          <a:xfrm>
            <a:off x="4695803" y="1129111"/>
            <a:ext cx="4295798" cy="390127"/>
          </a:xfrm>
          <a:prstGeom prst="rect">
            <a:avLst/>
          </a:prstGeom>
        </p:spPr>
      </p:pic>
      <p:pic>
        <p:nvPicPr>
          <p:cNvPr id="20" name="Picture 19">
            <a:extLst>
              <a:ext uri="{FF2B5EF4-FFF2-40B4-BE49-F238E27FC236}">
                <a16:creationId xmlns:a16="http://schemas.microsoft.com/office/drawing/2014/main" id="{01890666-30D4-27B9-D078-4011073CF2CC}"/>
              </a:ext>
            </a:extLst>
          </p:cNvPr>
          <p:cNvPicPr>
            <a:picLocks noChangeAspect="1"/>
          </p:cNvPicPr>
          <p:nvPr/>
        </p:nvPicPr>
        <p:blipFill>
          <a:blip r:embed="rId7"/>
          <a:stretch>
            <a:fillRect/>
          </a:stretch>
        </p:blipFill>
        <p:spPr>
          <a:xfrm>
            <a:off x="5464531" y="3822668"/>
            <a:ext cx="3015537" cy="728472"/>
          </a:xfrm>
          <a:prstGeom prst="rect">
            <a:avLst/>
          </a:prstGeom>
        </p:spPr>
      </p:pic>
      <p:sp>
        <p:nvSpPr>
          <p:cNvPr id="21" name="TextBox 20">
            <a:extLst>
              <a:ext uri="{FF2B5EF4-FFF2-40B4-BE49-F238E27FC236}">
                <a16:creationId xmlns:a16="http://schemas.microsoft.com/office/drawing/2014/main" id="{3CFF9964-24AA-856E-1904-AD90AC182F59}"/>
              </a:ext>
            </a:extLst>
          </p:cNvPr>
          <p:cNvSpPr txBox="1"/>
          <p:nvPr/>
        </p:nvSpPr>
        <p:spPr>
          <a:xfrm>
            <a:off x="4614862" y="959721"/>
            <a:ext cx="2162175" cy="215444"/>
          </a:xfrm>
          <a:prstGeom prst="rect">
            <a:avLst/>
          </a:prstGeom>
          <a:noFill/>
        </p:spPr>
        <p:txBody>
          <a:bodyPr wrap="square" rtlCol="0">
            <a:spAutoFit/>
          </a:bodyPr>
          <a:lstStyle/>
          <a:p>
            <a:r>
              <a:rPr lang="en-SG" sz="800" b="1" u="sng" dirty="0">
                <a:latin typeface="Book Antiqua" panose="02040602050305030304" pitchFamily="18" charset="0"/>
              </a:rPr>
              <a:t>postings_4</a:t>
            </a:r>
          </a:p>
        </p:txBody>
      </p:sp>
      <p:sp>
        <p:nvSpPr>
          <p:cNvPr id="24" name="TextBox 23">
            <a:extLst>
              <a:ext uri="{FF2B5EF4-FFF2-40B4-BE49-F238E27FC236}">
                <a16:creationId xmlns:a16="http://schemas.microsoft.com/office/drawing/2014/main" id="{6FDF91BD-8989-CAFA-66DC-D989F5414D09}"/>
              </a:ext>
            </a:extLst>
          </p:cNvPr>
          <p:cNvSpPr txBox="1"/>
          <p:nvPr/>
        </p:nvSpPr>
        <p:spPr>
          <a:xfrm>
            <a:off x="4614862" y="1482966"/>
            <a:ext cx="2162175" cy="215444"/>
          </a:xfrm>
          <a:prstGeom prst="rect">
            <a:avLst/>
          </a:prstGeom>
          <a:noFill/>
        </p:spPr>
        <p:txBody>
          <a:bodyPr wrap="square" rtlCol="0">
            <a:spAutoFit/>
          </a:bodyPr>
          <a:lstStyle/>
          <a:p>
            <a:r>
              <a:rPr lang="en-SG" sz="800" b="1" u="sng" dirty="0">
                <a:latin typeface="Book Antiqua" panose="02040602050305030304" pitchFamily="18" charset="0"/>
              </a:rPr>
              <a:t>postings_1</a:t>
            </a:r>
          </a:p>
        </p:txBody>
      </p:sp>
      <p:sp>
        <p:nvSpPr>
          <p:cNvPr id="25" name="TextBox 24">
            <a:extLst>
              <a:ext uri="{FF2B5EF4-FFF2-40B4-BE49-F238E27FC236}">
                <a16:creationId xmlns:a16="http://schemas.microsoft.com/office/drawing/2014/main" id="{90C72BF1-A04A-D1CD-53BB-561832F37273}"/>
              </a:ext>
            </a:extLst>
          </p:cNvPr>
          <p:cNvSpPr txBox="1"/>
          <p:nvPr/>
        </p:nvSpPr>
        <p:spPr>
          <a:xfrm>
            <a:off x="5380394" y="3642109"/>
            <a:ext cx="2162175" cy="215444"/>
          </a:xfrm>
          <a:prstGeom prst="rect">
            <a:avLst/>
          </a:prstGeom>
          <a:noFill/>
        </p:spPr>
        <p:txBody>
          <a:bodyPr wrap="square" rtlCol="0">
            <a:spAutoFit/>
          </a:bodyPr>
          <a:lstStyle/>
          <a:p>
            <a:r>
              <a:rPr lang="en-SG" sz="800" b="1" u="sng" dirty="0">
                <a:latin typeface="Book Antiqua" panose="02040602050305030304" pitchFamily="18" charset="0"/>
              </a:rPr>
              <a:t>postings_5</a:t>
            </a:r>
          </a:p>
        </p:txBody>
      </p:sp>
      <p:sp>
        <p:nvSpPr>
          <p:cNvPr id="26" name="TextBox 25">
            <a:extLst>
              <a:ext uri="{FF2B5EF4-FFF2-40B4-BE49-F238E27FC236}">
                <a16:creationId xmlns:a16="http://schemas.microsoft.com/office/drawing/2014/main" id="{BC262000-04F0-F7CE-EC09-8DA72C10C975}"/>
              </a:ext>
            </a:extLst>
          </p:cNvPr>
          <p:cNvSpPr txBox="1"/>
          <p:nvPr/>
        </p:nvSpPr>
        <p:spPr>
          <a:xfrm>
            <a:off x="6900862" y="1466310"/>
            <a:ext cx="2162175" cy="215444"/>
          </a:xfrm>
          <a:prstGeom prst="rect">
            <a:avLst/>
          </a:prstGeom>
          <a:noFill/>
        </p:spPr>
        <p:txBody>
          <a:bodyPr wrap="square" rtlCol="0">
            <a:spAutoFit/>
          </a:bodyPr>
          <a:lstStyle/>
          <a:p>
            <a:r>
              <a:rPr lang="en-SG" sz="800" b="1" u="sng" dirty="0">
                <a:latin typeface="Book Antiqua" panose="02040602050305030304" pitchFamily="18" charset="0"/>
              </a:rPr>
              <a:t>postings_3</a:t>
            </a:r>
          </a:p>
        </p:txBody>
      </p:sp>
      <p:sp>
        <p:nvSpPr>
          <p:cNvPr id="27" name="TextBox 26">
            <a:extLst>
              <a:ext uri="{FF2B5EF4-FFF2-40B4-BE49-F238E27FC236}">
                <a16:creationId xmlns:a16="http://schemas.microsoft.com/office/drawing/2014/main" id="{FF2C70F4-F157-1454-6BB2-5D829B18430A}"/>
              </a:ext>
            </a:extLst>
          </p:cNvPr>
          <p:cNvSpPr txBox="1"/>
          <p:nvPr/>
        </p:nvSpPr>
        <p:spPr>
          <a:xfrm>
            <a:off x="5648965" y="2508249"/>
            <a:ext cx="2162175" cy="215444"/>
          </a:xfrm>
          <a:prstGeom prst="rect">
            <a:avLst/>
          </a:prstGeom>
          <a:noFill/>
        </p:spPr>
        <p:txBody>
          <a:bodyPr wrap="square" rtlCol="0">
            <a:spAutoFit/>
          </a:bodyPr>
          <a:lstStyle/>
          <a:p>
            <a:r>
              <a:rPr lang="en-SG" sz="800" b="1" u="sng" dirty="0">
                <a:latin typeface="Book Antiqua" panose="02040602050305030304" pitchFamily="18" charset="0"/>
              </a:rPr>
              <a:t>postings_2</a:t>
            </a:r>
          </a:p>
        </p:txBody>
      </p:sp>
    </p:spTree>
    <p:extLst>
      <p:ext uri="{BB962C8B-B14F-4D97-AF65-F5344CB8AC3E}">
        <p14:creationId xmlns:p14="http://schemas.microsoft.com/office/powerpoint/2010/main" val="14437313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5A532-C186-5AE6-EF26-5E362AED5552}"/>
              </a:ext>
            </a:extLst>
          </p:cNvPr>
          <p:cNvSpPr>
            <a:spLocks noGrp="1"/>
          </p:cNvSpPr>
          <p:nvPr>
            <p:ph type="ctrTitle"/>
          </p:nvPr>
        </p:nvSpPr>
        <p:spPr>
          <a:xfrm>
            <a:off x="746563" y="2677712"/>
            <a:ext cx="4825562" cy="1385100"/>
          </a:xfrm>
        </p:spPr>
        <p:txBody>
          <a:bodyPr/>
          <a:lstStyle/>
          <a:p>
            <a:r>
              <a:rPr lang="en-SG" sz="3200" b="1" dirty="0">
                <a:latin typeface="Book Antiqua" panose="02040602050305030304" pitchFamily="18" charset="0"/>
              </a:rPr>
              <a:t>Exploratory Data Analysis &amp; Data Wrangling With Pandas</a:t>
            </a:r>
          </a:p>
        </p:txBody>
      </p:sp>
      <p:sp>
        <p:nvSpPr>
          <p:cNvPr id="4" name="Subtitle 3">
            <a:extLst>
              <a:ext uri="{FF2B5EF4-FFF2-40B4-BE49-F238E27FC236}">
                <a16:creationId xmlns:a16="http://schemas.microsoft.com/office/drawing/2014/main" id="{CD40431F-B1B3-625B-9F59-48D63E4AE1D7}"/>
              </a:ext>
            </a:extLst>
          </p:cNvPr>
          <p:cNvSpPr>
            <a:spLocks noGrp="1"/>
          </p:cNvSpPr>
          <p:nvPr>
            <p:ph type="subTitle" idx="1"/>
          </p:nvPr>
        </p:nvSpPr>
        <p:spPr>
          <a:xfrm>
            <a:off x="609487" y="4024713"/>
            <a:ext cx="3862500" cy="405000"/>
          </a:xfrm>
        </p:spPr>
        <p:txBody>
          <a:bodyPr/>
          <a:lstStyle/>
          <a:p>
            <a:r>
              <a:rPr lang="en-SG" i="1" dirty="0"/>
              <a:t>Let’s Dive In &amp; Analyse The Dataset!</a:t>
            </a:r>
          </a:p>
        </p:txBody>
      </p:sp>
      <p:pic>
        <p:nvPicPr>
          <p:cNvPr id="6" name="Picture 5" descr="A blue and black logo&#10;&#10;Description automatically generated">
            <a:extLst>
              <a:ext uri="{FF2B5EF4-FFF2-40B4-BE49-F238E27FC236}">
                <a16:creationId xmlns:a16="http://schemas.microsoft.com/office/drawing/2014/main" id="{DF3D77E3-B970-3646-A448-E47E1F0A911F}"/>
              </a:ext>
            </a:extLst>
          </p:cNvPr>
          <p:cNvPicPr>
            <a:picLocks noChangeAspect="1"/>
          </p:cNvPicPr>
          <p:nvPr/>
        </p:nvPicPr>
        <p:blipFill>
          <a:blip r:embed="rId2"/>
          <a:stretch>
            <a:fillRect/>
          </a:stretch>
        </p:blipFill>
        <p:spPr>
          <a:xfrm>
            <a:off x="4000501" y="657226"/>
            <a:ext cx="4349857" cy="1762124"/>
          </a:xfrm>
          <a:prstGeom prst="rect">
            <a:avLst/>
          </a:prstGeom>
        </p:spPr>
      </p:pic>
    </p:spTree>
    <p:extLst>
      <p:ext uri="{BB962C8B-B14F-4D97-AF65-F5344CB8AC3E}">
        <p14:creationId xmlns:p14="http://schemas.microsoft.com/office/powerpoint/2010/main" val="6868387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2A089C4E-8B8E-B61E-3445-4E4063236747}"/>
              </a:ext>
            </a:extLst>
          </p:cNvPr>
          <p:cNvSpPr/>
          <p:nvPr/>
        </p:nvSpPr>
        <p:spPr>
          <a:xfrm>
            <a:off x="3679480" y="2504557"/>
            <a:ext cx="5180874" cy="75659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SG"/>
          </a:p>
        </p:txBody>
      </p:sp>
      <p:sp>
        <p:nvSpPr>
          <p:cNvPr id="25" name="Rectangle: Rounded Corners 24">
            <a:extLst>
              <a:ext uri="{FF2B5EF4-FFF2-40B4-BE49-F238E27FC236}">
                <a16:creationId xmlns:a16="http://schemas.microsoft.com/office/drawing/2014/main" id="{8936D4E9-48A6-C64E-E071-219EDC948DF3}"/>
              </a:ext>
            </a:extLst>
          </p:cNvPr>
          <p:cNvSpPr/>
          <p:nvPr/>
        </p:nvSpPr>
        <p:spPr>
          <a:xfrm>
            <a:off x="128767" y="443828"/>
            <a:ext cx="8742497" cy="189071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2" name="Title 1">
            <a:extLst>
              <a:ext uri="{FF2B5EF4-FFF2-40B4-BE49-F238E27FC236}">
                <a16:creationId xmlns:a16="http://schemas.microsoft.com/office/drawing/2014/main" id="{A19A0FC3-3A74-ECAC-64A4-3D0DAB9173C2}"/>
              </a:ext>
            </a:extLst>
          </p:cNvPr>
          <p:cNvSpPr>
            <a:spLocks noGrp="1"/>
          </p:cNvSpPr>
          <p:nvPr>
            <p:ph type="title"/>
          </p:nvPr>
        </p:nvSpPr>
        <p:spPr>
          <a:xfrm>
            <a:off x="713250" y="133500"/>
            <a:ext cx="7717500" cy="453900"/>
          </a:xfrm>
        </p:spPr>
        <p:txBody>
          <a:bodyPr/>
          <a:lstStyle/>
          <a:p>
            <a:r>
              <a:rPr lang="en-US" sz="2000" dirty="0">
                <a:latin typeface="Calibri" panose="020F0502020204030204" pitchFamily="34" charset="0"/>
                <a:ea typeface="Calibri" panose="020F0502020204030204" pitchFamily="34" charset="0"/>
                <a:cs typeface="Calibri" panose="020F0502020204030204" pitchFamily="34" charset="0"/>
              </a:rPr>
              <a:t>Individual Data Exploration : Structure &amp; Missing Values</a:t>
            </a:r>
            <a:br>
              <a:rPr lang="en-US" sz="2000" dirty="0">
                <a:latin typeface="Calibri" panose="020F0502020204030204" pitchFamily="34" charset="0"/>
                <a:ea typeface="Calibri" panose="020F0502020204030204" pitchFamily="34" charset="0"/>
                <a:cs typeface="Calibri" panose="020F0502020204030204" pitchFamily="34" charset="0"/>
              </a:rPr>
            </a:br>
            <a:endParaRPr lang="en-SG" dirty="0">
              <a:latin typeface="Calibri" panose="020F0502020204030204" pitchFamily="34" charset="0"/>
              <a:ea typeface="Calibri" panose="020F0502020204030204" pitchFamily="34" charset="0"/>
              <a:cs typeface="Calibri" panose="020F0502020204030204" pitchFamily="34" charset="0"/>
            </a:endParaRPr>
          </a:p>
        </p:txBody>
      </p:sp>
      <p:pic>
        <p:nvPicPr>
          <p:cNvPr id="14" name="Picture 13">
            <a:extLst>
              <a:ext uri="{FF2B5EF4-FFF2-40B4-BE49-F238E27FC236}">
                <a16:creationId xmlns:a16="http://schemas.microsoft.com/office/drawing/2014/main" id="{D0319264-996A-2179-D1E9-002068FC7F26}"/>
              </a:ext>
            </a:extLst>
          </p:cNvPr>
          <p:cNvPicPr>
            <a:picLocks noChangeAspect="1"/>
          </p:cNvPicPr>
          <p:nvPr/>
        </p:nvPicPr>
        <p:blipFill>
          <a:blip r:embed="rId3"/>
          <a:stretch>
            <a:fillRect/>
          </a:stretch>
        </p:blipFill>
        <p:spPr>
          <a:xfrm>
            <a:off x="2009585" y="612081"/>
            <a:ext cx="1384228" cy="1530271"/>
          </a:xfrm>
          <a:prstGeom prst="rect">
            <a:avLst/>
          </a:prstGeom>
        </p:spPr>
      </p:pic>
      <p:pic>
        <p:nvPicPr>
          <p:cNvPr id="16" name="Picture 15" descr="A screenshot of a computer screen&#10;&#10;Description automatically generated">
            <a:extLst>
              <a:ext uri="{FF2B5EF4-FFF2-40B4-BE49-F238E27FC236}">
                <a16:creationId xmlns:a16="http://schemas.microsoft.com/office/drawing/2014/main" id="{351FA7BD-CB24-AB48-BD7A-8CFFFB18CD38}"/>
              </a:ext>
            </a:extLst>
          </p:cNvPr>
          <p:cNvPicPr>
            <a:picLocks noChangeAspect="1"/>
          </p:cNvPicPr>
          <p:nvPr/>
        </p:nvPicPr>
        <p:blipFill>
          <a:blip r:embed="rId4"/>
          <a:stretch>
            <a:fillRect/>
          </a:stretch>
        </p:blipFill>
        <p:spPr>
          <a:xfrm>
            <a:off x="343093" y="606848"/>
            <a:ext cx="1319670" cy="1535504"/>
          </a:xfrm>
          <a:prstGeom prst="rect">
            <a:avLst/>
          </a:prstGeom>
        </p:spPr>
      </p:pic>
      <p:pic>
        <p:nvPicPr>
          <p:cNvPr id="18" name="Picture 17">
            <a:extLst>
              <a:ext uri="{FF2B5EF4-FFF2-40B4-BE49-F238E27FC236}">
                <a16:creationId xmlns:a16="http://schemas.microsoft.com/office/drawing/2014/main" id="{2ECFC6C0-3A95-AE76-5457-C1FA998EF13A}"/>
              </a:ext>
            </a:extLst>
          </p:cNvPr>
          <p:cNvPicPr>
            <a:picLocks noChangeAspect="1"/>
          </p:cNvPicPr>
          <p:nvPr/>
        </p:nvPicPr>
        <p:blipFill>
          <a:blip r:embed="rId5"/>
          <a:stretch>
            <a:fillRect/>
          </a:stretch>
        </p:blipFill>
        <p:spPr>
          <a:xfrm>
            <a:off x="3740635" y="612081"/>
            <a:ext cx="1384227" cy="1539621"/>
          </a:xfrm>
          <a:prstGeom prst="rect">
            <a:avLst/>
          </a:prstGeom>
        </p:spPr>
      </p:pic>
      <p:pic>
        <p:nvPicPr>
          <p:cNvPr id="20" name="Picture 19">
            <a:extLst>
              <a:ext uri="{FF2B5EF4-FFF2-40B4-BE49-F238E27FC236}">
                <a16:creationId xmlns:a16="http://schemas.microsoft.com/office/drawing/2014/main" id="{CFC18782-17F0-4723-CA87-5F3A188BE1D4}"/>
              </a:ext>
            </a:extLst>
          </p:cNvPr>
          <p:cNvPicPr>
            <a:picLocks noChangeAspect="1"/>
          </p:cNvPicPr>
          <p:nvPr/>
        </p:nvPicPr>
        <p:blipFill>
          <a:blip r:embed="rId6"/>
          <a:stretch>
            <a:fillRect/>
          </a:stretch>
        </p:blipFill>
        <p:spPr>
          <a:xfrm>
            <a:off x="5457392" y="617315"/>
            <a:ext cx="1275409" cy="1534387"/>
          </a:xfrm>
          <a:prstGeom prst="rect">
            <a:avLst/>
          </a:prstGeom>
        </p:spPr>
      </p:pic>
      <p:pic>
        <p:nvPicPr>
          <p:cNvPr id="22" name="Picture 21">
            <a:extLst>
              <a:ext uri="{FF2B5EF4-FFF2-40B4-BE49-F238E27FC236}">
                <a16:creationId xmlns:a16="http://schemas.microsoft.com/office/drawing/2014/main" id="{00C0126B-ABFF-B3CA-5C81-E7AE7FDF0403}"/>
              </a:ext>
            </a:extLst>
          </p:cNvPr>
          <p:cNvPicPr>
            <a:picLocks noChangeAspect="1"/>
          </p:cNvPicPr>
          <p:nvPr/>
        </p:nvPicPr>
        <p:blipFill>
          <a:blip r:embed="rId7"/>
          <a:stretch>
            <a:fillRect/>
          </a:stretch>
        </p:blipFill>
        <p:spPr>
          <a:xfrm>
            <a:off x="7115396" y="606848"/>
            <a:ext cx="1373273" cy="1534387"/>
          </a:xfrm>
          <a:prstGeom prst="rect">
            <a:avLst/>
          </a:prstGeom>
        </p:spPr>
      </p:pic>
      <p:sp>
        <p:nvSpPr>
          <p:cNvPr id="23" name="Rectangle 1">
            <a:extLst>
              <a:ext uri="{FF2B5EF4-FFF2-40B4-BE49-F238E27FC236}">
                <a16:creationId xmlns:a16="http://schemas.microsoft.com/office/drawing/2014/main" id="{89F8B3D8-141B-570F-0A0E-7DEDA6E4E9DA}"/>
              </a:ext>
            </a:extLst>
          </p:cNvPr>
          <p:cNvSpPr>
            <a:spLocks noChangeArrowheads="1"/>
          </p:cNvSpPr>
          <p:nvPr/>
        </p:nvSpPr>
        <p:spPr bwMode="auto">
          <a:xfrm>
            <a:off x="185033" y="2435424"/>
            <a:ext cx="3333400"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.info() method provided a quick and efficient way to understand the structure and quality of the datasets. It revealed essential details such as the number of columns, non-null counts, data types, and memory usage for each dataset. </a:t>
            </a:r>
          </a:p>
        </p:txBody>
      </p:sp>
      <p:pic>
        <p:nvPicPr>
          <p:cNvPr id="28" name="Picture 27">
            <a:extLst>
              <a:ext uri="{FF2B5EF4-FFF2-40B4-BE49-F238E27FC236}">
                <a16:creationId xmlns:a16="http://schemas.microsoft.com/office/drawing/2014/main" id="{7D9CCBCE-FC0C-F91F-56AB-331D434A0A26}"/>
              </a:ext>
            </a:extLst>
          </p:cNvPr>
          <p:cNvPicPr>
            <a:picLocks noChangeAspect="1"/>
          </p:cNvPicPr>
          <p:nvPr/>
        </p:nvPicPr>
        <p:blipFill>
          <a:blip r:embed="rId8"/>
          <a:stretch>
            <a:fillRect/>
          </a:stretch>
        </p:blipFill>
        <p:spPr>
          <a:xfrm>
            <a:off x="3796272" y="2556611"/>
            <a:ext cx="862055" cy="619977"/>
          </a:xfrm>
          <a:prstGeom prst="rect">
            <a:avLst/>
          </a:prstGeom>
        </p:spPr>
      </p:pic>
      <p:pic>
        <p:nvPicPr>
          <p:cNvPr id="30" name="Picture 29">
            <a:extLst>
              <a:ext uri="{FF2B5EF4-FFF2-40B4-BE49-F238E27FC236}">
                <a16:creationId xmlns:a16="http://schemas.microsoft.com/office/drawing/2014/main" id="{C8E15C52-5CD1-C6E8-82DA-194C59C084EE}"/>
              </a:ext>
            </a:extLst>
          </p:cNvPr>
          <p:cNvPicPr>
            <a:picLocks noChangeAspect="1"/>
          </p:cNvPicPr>
          <p:nvPr/>
        </p:nvPicPr>
        <p:blipFill>
          <a:blip r:embed="rId9"/>
          <a:stretch>
            <a:fillRect/>
          </a:stretch>
        </p:blipFill>
        <p:spPr>
          <a:xfrm>
            <a:off x="4729182" y="2576643"/>
            <a:ext cx="1042445" cy="599946"/>
          </a:xfrm>
          <a:prstGeom prst="rect">
            <a:avLst/>
          </a:prstGeom>
        </p:spPr>
      </p:pic>
      <p:pic>
        <p:nvPicPr>
          <p:cNvPr id="32" name="Picture 31">
            <a:extLst>
              <a:ext uri="{FF2B5EF4-FFF2-40B4-BE49-F238E27FC236}">
                <a16:creationId xmlns:a16="http://schemas.microsoft.com/office/drawing/2014/main" id="{2C65E43E-0759-37C9-BFC6-CFD8794AB6FC}"/>
              </a:ext>
            </a:extLst>
          </p:cNvPr>
          <p:cNvPicPr>
            <a:picLocks noChangeAspect="1"/>
          </p:cNvPicPr>
          <p:nvPr/>
        </p:nvPicPr>
        <p:blipFill>
          <a:blip r:embed="rId10"/>
          <a:stretch>
            <a:fillRect/>
          </a:stretch>
        </p:blipFill>
        <p:spPr>
          <a:xfrm>
            <a:off x="5832770" y="2576642"/>
            <a:ext cx="976320" cy="599945"/>
          </a:xfrm>
          <a:prstGeom prst="rect">
            <a:avLst/>
          </a:prstGeom>
        </p:spPr>
      </p:pic>
      <p:pic>
        <p:nvPicPr>
          <p:cNvPr id="34" name="Picture 33">
            <a:extLst>
              <a:ext uri="{FF2B5EF4-FFF2-40B4-BE49-F238E27FC236}">
                <a16:creationId xmlns:a16="http://schemas.microsoft.com/office/drawing/2014/main" id="{0E601834-03A3-A7F7-A432-88E96672648E}"/>
              </a:ext>
            </a:extLst>
          </p:cNvPr>
          <p:cNvPicPr>
            <a:picLocks noChangeAspect="1"/>
          </p:cNvPicPr>
          <p:nvPr/>
        </p:nvPicPr>
        <p:blipFill>
          <a:blip r:embed="rId11"/>
          <a:stretch>
            <a:fillRect/>
          </a:stretch>
        </p:blipFill>
        <p:spPr>
          <a:xfrm>
            <a:off x="6867757" y="2586912"/>
            <a:ext cx="862054" cy="589675"/>
          </a:xfrm>
          <a:prstGeom prst="rect">
            <a:avLst/>
          </a:prstGeom>
        </p:spPr>
      </p:pic>
      <p:pic>
        <p:nvPicPr>
          <p:cNvPr id="36" name="Picture 35">
            <a:extLst>
              <a:ext uri="{FF2B5EF4-FFF2-40B4-BE49-F238E27FC236}">
                <a16:creationId xmlns:a16="http://schemas.microsoft.com/office/drawing/2014/main" id="{CB1A8815-AE53-C9A7-503B-0A49C652E3DD}"/>
              </a:ext>
            </a:extLst>
          </p:cNvPr>
          <p:cNvPicPr>
            <a:picLocks noChangeAspect="1"/>
          </p:cNvPicPr>
          <p:nvPr/>
        </p:nvPicPr>
        <p:blipFill>
          <a:blip r:embed="rId12"/>
          <a:stretch>
            <a:fillRect/>
          </a:stretch>
        </p:blipFill>
        <p:spPr>
          <a:xfrm>
            <a:off x="7790080" y="2586912"/>
            <a:ext cx="965687" cy="589675"/>
          </a:xfrm>
          <a:prstGeom prst="rect">
            <a:avLst/>
          </a:prstGeom>
        </p:spPr>
      </p:pic>
      <p:sp>
        <p:nvSpPr>
          <p:cNvPr id="38" name="TextBox 37">
            <a:extLst>
              <a:ext uri="{FF2B5EF4-FFF2-40B4-BE49-F238E27FC236}">
                <a16:creationId xmlns:a16="http://schemas.microsoft.com/office/drawing/2014/main" id="{A9E0BC4F-CDDF-D64D-8402-292CE27252B5}"/>
              </a:ext>
            </a:extLst>
          </p:cNvPr>
          <p:cNvSpPr txBox="1"/>
          <p:nvPr/>
        </p:nvSpPr>
        <p:spPr>
          <a:xfrm>
            <a:off x="238122" y="414660"/>
            <a:ext cx="2409098" cy="215444"/>
          </a:xfrm>
          <a:prstGeom prst="rect">
            <a:avLst/>
          </a:prstGeom>
          <a:noFill/>
        </p:spPr>
        <p:txBody>
          <a:bodyPr wrap="square" rtlCol="0">
            <a:spAutoFit/>
          </a:bodyPr>
          <a:lstStyle/>
          <a:p>
            <a:r>
              <a:rPr lang="en-SG" sz="800" b="1" u="sng" dirty="0">
                <a:latin typeface="Book Antiqua" panose="02040602050305030304" pitchFamily="18" charset="0"/>
              </a:rPr>
              <a:t>.info() on each dataset</a:t>
            </a:r>
          </a:p>
        </p:txBody>
      </p:sp>
      <p:sp>
        <p:nvSpPr>
          <p:cNvPr id="41" name="TextBox 40">
            <a:extLst>
              <a:ext uri="{FF2B5EF4-FFF2-40B4-BE49-F238E27FC236}">
                <a16:creationId xmlns:a16="http://schemas.microsoft.com/office/drawing/2014/main" id="{A4BDEF4B-A792-C254-59A4-4E6F1714FBE7}"/>
              </a:ext>
            </a:extLst>
          </p:cNvPr>
          <p:cNvSpPr txBox="1"/>
          <p:nvPr/>
        </p:nvSpPr>
        <p:spPr>
          <a:xfrm>
            <a:off x="3589288" y="2321719"/>
            <a:ext cx="2409098" cy="215444"/>
          </a:xfrm>
          <a:prstGeom prst="rect">
            <a:avLst/>
          </a:prstGeom>
          <a:noFill/>
        </p:spPr>
        <p:txBody>
          <a:bodyPr wrap="square" rtlCol="0">
            <a:spAutoFit/>
          </a:bodyPr>
          <a:lstStyle/>
          <a:p>
            <a:r>
              <a:rPr lang="en-SG" sz="800" b="1" u="sng" dirty="0">
                <a:latin typeface="Book Antiqua" panose="02040602050305030304" pitchFamily="18" charset="0"/>
              </a:rPr>
              <a:t>Check for missing values !</a:t>
            </a:r>
          </a:p>
        </p:txBody>
      </p:sp>
      <p:graphicFrame>
        <p:nvGraphicFramePr>
          <p:cNvPr id="42" name="Table 41">
            <a:extLst>
              <a:ext uri="{FF2B5EF4-FFF2-40B4-BE49-F238E27FC236}">
                <a16:creationId xmlns:a16="http://schemas.microsoft.com/office/drawing/2014/main" id="{5E5D7E20-E79B-3AB3-C466-0E2E953ADE87}"/>
              </a:ext>
            </a:extLst>
          </p:cNvPr>
          <p:cNvGraphicFramePr>
            <a:graphicFrameLocks noGrp="1"/>
          </p:cNvGraphicFramePr>
          <p:nvPr>
            <p:extLst>
              <p:ext uri="{D42A27DB-BD31-4B8C-83A1-F6EECF244321}">
                <p14:modId xmlns:p14="http://schemas.microsoft.com/office/powerpoint/2010/main" val="3425127533"/>
              </p:ext>
            </p:extLst>
          </p:nvPr>
        </p:nvGraphicFramePr>
        <p:xfrm>
          <a:off x="238122" y="3333240"/>
          <a:ext cx="8725803" cy="1673134"/>
        </p:xfrm>
        <a:graphic>
          <a:graphicData uri="http://schemas.openxmlformats.org/drawingml/2006/table">
            <a:tbl>
              <a:tblPr firstRow="1" bandRow="1">
                <a:tableStyleId>{69CF1AB2-1976-4502-BF36-3FF5EA218861}</a:tableStyleId>
              </a:tblPr>
              <a:tblGrid>
                <a:gridCol w="1247880">
                  <a:extLst>
                    <a:ext uri="{9D8B030D-6E8A-4147-A177-3AD203B41FA5}">
                      <a16:colId xmlns:a16="http://schemas.microsoft.com/office/drawing/2014/main" val="921752396"/>
                    </a:ext>
                  </a:extLst>
                </a:gridCol>
                <a:gridCol w="1461967">
                  <a:extLst>
                    <a:ext uri="{9D8B030D-6E8A-4147-A177-3AD203B41FA5}">
                      <a16:colId xmlns:a16="http://schemas.microsoft.com/office/drawing/2014/main" val="3387156169"/>
                    </a:ext>
                  </a:extLst>
                </a:gridCol>
                <a:gridCol w="1235018">
                  <a:extLst>
                    <a:ext uri="{9D8B030D-6E8A-4147-A177-3AD203B41FA5}">
                      <a16:colId xmlns:a16="http://schemas.microsoft.com/office/drawing/2014/main" val="2017147622"/>
                    </a:ext>
                  </a:extLst>
                </a:gridCol>
                <a:gridCol w="1298892">
                  <a:extLst>
                    <a:ext uri="{9D8B030D-6E8A-4147-A177-3AD203B41FA5}">
                      <a16:colId xmlns:a16="http://schemas.microsoft.com/office/drawing/2014/main" val="3466711568"/>
                    </a:ext>
                  </a:extLst>
                </a:gridCol>
                <a:gridCol w="3482046">
                  <a:extLst>
                    <a:ext uri="{9D8B030D-6E8A-4147-A177-3AD203B41FA5}">
                      <a16:colId xmlns:a16="http://schemas.microsoft.com/office/drawing/2014/main" val="1487863509"/>
                    </a:ext>
                  </a:extLst>
                </a:gridCol>
              </a:tblGrid>
              <a:tr h="0">
                <a:tc>
                  <a:txBody>
                    <a:bodyPr/>
                    <a:lstStyle/>
                    <a:p>
                      <a:pPr algn="ctr"/>
                      <a:r>
                        <a:rPr lang="en-SG" sz="1200" dirty="0">
                          <a:latin typeface="Book Antiqua" panose="02040602050305030304" pitchFamily="18" charset="0"/>
                        </a:rPr>
                        <a:t>Dataset</a:t>
                      </a:r>
                      <a:endParaRPr lang="en-SG" sz="1200" dirty="0">
                        <a:latin typeface="Book Antiqua" panose="02040602050305030304" pitchFamily="18" charset="0"/>
                        <a:ea typeface="Calibri" panose="020F0502020204030204" pitchFamily="34" charset="0"/>
                        <a:cs typeface="Calibri" panose="020F0502020204030204" pitchFamily="34" charset="0"/>
                      </a:endParaRPr>
                    </a:p>
                  </a:txBody>
                  <a:tcPr/>
                </a:tc>
                <a:tc>
                  <a:txBody>
                    <a:bodyPr/>
                    <a:lstStyle/>
                    <a:p>
                      <a:pPr algn="ctr"/>
                      <a:r>
                        <a:rPr lang="en-SG" sz="1200" dirty="0">
                          <a:latin typeface="Book Antiqua" panose="02040602050305030304" pitchFamily="18" charset="0"/>
                        </a:rPr>
                        <a:t>Columns</a:t>
                      </a:r>
                      <a:endParaRPr lang="en-SG" sz="1200" dirty="0">
                        <a:latin typeface="Book Antiqua" panose="02040602050305030304" pitchFamily="18" charset="0"/>
                        <a:ea typeface="Calibri" panose="020F0502020204030204" pitchFamily="34" charset="0"/>
                        <a:cs typeface="Calibri" panose="020F0502020204030204" pitchFamily="34" charset="0"/>
                      </a:endParaRPr>
                    </a:p>
                  </a:txBody>
                  <a:tcPr/>
                </a:tc>
                <a:tc>
                  <a:txBody>
                    <a:bodyPr/>
                    <a:lstStyle/>
                    <a:p>
                      <a:pPr algn="ctr"/>
                      <a:r>
                        <a:rPr lang="en-SG" sz="1200" dirty="0">
                          <a:latin typeface="Book Antiqua" panose="02040602050305030304" pitchFamily="18" charset="0"/>
                        </a:rPr>
                        <a:t>Missing Data</a:t>
                      </a:r>
                      <a:endParaRPr lang="en-SG" sz="1200" dirty="0">
                        <a:latin typeface="Book Antiqua" panose="02040602050305030304" pitchFamily="18" charset="0"/>
                        <a:ea typeface="Calibri" panose="020F0502020204030204" pitchFamily="34" charset="0"/>
                        <a:cs typeface="Calibri" panose="020F0502020204030204" pitchFamily="34" charset="0"/>
                      </a:endParaRPr>
                    </a:p>
                  </a:txBody>
                  <a:tcPr/>
                </a:tc>
                <a:tc>
                  <a:txBody>
                    <a:bodyPr/>
                    <a:lstStyle/>
                    <a:p>
                      <a:pPr algn="ctr"/>
                      <a:r>
                        <a:rPr lang="en-SG" sz="1200" dirty="0">
                          <a:latin typeface="Book Antiqua" panose="02040602050305030304" pitchFamily="18" charset="0"/>
                        </a:rPr>
                        <a:t>Memory Usage</a:t>
                      </a:r>
                      <a:endParaRPr lang="en-SG" sz="1200" dirty="0">
                        <a:latin typeface="Book Antiqua" panose="02040602050305030304" pitchFamily="18" charset="0"/>
                        <a:ea typeface="Calibri" panose="020F0502020204030204" pitchFamily="34" charset="0"/>
                        <a:cs typeface="Calibri" panose="020F0502020204030204" pitchFamily="34" charset="0"/>
                      </a:endParaRPr>
                    </a:p>
                  </a:txBody>
                  <a:tcPr/>
                </a:tc>
                <a:tc>
                  <a:txBody>
                    <a:bodyPr/>
                    <a:lstStyle/>
                    <a:p>
                      <a:pPr algn="ctr"/>
                      <a:r>
                        <a:rPr lang="en-SG" sz="1200" dirty="0">
                          <a:latin typeface="Book Antiqua" panose="02040602050305030304" pitchFamily="18" charset="0"/>
                        </a:rPr>
                        <a:t>Key Actions</a:t>
                      </a:r>
                      <a:endParaRPr lang="en-SG" sz="1200" dirty="0">
                        <a:latin typeface="Book Antiqua" panose="02040602050305030304" pitchFamily="18"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74638929"/>
                  </a:ext>
                </a:extLst>
              </a:tr>
              <a:tr h="235577">
                <a:tc>
                  <a:txBody>
                    <a:bodyPr/>
                    <a:lstStyle/>
                    <a:p>
                      <a:pPr algn="ctr"/>
                      <a:r>
                        <a:rPr lang="en-SG" sz="1200" dirty="0">
                          <a:latin typeface="Calibri" panose="020F0502020204030204" pitchFamily="34" charset="0"/>
                          <a:ea typeface="Calibri" panose="020F0502020204030204" pitchFamily="34" charset="0"/>
                          <a:cs typeface="Calibri" panose="020F0502020204030204" pitchFamily="34" charset="0"/>
                        </a:rPr>
                        <a:t>Postings_1</a:t>
                      </a:r>
                    </a:p>
                  </a:txBody>
                  <a:tcPr/>
                </a:tc>
                <a:tc>
                  <a:txBody>
                    <a:bodyPr/>
                    <a:lstStyle/>
                    <a:p>
                      <a:pPr algn="ctr"/>
                      <a:r>
                        <a:rPr lang="en-SG" sz="800" dirty="0">
                          <a:latin typeface="Calibri" panose="020F0502020204030204" pitchFamily="34" charset="0"/>
                          <a:ea typeface="Calibri" panose="020F0502020204030204" pitchFamily="34" charset="0"/>
                          <a:cs typeface="Calibri" panose="020F0502020204030204" pitchFamily="34" charset="0"/>
                        </a:rPr>
                        <a:t>company_name, title</a:t>
                      </a:r>
                    </a:p>
                  </a:txBody>
                  <a:tcPr/>
                </a:tc>
                <a:tc>
                  <a:txBody>
                    <a:bodyPr/>
                    <a:lstStyle/>
                    <a:p>
                      <a:pPr algn="ctr"/>
                      <a:r>
                        <a:rPr lang="en-SG" sz="800" dirty="0">
                          <a:latin typeface="Calibri" panose="020F0502020204030204" pitchFamily="34" charset="0"/>
                          <a:ea typeface="Calibri" panose="020F0502020204030204" pitchFamily="34" charset="0"/>
                          <a:cs typeface="Calibri" panose="020F0502020204030204" pitchFamily="34" charset="0"/>
                        </a:rPr>
                        <a:t>Minimal (&lt;1%)</a:t>
                      </a:r>
                    </a:p>
                  </a:txBody>
                  <a:tcPr/>
                </a:tc>
                <a:tc>
                  <a:txBody>
                    <a:bodyPr/>
                    <a:lstStyle/>
                    <a:p>
                      <a:pPr algn="ctr"/>
                      <a:r>
                        <a:rPr lang="en-SG" sz="1200" dirty="0">
                          <a:latin typeface="Calibri" panose="020F0502020204030204" pitchFamily="34" charset="0"/>
                          <a:ea typeface="Calibri" panose="020F0502020204030204" pitchFamily="34" charset="0"/>
                          <a:cs typeface="Calibri" panose="020F0502020204030204" pitchFamily="34" charset="0"/>
                        </a:rPr>
                        <a:t>2.8 MB</a:t>
                      </a:r>
                    </a:p>
                  </a:txBody>
                  <a:tcPr/>
                </a:tc>
                <a:tc>
                  <a:txBody>
                    <a:bodyPr/>
                    <a:lstStyle/>
                    <a:p>
                      <a:pPr algn="ctr"/>
                      <a:r>
                        <a:rPr lang="en-SG" sz="900" dirty="0">
                          <a:latin typeface="Calibri" panose="020F0502020204030204" pitchFamily="34" charset="0"/>
                          <a:ea typeface="Calibri" panose="020F0502020204030204" pitchFamily="34" charset="0"/>
                          <a:cs typeface="Calibri" panose="020F0502020204030204" pitchFamily="34" charset="0"/>
                        </a:rPr>
                        <a:t>Ready for direct analysis.</a:t>
                      </a:r>
                    </a:p>
                  </a:txBody>
                  <a:tcPr/>
                </a:tc>
                <a:extLst>
                  <a:ext uri="{0D108BD9-81ED-4DB2-BD59-A6C34878D82A}">
                    <a16:rowId xmlns:a16="http://schemas.microsoft.com/office/drawing/2014/main" val="2973358128"/>
                  </a:ext>
                </a:extLst>
              </a:tr>
              <a:tr h="235577">
                <a:tc>
                  <a:txBody>
                    <a:bodyPr/>
                    <a:lstStyle/>
                    <a:p>
                      <a:pPr algn="ctr"/>
                      <a:r>
                        <a:rPr lang="en-SG" sz="1200" dirty="0">
                          <a:latin typeface="Calibri" panose="020F0502020204030204" pitchFamily="34" charset="0"/>
                          <a:ea typeface="Calibri" panose="020F0502020204030204" pitchFamily="34" charset="0"/>
                          <a:cs typeface="Calibri" panose="020F0502020204030204" pitchFamily="34" charset="0"/>
                        </a:rPr>
                        <a:t>Postings_2</a:t>
                      </a:r>
                    </a:p>
                  </a:txBody>
                  <a:tcPr/>
                </a:tc>
                <a:tc>
                  <a:txBody>
                    <a:bodyPr/>
                    <a:lstStyle/>
                    <a:p>
                      <a:pPr algn="ctr"/>
                      <a:r>
                        <a:rPr lang="en-SG" sz="800" dirty="0">
                          <a:latin typeface="Calibri" panose="020F0502020204030204" pitchFamily="34" charset="0"/>
                          <a:ea typeface="Calibri" panose="020F0502020204030204" pitchFamily="34" charset="0"/>
                          <a:cs typeface="Calibri" panose="020F0502020204030204" pitchFamily="34" charset="0"/>
                        </a:rPr>
                        <a:t>Description, max_salary</a:t>
                      </a:r>
                    </a:p>
                  </a:txBody>
                  <a:tcPr/>
                </a:tc>
                <a:tc>
                  <a:txBody>
                    <a:bodyPr/>
                    <a:lstStyle/>
                    <a:p>
                      <a:pPr algn="ctr"/>
                      <a:r>
                        <a:rPr lang="en-SG" sz="800" dirty="0">
                          <a:latin typeface="Calibri" panose="020F0502020204030204" pitchFamily="34" charset="0"/>
                          <a:ea typeface="Calibri" panose="020F0502020204030204" pitchFamily="34" charset="0"/>
                          <a:cs typeface="Calibri" panose="020F0502020204030204" pitchFamily="34" charset="0"/>
                        </a:rPr>
                        <a:t>max_salary: ~76%</a:t>
                      </a:r>
                    </a:p>
                  </a:txBody>
                  <a:tcPr/>
                </a:tc>
                <a:tc>
                  <a:txBody>
                    <a:bodyPr/>
                    <a:lstStyle/>
                    <a:p>
                      <a:pPr algn="ctr"/>
                      <a:r>
                        <a:rPr lang="en-SG" sz="1200" dirty="0">
                          <a:latin typeface="Calibri" panose="020F0502020204030204" pitchFamily="34" charset="0"/>
                          <a:ea typeface="Calibri" panose="020F0502020204030204" pitchFamily="34" charset="0"/>
                          <a:cs typeface="Calibri" panose="020F0502020204030204" pitchFamily="34" charset="0"/>
                        </a:rPr>
                        <a:t>2.8 MB</a:t>
                      </a:r>
                    </a:p>
                  </a:txBody>
                  <a:tcPr/>
                </a:tc>
                <a:tc>
                  <a:txBody>
                    <a:bodyPr/>
                    <a:lstStyle/>
                    <a:p>
                      <a:pPr algn="ctr"/>
                      <a:r>
                        <a:rPr lang="en-US" sz="900" dirty="0">
                          <a:latin typeface="Calibri" panose="020F0502020204030204" pitchFamily="34" charset="0"/>
                          <a:ea typeface="Calibri" panose="020F0502020204030204" pitchFamily="34" charset="0"/>
                          <a:cs typeface="Calibri" panose="020F0502020204030204" pitchFamily="34" charset="0"/>
                        </a:rPr>
                        <a:t>Impute or filter missing salaries.</a:t>
                      </a:r>
                      <a:endParaRPr lang="en-SG" sz="9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766516583"/>
                  </a:ext>
                </a:extLst>
              </a:tr>
              <a:tr h="235577">
                <a:tc>
                  <a:txBody>
                    <a:bodyPr/>
                    <a:lstStyle/>
                    <a:p>
                      <a:pPr algn="ctr"/>
                      <a:r>
                        <a:rPr lang="en-SG" sz="1200" dirty="0">
                          <a:latin typeface="Calibri" panose="020F0502020204030204" pitchFamily="34" charset="0"/>
                          <a:ea typeface="Calibri" panose="020F0502020204030204" pitchFamily="34" charset="0"/>
                          <a:cs typeface="Calibri" panose="020F0502020204030204" pitchFamily="34" charset="0"/>
                        </a:rPr>
                        <a:t>Postings_3</a:t>
                      </a:r>
                    </a:p>
                  </a:txBody>
                  <a:tcPr/>
                </a:tc>
                <a:tc>
                  <a:txBody>
                    <a:bodyPr/>
                    <a:lstStyle/>
                    <a:p>
                      <a:pPr algn="ctr"/>
                      <a:r>
                        <a:rPr lang="en-SG" sz="800" dirty="0">
                          <a:latin typeface="Calibri" panose="020F0502020204030204" pitchFamily="34" charset="0"/>
                          <a:ea typeface="Calibri" panose="020F0502020204030204" pitchFamily="34" charset="0"/>
                          <a:cs typeface="Calibri" panose="020F0502020204030204" pitchFamily="34" charset="0"/>
                        </a:rPr>
                        <a:t>location, views, salaries</a:t>
                      </a:r>
                    </a:p>
                  </a:txBody>
                  <a:tcPr/>
                </a:tc>
                <a:tc>
                  <a:txBody>
                    <a:bodyPr/>
                    <a:lstStyle/>
                    <a:p>
                      <a:pPr algn="ctr"/>
                      <a:r>
                        <a:rPr lang="en-SG" sz="800" dirty="0">
                          <a:latin typeface="Calibri" panose="020F0502020204030204" pitchFamily="34" charset="0"/>
                          <a:ea typeface="Calibri" panose="020F0502020204030204" pitchFamily="34" charset="0"/>
                          <a:cs typeface="Calibri" panose="020F0502020204030204" pitchFamily="34" charset="0"/>
                        </a:rPr>
                        <a:t>Salary cols: ~76%</a:t>
                      </a:r>
                    </a:p>
                  </a:txBody>
                  <a:tcPr/>
                </a:tc>
                <a:tc>
                  <a:txBody>
                    <a:bodyPr/>
                    <a:lstStyle/>
                    <a:p>
                      <a:pPr algn="ctr"/>
                      <a:r>
                        <a:rPr lang="en-SG" sz="1200" dirty="0">
                          <a:latin typeface="Calibri" panose="020F0502020204030204" pitchFamily="34" charset="0"/>
                          <a:ea typeface="Calibri" panose="020F0502020204030204" pitchFamily="34" charset="0"/>
                          <a:cs typeface="Calibri" panose="020F0502020204030204" pitchFamily="34" charset="0"/>
                        </a:rPr>
                        <a:t>4.6 MB</a:t>
                      </a:r>
                    </a:p>
                  </a:txBody>
                  <a:tcPr/>
                </a:tc>
                <a:tc>
                  <a:txBody>
                    <a:bodyPr/>
                    <a:lstStyle/>
                    <a:p>
                      <a:pPr algn="ctr"/>
                      <a:r>
                        <a:rPr lang="en-US" sz="900" dirty="0">
                          <a:latin typeface="Calibri" panose="020F0502020204030204" pitchFamily="34" charset="0"/>
                          <a:ea typeface="Calibri" panose="020F0502020204030204" pitchFamily="34" charset="0"/>
                          <a:cs typeface="Calibri" panose="020F0502020204030204" pitchFamily="34" charset="0"/>
                        </a:rPr>
                        <a:t>Clean salary data, verify location.</a:t>
                      </a:r>
                      <a:endParaRPr lang="en-SG" sz="9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815403725"/>
                  </a:ext>
                </a:extLst>
              </a:tr>
              <a:tr h="287927">
                <a:tc>
                  <a:txBody>
                    <a:bodyPr/>
                    <a:lstStyle/>
                    <a:p>
                      <a:pPr algn="ctr"/>
                      <a:r>
                        <a:rPr lang="en-SG" sz="1200" dirty="0">
                          <a:latin typeface="Calibri" panose="020F0502020204030204" pitchFamily="34" charset="0"/>
                          <a:ea typeface="Calibri" panose="020F0502020204030204" pitchFamily="34" charset="0"/>
                          <a:cs typeface="Calibri" panose="020F0502020204030204" pitchFamily="34" charset="0"/>
                        </a:rPr>
                        <a:t>Postings_4</a:t>
                      </a:r>
                    </a:p>
                  </a:txBody>
                  <a:tcPr/>
                </a:tc>
                <a:tc>
                  <a:txBody>
                    <a:bodyPr/>
                    <a:lstStyle/>
                    <a:p>
                      <a:pPr algn="ctr"/>
                      <a:r>
                        <a:rPr lang="en-US" sz="800" dirty="0">
                          <a:latin typeface="Calibri" panose="020F0502020204030204" pitchFamily="34" charset="0"/>
                          <a:ea typeface="Calibri" panose="020F0502020204030204" pitchFamily="34" charset="0"/>
                          <a:cs typeface="Calibri" panose="020F0502020204030204" pitchFamily="34" charset="0"/>
                        </a:rPr>
                        <a:t>17 columns (e.g., job_level)</a:t>
                      </a:r>
                      <a:endParaRPr lang="en-SG" sz="8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SG" sz="800" dirty="0">
                          <a:latin typeface="Calibri" panose="020F0502020204030204" pitchFamily="34" charset="0"/>
                          <a:ea typeface="Calibri" panose="020F0502020204030204" pitchFamily="34" charset="0"/>
                          <a:cs typeface="Calibri" panose="020F0502020204030204" pitchFamily="34" charset="0"/>
                        </a:rPr>
                        <a:t>Varies (low-high)</a:t>
                      </a:r>
                    </a:p>
                  </a:txBody>
                  <a:tcPr/>
                </a:tc>
                <a:tc>
                  <a:txBody>
                    <a:bodyPr/>
                    <a:lstStyle/>
                    <a:p>
                      <a:pPr algn="ctr"/>
                      <a:r>
                        <a:rPr lang="en-SG" sz="1200" dirty="0">
                          <a:latin typeface="Calibri" panose="020F0502020204030204" pitchFamily="34" charset="0"/>
                          <a:ea typeface="Calibri" panose="020F0502020204030204" pitchFamily="34" charset="0"/>
                          <a:cs typeface="Calibri" panose="020F0502020204030204" pitchFamily="34" charset="0"/>
                        </a:rPr>
                        <a:t>17.6 MB</a:t>
                      </a:r>
                    </a:p>
                  </a:txBody>
                  <a:tcPr/>
                </a:tc>
                <a:tc>
                  <a:txBody>
                    <a:bodyPr/>
                    <a:lstStyle/>
                    <a:p>
                      <a:pPr algn="ctr"/>
                      <a:r>
                        <a:rPr lang="en-US" sz="900" dirty="0">
                          <a:latin typeface="Calibri" panose="020F0502020204030204" pitchFamily="34" charset="0"/>
                          <a:ea typeface="Calibri" panose="020F0502020204030204" pitchFamily="34" charset="0"/>
                          <a:cs typeface="Calibri" panose="020F0502020204030204" pitchFamily="34" charset="0"/>
                        </a:rPr>
                        <a:t>Focus on key features; address redundancy.</a:t>
                      </a:r>
                      <a:endParaRPr lang="en-SG" sz="9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023657672"/>
                  </a:ext>
                </a:extLst>
              </a:tr>
              <a:tr h="287927">
                <a:tc>
                  <a:txBody>
                    <a:bodyPr/>
                    <a:lstStyle/>
                    <a:p>
                      <a:pPr algn="ctr"/>
                      <a:r>
                        <a:rPr lang="en-SG" sz="1200" dirty="0">
                          <a:latin typeface="Calibri" panose="020F0502020204030204" pitchFamily="34" charset="0"/>
                          <a:ea typeface="Calibri" panose="020F0502020204030204" pitchFamily="34" charset="0"/>
                          <a:cs typeface="Calibri" panose="020F0502020204030204" pitchFamily="34" charset="0"/>
                        </a:rPr>
                        <a:t>Postings_5</a:t>
                      </a:r>
                    </a:p>
                  </a:txBody>
                  <a:tcPr/>
                </a:tc>
                <a:tc>
                  <a:txBody>
                    <a:bodyPr/>
                    <a:lstStyle/>
                    <a:p>
                      <a:pPr algn="ctr"/>
                      <a:r>
                        <a:rPr lang="en-SG" sz="800" dirty="0">
                          <a:latin typeface="Calibri" panose="020F0502020204030204" pitchFamily="34" charset="0"/>
                          <a:ea typeface="Calibri" panose="020F0502020204030204" pitchFamily="34" charset="0"/>
                          <a:cs typeface="Calibri" panose="020F0502020204030204" pitchFamily="34" charset="0"/>
                        </a:rPr>
                        <a:t>Easter Egg, Unimportant Col</a:t>
                      </a:r>
                    </a:p>
                  </a:txBody>
                  <a:tcPr/>
                </a:tc>
                <a:tc>
                  <a:txBody>
                    <a:bodyPr/>
                    <a:lstStyle/>
                    <a:p>
                      <a:pPr algn="ctr"/>
                      <a:r>
                        <a:rPr lang="en-SG" sz="800" dirty="0">
                          <a:latin typeface="Calibri" panose="020F0502020204030204" pitchFamily="34" charset="0"/>
                          <a:ea typeface="Calibri" panose="020F0502020204030204" pitchFamily="34" charset="0"/>
                          <a:cs typeface="Calibri" panose="020F0502020204030204" pitchFamily="34" charset="0"/>
                        </a:rPr>
                        <a:t>Easter Egg: ~92%</a:t>
                      </a:r>
                    </a:p>
                  </a:txBody>
                  <a:tcPr/>
                </a:tc>
                <a:tc>
                  <a:txBody>
                    <a:bodyPr/>
                    <a:lstStyle/>
                    <a:p>
                      <a:pPr algn="ctr"/>
                      <a:r>
                        <a:rPr lang="en-SG" sz="1200" dirty="0">
                          <a:latin typeface="Calibri" panose="020F0502020204030204" pitchFamily="34" charset="0"/>
                          <a:ea typeface="Calibri" panose="020F0502020204030204" pitchFamily="34" charset="0"/>
                          <a:cs typeface="Calibri" panose="020F0502020204030204" pitchFamily="34" charset="0"/>
                        </a:rPr>
                        <a:t>4.7 MB</a:t>
                      </a:r>
                    </a:p>
                  </a:txBody>
                  <a:tcPr/>
                </a:tc>
                <a:tc>
                  <a:txBody>
                    <a:bodyPr/>
                    <a:lstStyle/>
                    <a:p>
                      <a:pPr algn="ctr"/>
                      <a:r>
                        <a:rPr lang="en-US" sz="9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Revised version of Postings_1 with extra columns; can be removed</a:t>
                      </a:r>
                      <a:endParaRPr lang="en-SG" sz="9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982119240"/>
                  </a:ext>
                </a:extLst>
              </a:tr>
            </a:tbl>
          </a:graphicData>
        </a:graphic>
      </p:graphicFrame>
    </p:spTree>
    <p:extLst>
      <p:ext uri="{BB962C8B-B14F-4D97-AF65-F5344CB8AC3E}">
        <p14:creationId xmlns:p14="http://schemas.microsoft.com/office/powerpoint/2010/main" val="25642086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FE40C-A6C7-9F53-D6A4-869E6A37FBAE}"/>
              </a:ext>
            </a:extLst>
          </p:cNvPr>
          <p:cNvSpPr>
            <a:spLocks noGrp="1"/>
          </p:cNvSpPr>
          <p:nvPr>
            <p:ph type="title"/>
          </p:nvPr>
        </p:nvSpPr>
        <p:spPr>
          <a:xfrm>
            <a:off x="713250" y="348935"/>
            <a:ext cx="7717500" cy="453900"/>
          </a:xfrm>
        </p:spPr>
        <p:txBody>
          <a:bodyPr/>
          <a:lstStyle/>
          <a:p>
            <a:r>
              <a:rPr lang="en-US" sz="2400" dirty="0">
                <a:latin typeface="Calibri" panose="020F0502020204030204" pitchFamily="34" charset="0"/>
                <a:ea typeface="Calibri" panose="020F0502020204030204" pitchFamily="34" charset="0"/>
                <a:cs typeface="Calibri" panose="020F0502020204030204" pitchFamily="34" charset="0"/>
              </a:rPr>
              <a:t>Comprehensive Data Analysis &amp; Sorting Datasets</a:t>
            </a:r>
            <a:endParaRPr lang="en-SG" sz="2400" dirty="0">
              <a:latin typeface="Calibri" panose="020F0502020204030204" pitchFamily="34" charset="0"/>
              <a:ea typeface="Calibri" panose="020F0502020204030204" pitchFamily="34" charset="0"/>
              <a:cs typeface="Calibri" panose="020F0502020204030204" pitchFamily="34" charset="0"/>
            </a:endParaRPr>
          </a:p>
        </p:txBody>
      </p:sp>
      <p:pic>
        <p:nvPicPr>
          <p:cNvPr id="14" name="Picture 13">
            <a:extLst>
              <a:ext uri="{FF2B5EF4-FFF2-40B4-BE49-F238E27FC236}">
                <a16:creationId xmlns:a16="http://schemas.microsoft.com/office/drawing/2014/main" id="{59F7E936-A976-72E4-6BA3-E4F69E6B8F81}"/>
              </a:ext>
            </a:extLst>
          </p:cNvPr>
          <p:cNvPicPr>
            <a:picLocks noChangeAspect="1"/>
          </p:cNvPicPr>
          <p:nvPr/>
        </p:nvPicPr>
        <p:blipFill>
          <a:blip r:embed="rId2"/>
          <a:stretch>
            <a:fillRect/>
          </a:stretch>
        </p:blipFill>
        <p:spPr>
          <a:xfrm>
            <a:off x="328011" y="881120"/>
            <a:ext cx="2400813" cy="1906513"/>
          </a:xfrm>
          <a:prstGeom prst="rect">
            <a:avLst/>
          </a:prstGeom>
        </p:spPr>
      </p:pic>
      <p:pic>
        <p:nvPicPr>
          <p:cNvPr id="16" name="Picture 15">
            <a:extLst>
              <a:ext uri="{FF2B5EF4-FFF2-40B4-BE49-F238E27FC236}">
                <a16:creationId xmlns:a16="http://schemas.microsoft.com/office/drawing/2014/main" id="{BDEA5043-DC20-FF00-9D8E-D0922124D219}"/>
              </a:ext>
            </a:extLst>
          </p:cNvPr>
          <p:cNvPicPr>
            <a:picLocks noChangeAspect="1"/>
          </p:cNvPicPr>
          <p:nvPr/>
        </p:nvPicPr>
        <p:blipFill>
          <a:blip r:embed="rId3"/>
          <a:stretch>
            <a:fillRect/>
          </a:stretch>
        </p:blipFill>
        <p:spPr>
          <a:xfrm>
            <a:off x="2944393" y="881119"/>
            <a:ext cx="2400813" cy="1906513"/>
          </a:xfrm>
          <a:prstGeom prst="rect">
            <a:avLst/>
          </a:prstGeom>
        </p:spPr>
      </p:pic>
      <p:sp>
        <p:nvSpPr>
          <p:cNvPr id="17" name="TextBox 16">
            <a:extLst>
              <a:ext uri="{FF2B5EF4-FFF2-40B4-BE49-F238E27FC236}">
                <a16:creationId xmlns:a16="http://schemas.microsoft.com/office/drawing/2014/main" id="{81C5722B-7ED9-EB02-9543-87CCE4FBDAE2}"/>
              </a:ext>
            </a:extLst>
          </p:cNvPr>
          <p:cNvSpPr txBox="1"/>
          <p:nvPr/>
        </p:nvSpPr>
        <p:spPr>
          <a:xfrm>
            <a:off x="5506587" y="917890"/>
            <a:ext cx="3199831" cy="1869743"/>
          </a:xfrm>
          <a:prstGeom prst="rect">
            <a:avLst/>
          </a:prstGeom>
          <a:noFill/>
        </p:spPr>
        <p:txBody>
          <a:bodyPr wrap="square" rtlCol="0">
            <a:spAutoFit/>
          </a:bodyPr>
          <a:lstStyle/>
          <a:p>
            <a:pPr algn="just"/>
            <a:r>
              <a:rPr lang="en-US" sz="1050" dirty="0">
                <a:latin typeface="Calibri" panose="020F0502020204030204" pitchFamily="34" charset="0"/>
                <a:ea typeface="Calibri" panose="020F0502020204030204" pitchFamily="34" charset="0"/>
                <a:cs typeface="Calibri" panose="020F0502020204030204" pitchFamily="34" charset="0"/>
              </a:rPr>
              <a:t>I created a Python function, </a:t>
            </a:r>
            <a:r>
              <a:rPr lang="en-US" sz="1050" b="1" u="sng" dirty="0">
                <a:latin typeface="Calibri" panose="020F0502020204030204" pitchFamily="34" charset="0"/>
                <a:ea typeface="Calibri" panose="020F0502020204030204" pitchFamily="34" charset="0"/>
                <a:cs typeface="Calibri" panose="020F0502020204030204" pitchFamily="34" charset="0"/>
              </a:rPr>
              <a:t>dataset_summary()</a:t>
            </a:r>
            <a:r>
              <a:rPr lang="en-US" sz="1050" dirty="0">
                <a:latin typeface="Calibri" panose="020F0502020204030204" pitchFamily="34" charset="0"/>
                <a:ea typeface="Calibri" panose="020F0502020204030204" pitchFamily="34" charset="0"/>
                <a:cs typeface="Calibri" panose="020F0502020204030204" pitchFamily="34" charset="0"/>
              </a:rPr>
              <a:t>, to quickly and effectively analyse datasets. It provides essential information, including the </a:t>
            </a:r>
            <a:r>
              <a:rPr lang="en-US" sz="1050" u="sng" dirty="0">
                <a:latin typeface="Calibri" panose="020F0502020204030204" pitchFamily="34" charset="0"/>
                <a:ea typeface="Calibri" panose="020F0502020204030204" pitchFamily="34" charset="0"/>
                <a:cs typeface="Calibri" panose="020F0502020204030204" pitchFamily="34" charset="0"/>
              </a:rPr>
              <a:t>dataset's shape</a:t>
            </a:r>
            <a:r>
              <a:rPr lang="en-US" sz="1050" dirty="0">
                <a:latin typeface="Calibri" panose="020F0502020204030204" pitchFamily="34" charset="0"/>
                <a:ea typeface="Calibri" panose="020F0502020204030204" pitchFamily="34" charset="0"/>
                <a:cs typeface="Calibri" panose="020F0502020204030204" pitchFamily="34" charset="0"/>
              </a:rPr>
              <a:t>, column details like </a:t>
            </a:r>
            <a:r>
              <a:rPr lang="en-US" sz="1050" u="sng" dirty="0">
                <a:latin typeface="Calibri" panose="020F0502020204030204" pitchFamily="34" charset="0"/>
                <a:ea typeface="Calibri" panose="020F0502020204030204" pitchFamily="34" charset="0"/>
                <a:cs typeface="Calibri" panose="020F0502020204030204" pitchFamily="34" charset="0"/>
              </a:rPr>
              <a:t>data types, unique values, and missing percentages, along with basic statistics for numerical columns</a:t>
            </a:r>
            <a:r>
              <a:rPr lang="en-US" sz="1050" dirty="0">
                <a:latin typeface="Calibri" panose="020F0502020204030204" pitchFamily="34" charset="0"/>
                <a:ea typeface="Calibri" panose="020F0502020204030204" pitchFamily="34" charset="0"/>
                <a:cs typeface="Calibri" panose="020F0502020204030204" pitchFamily="34" charset="0"/>
              </a:rPr>
              <a:t>. The function also identifies and sorts columns by </a:t>
            </a:r>
            <a:r>
              <a:rPr lang="en-US" sz="1050" u="sng" dirty="0">
                <a:latin typeface="Calibri" panose="020F0502020204030204" pitchFamily="34" charset="0"/>
                <a:ea typeface="Calibri" panose="020F0502020204030204" pitchFamily="34" charset="0"/>
                <a:cs typeface="Calibri" panose="020F0502020204030204" pitchFamily="34" charset="0"/>
              </a:rPr>
              <a:t>missing data</a:t>
            </a:r>
            <a:r>
              <a:rPr lang="en-US" sz="1050" dirty="0">
                <a:latin typeface="Calibri" panose="020F0502020204030204" pitchFamily="34" charset="0"/>
                <a:ea typeface="Calibri" panose="020F0502020204030204" pitchFamily="34" charset="0"/>
                <a:cs typeface="Calibri" panose="020F0502020204030204" pitchFamily="34" charset="0"/>
              </a:rPr>
              <a:t> and includes a preview of the dataset for better understanding. This tool helps streamline the exploratory data analysis process, ensuring I can make </a:t>
            </a:r>
            <a:r>
              <a:rPr lang="en-US" sz="1050" b="1" dirty="0">
                <a:latin typeface="Calibri" panose="020F0502020204030204" pitchFamily="34" charset="0"/>
                <a:ea typeface="Calibri" panose="020F0502020204030204" pitchFamily="34" charset="0"/>
                <a:cs typeface="Calibri" panose="020F0502020204030204" pitchFamily="34" charset="0"/>
              </a:rPr>
              <a:t>informed decisions for data cleaning and transformations</a:t>
            </a:r>
            <a:r>
              <a:rPr lang="en-US" sz="1050" dirty="0">
                <a:latin typeface="Calibri" panose="020F0502020204030204" pitchFamily="34" charset="0"/>
                <a:ea typeface="Calibri" panose="020F0502020204030204" pitchFamily="34" charset="0"/>
                <a:cs typeface="Calibri" panose="020F0502020204030204" pitchFamily="34" charset="0"/>
              </a:rPr>
              <a:t>.</a:t>
            </a:r>
            <a:endParaRPr lang="en-SG" sz="1050" dirty="0">
              <a:latin typeface="Calibri" panose="020F0502020204030204" pitchFamily="34" charset="0"/>
              <a:ea typeface="Calibri" panose="020F0502020204030204" pitchFamily="34" charset="0"/>
              <a:cs typeface="Calibri" panose="020F0502020204030204" pitchFamily="34" charset="0"/>
            </a:endParaRPr>
          </a:p>
        </p:txBody>
      </p:sp>
      <p:pic>
        <p:nvPicPr>
          <p:cNvPr id="20" name="Picture 19">
            <a:extLst>
              <a:ext uri="{FF2B5EF4-FFF2-40B4-BE49-F238E27FC236}">
                <a16:creationId xmlns:a16="http://schemas.microsoft.com/office/drawing/2014/main" id="{6C97142A-6CD9-B5E5-A410-438B69A2E5B8}"/>
              </a:ext>
            </a:extLst>
          </p:cNvPr>
          <p:cNvPicPr>
            <a:picLocks noChangeAspect="1"/>
          </p:cNvPicPr>
          <p:nvPr/>
        </p:nvPicPr>
        <p:blipFill>
          <a:blip r:embed="rId4"/>
          <a:stretch>
            <a:fillRect/>
          </a:stretch>
        </p:blipFill>
        <p:spPr>
          <a:xfrm>
            <a:off x="328012" y="2927390"/>
            <a:ext cx="1629382" cy="1565706"/>
          </a:xfrm>
          <a:prstGeom prst="rect">
            <a:avLst/>
          </a:prstGeom>
        </p:spPr>
      </p:pic>
      <p:pic>
        <p:nvPicPr>
          <p:cNvPr id="22" name="Picture 21">
            <a:extLst>
              <a:ext uri="{FF2B5EF4-FFF2-40B4-BE49-F238E27FC236}">
                <a16:creationId xmlns:a16="http://schemas.microsoft.com/office/drawing/2014/main" id="{725B90C1-96DE-9EE8-26C6-4C312B5F212A}"/>
              </a:ext>
            </a:extLst>
          </p:cNvPr>
          <p:cNvPicPr>
            <a:picLocks noChangeAspect="1"/>
          </p:cNvPicPr>
          <p:nvPr/>
        </p:nvPicPr>
        <p:blipFill>
          <a:blip r:embed="rId5"/>
          <a:stretch>
            <a:fillRect/>
          </a:stretch>
        </p:blipFill>
        <p:spPr>
          <a:xfrm>
            <a:off x="1993507" y="2927389"/>
            <a:ext cx="1721250" cy="1565705"/>
          </a:xfrm>
          <a:prstGeom prst="rect">
            <a:avLst/>
          </a:prstGeom>
        </p:spPr>
      </p:pic>
      <p:pic>
        <p:nvPicPr>
          <p:cNvPr id="24" name="Picture 23">
            <a:extLst>
              <a:ext uri="{FF2B5EF4-FFF2-40B4-BE49-F238E27FC236}">
                <a16:creationId xmlns:a16="http://schemas.microsoft.com/office/drawing/2014/main" id="{2733190B-9962-E9B0-3B1E-297776619F45}"/>
              </a:ext>
            </a:extLst>
          </p:cNvPr>
          <p:cNvPicPr>
            <a:picLocks noChangeAspect="1"/>
          </p:cNvPicPr>
          <p:nvPr/>
        </p:nvPicPr>
        <p:blipFill>
          <a:blip r:embed="rId6"/>
          <a:stretch>
            <a:fillRect/>
          </a:stretch>
        </p:blipFill>
        <p:spPr>
          <a:xfrm>
            <a:off x="3750870" y="2927389"/>
            <a:ext cx="1599523" cy="1565706"/>
          </a:xfrm>
          <a:prstGeom prst="rect">
            <a:avLst/>
          </a:prstGeom>
        </p:spPr>
      </p:pic>
      <p:sp>
        <p:nvSpPr>
          <p:cNvPr id="26" name="TextBox 25">
            <a:extLst>
              <a:ext uri="{FF2B5EF4-FFF2-40B4-BE49-F238E27FC236}">
                <a16:creationId xmlns:a16="http://schemas.microsoft.com/office/drawing/2014/main" id="{BE925648-D7EB-C3A2-6017-1CA643D52D41}"/>
              </a:ext>
            </a:extLst>
          </p:cNvPr>
          <p:cNvSpPr txBox="1"/>
          <p:nvPr/>
        </p:nvSpPr>
        <p:spPr>
          <a:xfrm>
            <a:off x="5506587" y="3017743"/>
            <a:ext cx="3199831" cy="1384995"/>
          </a:xfrm>
          <a:prstGeom prst="rect">
            <a:avLst/>
          </a:prstGeom>
          <a:noFill/>
        </p:spPr>
        <p:txBody>
          <a:bodyPr wrap="square">
            <a:spAutoFit/>
          </a:bodyPr>
          <a:lstStyle/>
          <a:p>
            <a:pPr algn="just"/>
            <a:r>
              <a:rPr lang="en-US" sz="1050" dirty="0">
                <a:latin typeface="Calibri" panose="020F0502020204030204" pitchFamily="34" charset="0"/>
                <a:ea typeface="Calibri" panose="020F0502020204030204" pitchFamily="34" charset="0"/>
                <a:cs typeface="Calibri" panose="020F0502020204030204" pitchFamily="34" charset="0"/>
              </a:rPr>
              <a:t>Sorting the data helped prioritize key information for analysis and visualisation. By organizing top salaries, regional trends, and job distributions in descending order, it became easier to highlight patterns, such as the highest-paying roles, geographic hiring hotspots, and workforce demand by experience level. This improved clarity and made visualizations more impactful and actionable.</a:t>
            </a:r>
            <a:endParaRPr lang="en-SG" sz="1050" dirty="0">
              <a:latin typeface="Calibri" panose="020F0502020204030204" pitchFamily="34" charset="0"/>
              <a:ea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A573CC29-C8EF-4BD0-369B-8B8908600C84}"/>
              </a:ext>
            </a:extLst>
          </p:cNvPr>
          <p:cNvSpPr txBox="1"/>
          <p:nvPr/>
        </p:nvSpPr>
        <p:spPr>
          <a:xfrm>
            <a:off x="291899" y="4493094"/>
            <a:ext cx="1629382" cy="338554"/>
          </a:xfrm>
          <a:prstGeom prst="rect">
            <a:avLst/>
          </a:prstGeom>
          <a:noFill/>
        </p:spPr>
        <p:txBody>
          <a:bodyPr wrap="square" rtlCol="0">
            <a:spAutoFit/>
          </a:bodyPr>
          <a:lstStyle/>
          <a:p>
            <a:pPr algn="ctr"/>
            <a:r>
              <a:rPr lang="en-SG" sz="800" b="1" u="sng" dirty="0">
                <a:latin typeface="Book Antiqua" panose="02040602050305030304" pitchFamily="18" charset="0"/>
              </a:rPr>
              <a:t>Sorting Top 10 max_salary in Postings_2</a:t>
            </a:r>
          </a:p>
        </p:txBody>
      </p:sp>
      <p:sp>
        <p:nvSpPr>
          <p:cNvPr id="28" name="TextBox 27">
            <a:extLst>
              <a:ext uri="{FF2B5EF4-FFF2-40B4-BE49-F238E27FC236}">
                <a16:creationId xmlns:a16="http://schemas.microsoft.com/office/drawing/2014/main" id="{E3C6B30A-5D51-7E75-4DC7-1044848C126E}"/>
              </a:ext>
            </a:extLst>
          </p:cNvPr>
          <p:cNvSpPr txBox="1"/>
          <p:nvPr/>
        </p:nvSpPr>
        <p:spPr>
          <a:xfrm>
            <a:off x="2039441" y="4473927"/>
            <a:ext cx="1629382" cy="338554"/>
          </a:xfrm>
          <a:prstGeom prst="rect">
            <a:avLst/>
          </a:prstGeom>
          <a:noFill/>
        </p:spPr>
        <p:txBody>
          <a:bodyPr wrap="square" rtlCol="0">
            <a:spAutoFit/>
          </a:bodyPr>
          <a:lstStyle/>
          <a:p>
            <a:pPr algn="ctr"/>
            <a:r>
              <a:rPr lang="en-SG" sz="800" b="1" u="sng" dirty="0">
                <a:latin typeface="Book Antiqua" panose="02040602050305030304" pitchFamily="18" charset="0"/>
              </a:rPr>
              <a:t>Grouping By Location in Postings_3</a:t>
            </a:r>
          </a:p>
        </p:txBody>
      </p:sp>
      <p:sp>
        <p:nvSpPr>
          <p:cNvPr id="29" name="TextBox 28">
            <a:extLst>
              <a:ext uri="{FF2B5EF4-FFF2-40B4-BE49-F238E27FC236}">
                <a16:creationId xmlns:a16="http://schemas.microsoft.com/office/drawing/2014/main" id="{52622403-1D0F-96F6-766F-84258841041B}"/>
              </a:ext>
            </a:extLst>
          </p:cNvPr>
          <p:cNvSpPr txBox="1"/>
          <p:nvPr/>
        </p:nvSpPr>
        <p:spPr>
          <a:xfrm>
            <a:off x="3735940" y="4500935"/>
            <a:ext cx="1629382" cy="338554"/>
          </a:xfrm>
          <a:prstGeom prst="rect">
            <a:avLst/>
          </a:prstGeom>
          <a:noFill/>
        </p:spPr>
        <p:txBody>
          <a:bodyPr wrap="square" rtlCol="0">
            <a:spAutoFit/>
          </a:bodyPr>
          <a:lstStyle/>
          <a:p>
            <a:pPr algn="ctr"/>
            <a:r>
              <a:rPr lang="en-SG" sz="800" b="1" u="sng" dirty="0">
                <a:latin typeface="Book Antiqua" panose="02040602050305030304" pitchFamily="18" charset="0"/>
              </a:rPr>
              <a:t>Grouping By Experience Level in Postings_4</a:t>
            </a:r>
          </a:p>
        </p:txBody>
      </p:sp>
    </p:spTree>
    <p:extLst>
      <p:ext uri="{BB962C8B-B14F-4D97-AF65-F5344CB8AC3E}">
        <p14:creationId xmlns:p14="http://schemas.microsoft.com/office/powerpoint/2010/main" val="38161414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14CABA30-39C1-2E4D-3C28-ED74363F3664}"/>
              </a:ext>
            </a:extLst>
          </p:cNvPr>
          <p:cNvSpPr/>
          <p:nvPr/>
        </p:nvSpPr>
        <p:spPr>
          <a:xfrm>
            <a:off x="5648131" y="2516927"/>
            <a:ext cx="3433834" cy="948324"/>
          </a:xfrm>
          <a:prstGeom prst="rect">
            <a:avLst/>
          </a:prstGeom>
          <a:solidFill>
            <a:schemeClr val="tx2">
              <a:lumMod val="20000"/>
              <a:lumOff val="80000"/>
            </a:schemeClr>
          </a:solidFill>
        </p:spPr>
        <p:style>
          <a:lnRef idx="0">
            <a:schemeClr val="accent4"/>
          </a:lnRef>
          <a:fillRef idx="3">
            <a:schemeClr val="accent4"/>
          </a:fillRef>
          <a:effectRef idx="3">
            <a:schemeClr val="accent4"/>
          </a:effectRef>
          <a:fontRef idx="minor">
            <a:schemeClr val="lt1"/>
          </a:fontRef>
        </p:style>
        <p:txBody>
          <a:bodyPr rtlCol="0" anchor="ctr"/>
          <a:lstStyle/>
          <a:p>
            <a:pPr algn="ctr"/>
            <a:endParaRPr lang="en-SG"/>
          </a:p>
        </p:txBody>
      </p:sp>
      <p:sp>
        <p:nvSpPr>
          <p:cNvPr id="33" name="Rectangle 32">
            <a:extLst>
              <a:ext uri="{FF2B5EF4-FFF2-40B4-BE49-F238E27FC236}">
                <a16:creationId xmlns:a16="http://schemas.microsoft.com/office/drawing/2014/main" id="{28E0BA3C-8726-3F57-8152-118CC8436F37}"/>
              </a:ext>
            </a:extLst>
          </p:cNvPr>
          <p:cNvSpPr/>
          <p:nvPr/>
        </p:nvSpPr>
        <p:spPr>
          <a:xfrm>
            <a:off x="5656715" y="711201"/>
            <a:ext cx="3291760" cy="1756667"/>
          </a:xfrm>
          <a:prstGeom prst="rect">
            <a:avLst/>
          </a:prstGeom>
          <a:solidFill>
            <a:schemeClr val="bg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24" name="Rectangle 23">
            <a:extLst>
              <a:ext uri="{FF2B5EF4-FFF2-40B4-BE49-F238E27FC236}">
                <a16:creationId xmlns:a16="http://schemas.microsoft.com/office/drawing/2014/main" id="{16616952-E66A-CBE0-47C1-6008CE259EF0}"/>
              </a:ext>
            </a:extLst>
          </p:cNvPr>
          <p:cNvSpPr/>
          <p:nvPr/>
        </p:nvSpPr>
        <p:spPr>
          <a:xfrm>
            <a:off x="5334310" y="3626456"/>
            <a:ext cx="3720250" cy="1302738"/>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SG"/>
          </a:p>
        </p:txBody>
      </p:sp>
      <p:sp>
        <p:nvSpPr>
          <p:cNvPr id="13" name="Rectangle 12">
            <a:extLst>
              <a:ext uri="{FF2B5EF4-FFF2-40B4-BE49-F238E27FC236}">
                <a16:creationId xmlns:a16="http://schemas.microsoft.com/office/drawing/2014/main" id="{7CB308FB-53CF-B3FD-25BC-266E687AE29C}"/>
              </a:ext>
            </a:extLst>
          </p:cNvPr>
          <p:cNvSpPr/>
          <p:nvPr/>
        </p:nvSpPr>
        <p:spPr>
          <a:xfrm>
            <a:off x="304800" y="711200"/>
            <a:ext cx="5309703" cy="27343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SG"/>
          </a:p>
        </p:txBody>
      </p:sp>
      <p:sp>
        <p:nvSpPr>
          <p:cNvPr id="2" name="Title 1">
            <a:extLst>
              <a:ext uri="{FF2B5EF4-FFF2-40B4-BE49-F238E27FC236}">
                <a16:creationId xmlns:a16="http://schemas.microsoft.com/office/drawing/2014/main" id="{B5065A6A-7756-135D-0DE1-114EFEE6F721}"/>
              </a:ext>
            </a:extLst>
          </p:cNvPr>
          <p:cNvSpPr>
            <a:spLocks noGrp="1"/>
          </p:cNvSpPr>
          <p:nvPr>
            <p:ph type="title"/>
          </p:nvPr>
        </p:nvSpPr>
        <p:spPr>
          <a:xfrm>
            <a:off x="713250" y="288387"/>
            <a:ext cx="7717500" cy="453900"/>
          </a:xfrm>
        </p:spPr>
        <p:txBody>
          <a:bodyPr/>
          <a:lstStyle/>
          <a:p>
            <a:r>
              <a:rPr lang="en-SG" sz="2400" dirty="0">
                <a:latin typeface="Calibri" panose="020F0502020204030204" pitchFamily="34" charset="0"/>
                <a:ea typeface="Calibri" panose="020F0502020204030204" pitchFamily="34" charset="0"/>
                <a:cs typeface="Calibri" panose="020F0502020204030204" pitchFamily="34" charset="0"/>
              </a:rPr>
              <a:t>Data Wrangling: Merging &amp; Cleaning  </a:t>
            </a:r>
          </a:p>
        </p:txBody>
      </p:sp>
      <p:pic>
        <p:nvPicPr>
          <p:cNvPr id="4" name="Picture 3">
            <a:extLst>
              <a:ext uri="{FF2B5EF4-FFF2-40B4-BE49-F238E27FC236}">
                <a16:creationId xmlns:a16="http://schemas.microsoft.com/office/drawing/2014/main" id="{79F1E91E-A808-E597-90C0-882F19E2E6AF}"/>
              </a:ext>
            </a:extLst>
          </p:cNvPr>
          <p:cNvPicPr>
            <a:picLocks noChangeAspect="1"/>
          </p:cNvPicPr>
          <p:nvPr/>
        </p:nvPicPr>
        <p:blipFill>
          <a:blip r:embed="rId2"/>
          <a:stretch>
            <a:fillRect/>
          </a:stretch>
        </p:blipFill>
        <p:spPr>
          <a:xfrm>
            <a:off x="416668" y="799880"/>
            <a:ext cx="2026149" cy="842985"/>
          </a:xfrm>
          <a:prstGeom prst="rect">
            <a:avLst/>
          </a:prstGeom>
        </p:spPr>
      </p:pic>
      <p:sp>
        <p:nvSpPr>
          <p:cNvPr id="5" name="TextBox 4">
            <a:extLst>
              <a:ext uri="{FF2B5EF4-FFF2-40B4-BE49-F238E27FC236}">
                <a16:creationId xmlns:a16="http://schemas.microsoft.com/office/drawing/2014/main" id="{68B40DD3-24CF-4335-617F-CD580BDDAF00}"/>
              </a:ext>
            </a:extLst>
          </p:cNvPr>
          <p:cNvSpPr txBox="1"/>
          <p:nvPr/>
        </p:nvSpPr>
        <p:spPr>
          <a:xfrm>
            <a:off x="2442817" y="742619"/>
            <a:ext cx="3171686" cy="900246"/>
          </a:xfrm>
          <a:prstGeom prst="rect">
            <a:avLst/>
          </a:prstGeom>
          <a:noFill/>
        </p:spPr>
        <p:txBody>
          <a:bodyPr wrap="square" rtlCol="0">
            <a:spAutoFit/>
          </a:bodyPr>
          <a:lstStyle/>
          <a:p>
            <a:pPr algn="just"/>
            <a:r>
              <a:rPr lang="en-SG" sz="1050" dirty="0">
                <a:latin typeface="Calibri" panose="020F0502020204030204" pitchFamily="34" charset="0"/>
                <a:ea typeface="Calibri" panose="020F0502020204030204" pitchFamily="34" charset="0"/>
                <a:cs typeface="Calibri" panose="020F0502020204030204" pitchFamily="34" charset="0"/>
              </a:rPr>
              <a:t>Firstly, I merged the datasets using an "</a:t>
            </a:r>
            <a:r>
              <a:rPr lang="en-SG" sz="1050" b="1" u="sng" dirty="0">
                <a:latin typeface="Calibri" panose="020F0502020204030204" pitchFamily="34" charset="0"/>
                <a:ea typeface="Calibri" panose="020F0502020204030204" pitchFamily="34" charset="0"/>
                <a:cs typeface="Calibri" panose="020F0502020204030204" pitchFamily="34" charset="0"/>
              </a:rPr>
              <a:t>inner join</a:t>
            </a:r>
            <a:r>
              <a:rPr lang="en-SG" sz="1050" dirty="0">
                <a:latin typeface="Calibri" panose="020F0502020204030204" pitchFamily="34" charset="0"/>
                <a:ea typeface="Calibri" panose="020F0502020204030204" pitchFamily="34" charset="0"/>
                <a:cs typeface="Calibri" panose="020F0502020204030204" pitchFamily="34" charset="0"/>
              </a:rPr>
              <a:t>" to combine relevant information for clearer analysis. This approach helps identify and strategise handling missing values while preparing a comprehensive dataset for efficient EDA and visualisation.</a:t>
            </a:r>
          </a:p>
        </p:txBody>
      </p:sp>
      <p:pic>
        <p:nvPicPr>
          <p:cNvPr id="7" name="Picture 6">
            <a:extLst>
              <a:ext uri="{FF2B5EF4-FFF2-40B4-BE49-F238E27FC236}">
                <a16:creationId xmlns:a16="http://schemas.microsoft.com/office/drawing/2014/main" id="{D445B934-AABA-4BA9-E8F4-F75C6DF52139}"/>
              </a:ext>
            </a:extLst>
          </p:cNvPr>
          <p:cNvPicPr>
            <a:picLocks noChangeAspect="1"/>
          </p:cNvPicPr>
          <p:nvPr/>
        </p:nvPicPr>
        <p:blipFill>
          <a:blip r:embed="rId3"/>
          <a:stretch>
            <a:fillRect/>
          </a:stretch>
        </p:blipFill>
        <p:spPr>
          <a:xfrm>
            <a:off x="416668" y="1700126"/>
            <a:ext cx="2026149" cy="1645334"/>
          </a:xfrm>
          <a:prstGeom prst="rect">
            <a:avLst/>
          </a:prstGeom>
        </p:spPr>
      </p:pic>
      <p:sp>
        <p:nvSpPr>
          <p:cNvPr id="8" name="TextBox 7">
            <a:extLst>
              <a:ext uri="{FF2B5EF4-FFF2-40B4-BE49-F238E27FC236}">
                <a16:creationId xmlns:a16="http://schemas.microsoft.com/office/drawing/2014/main" id="{57714FD5-8D6D-7C4A-A014-EC27686BA556}"/>
              </a:ext>
            </a:extLst>
          </p:cNvPr>
          <p:cNvSpPr txBox="1"/>
          <p:nvPr/>
        </p:nvSpPr>
        <p:spPr>
          <a:xfrm>
            <a:off x="2478156" y="1700126"/>
            <a:ext cx="3136347" cy="1700466"/>
          </a:xfrm>
          <a:prstGeom prst="rect">
            <a:avLst/>
          </a:prstGeom>
          <a:noFill/>
        </p:spPr>
        <p:txBody>
          <a:bodyPr wrap="square" rtlCol="0">
            <a:spAutoFit/>
          </a:bodyPr>
          <a:lstStyle/>
          <a:p>
            <a:pPr algn="just"/>
            <a:r>
              <a:rPr lang="en-US" sz="950" dirty="0">
                <a:latin typeface="Calibri" panose="020F0502020204030204" pitchFamily="34" charset="0"/>
                <a:ea typeface="Calibri" panose="020F0502020204030204" pitchFamily="34" charset="0"/>
                <a:cs typeface="Calibri" panose="020F0502020204030204" pitchFamily="34" charset="0"/>
              </a:rPr>
              <a:t>I reviewed missing values to decide which columns to remove or fix. Columns with over </a:t>
            </a:r>
            <a:r>
              <a:rPr lang="en-US" sz="95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90% missing data</a:t>
            </a:r>
            <a:r>
              <a:rPr lang="en-US" sz="950" dirty="0">
                <a:latin typeface="Calibri" panose="020F0502020204030204" pitchFamily="34" charset="0"/>
                <a:ea typeface="Calibri" panose="020F0502020204030204" pitchFamily="34" charset="0"/>
                <a:cs typeface="Calibri" panose="020F0502020204030204" pitchFamily="34" charset="0"/>
              </a:rPr>
              <a:t>, like </a:t>
            </a:r>
            <a:r>
              <a:rPr lang="en-US" sz="950" i="1" dirty="0" err="1">
                <a:latin typeface="Calibri" panose="020F0502020204030204" pitchFamily="34" charset="0"/>
                <a:ea typeface="Calibri" panose="020F0502020204030204" pitchFamily="34" charset="0"/>
                <a:cs typeface="Calibri" panose="020F0502020204030204" pitchFamily="34" charset="0"/>
              </a:rPr>
              <a:t>closed_time</a:t>
            </a:r>
            <a:r>
              <a:rPr lang="en-US" sz="950" dirty="0">
                <a:latin typeface="Calibri" panose="020F0502020204030204" pitchFamily="34" charset="0"/>
                <a:ea typeface="Calibri" panose="020F0502020204030204" pitchFamily="34" charset="0"/>
                <a:cs typeface="Calibri" panose="020F0502020204030204" pitchFamily="34" charset="0"/>
              </a:rPr>
              <a:t> and </a:t>
            </a:r>
            <a:r>
              <a:rPr lang="en-US" sz="950" i="1" dirty="0">
                <a:latin typeface="Calibri" panose="020F0502020204030204" pitchFamily="34" charset="0"/>
                <a:ea typeface="Calibri" panose="020F0502020204030204" pitchFamily="34" charset="0"/>
                <a:cs typeface="Calibri" panose="020F0502020204030204" pitchFamily="34" charset="0"/>
              </a:rPr>
              <a:t>Easter Egg</a:t>
            </a:r>
            <a:r>
              <a:rPr lang="en-US" sz="950" dirty="0">
                <a:latin typeface="Calibri" panose="020F0502020204030204" pitchFamily="34" charset="0"/>
                <a:ea typeface="Calibri" panose="020F0502020204030204" pitchFamily="34" charset="0"/>
                <a:cs typeface="Calibri" panose="020F0502020204030204" pitchFamily="34" charset="0"/>
              </a:rPr>
              <a:t>, will be removed unless they’re essential (e.g., </a:t>
            </a:r>
            <a:r>
              <a:rPr lang="en-US" sz="950" i="1" dirty="0">
                <a:latin typeface="Calibri" panose="020F0502020204030204" pitchFamily="34" charset="0"/>
                <a:ea typeface="Calibri" panose="020F0502020204030204" pitchFamily="34" charset="0"/>
                <a:cs typeface="Calibri" panose="020F0502020204030204" pitchFamily="34" charset="0"/>
              </a:rPr>
              <a:t>skills_desc</a:t>
            </a:r>
            <a:r>
              <a:rPr lang="en-US" sz="950" dirty="0">
                <a:latin typeface="Calibri" panose="020F0502020204030204" pitchFamily="34" charset="0"/>
                <a:ea typeface="Calibri" panose="020F0502020204030204" pitchFamily="34" charset="0"/>
                <a:cs typeface="Calibri" panose="020F0502020204030204" pitchFamily="34" charset="0"/>
              </a:rPr>
              <a:t>). For columns with </a:t>
            </a:r>
            <a:r>
              <a:rPr lang="en-US" sz="950" dirty="0">
                <a:solidFill>
                  <a:schemeClr val="accent3"/>
                </a:solidFill>
                <a:latin typeface="Calibri" panose="020F0502020204030204" pitchFamily="34" charset="0"/>
                <a:ea typeface="Calibri" panose="020F0502020204030204" pitchFamily="34" charset="0"/>
                <a:cs typeface="Calibri" panose="020F0502020204030204" pitchFamily="34" charset="0"/>
              </a:rPr>
              <a:t>70%-90%</a:t>
            </a:r>
            <a:r>
              <a:rPr lang="en-US" sz="950" dirty="0">
                <a:latin typeface="Calibri" panose="020F0502020204030204" pitchFamily="34" charset="0"/>
                <a:ea typeface="Calibri" panose="020F0502020204030204" pitchFamily="34" charset="0"/>
                <a:cs typeface="Calibri" panose="020F0502020204030204" pitchFamily="34" charset="0"/>
              </a:rPr>
              <a:t> </a:t>
            </a:r>
            <a:r>
              <a:rPr lang="en-US" sz="950" dirty="0">
                <a:solidFill>
                  <a:schemeClr val="accent3"/>
                </a:solidFill>
                <a:latin typeface="Calibri" panose="020F0502020204030204" pitchFamily="34" charset="0"/>
                <a:ea typeface="Calibri" panose="020F0502020204030204" pitchFamily="34" charset="0"/>
                <a:cs typeface="Calibri" panose="020F0502020204030204" pitchFamily="34" charset="0"/>
              </a:rPr>
              <a:t>missing values</a:t>
            </a:r>
            <a:r>
              <a:rPr lang="en-US" sz="950" dirty="0">
                <a:latin typeface="Calibri" panose="020F0502020204030204" pitchFamily="34" charset="0"/>
                <a:ea typeface="Calibri" panose="020F0502020204030204" pitchFamily="34" charset="0"/>
                <a:cs typeface="Calibri" panose="020F0502020204030204" pitchFamily="34" charset="0"/>
              </a:rPr>
              <a:t>, like </a:t>
            </a:r>
            <a:r>
              <a:rPr lang="en-US" sz="950" i="1" dirty="0">
                <a:latin typeface="Calibri" panose="020F0502020204030204" pitchFamily="34" charset="0"/>
                <a:ea typeface="Calibri" panose="020F0502020204030204" pitchFamily="34" charset="0"/>
                <a:cs typeface="Calibri" panose="020F0502020204030204" pitchFamily="34" charset="0"/>
              </a:rPr>
              <a:t>max_salary</a:t>
            </a:r>
            <a:r>
              <a:rPr lang="en-US" sz="950" dirty="0">
                <a:latin typeface="Calibri" panose="020F0502020204030204" pitchFamily="34" charset="0"/>
                <a:ea typeface="Calibri" panose="020F0502020204030204" pitchFamily="34" charset="0"/>
                <a:cs typeface="Calibri" panose="020F0502020204030204" pitchFamily="34" charset="0"/>
              </a:rPr>
              <a:t> and remote_allowed, I’ll either remove or fill in the gaps depending on their importance. Columns with </a:t>
            </a:r>
            <a:r>
              <a:rPr lang="en-US" sz="950" dirty="0">
                <a:solidFill>
                  <a:srgbClr val="00B050"/>
                </a:solidFill>
                <a:latin typeface="Calibri" panose="020F0502020204030204" pitchFamily="34" charset="0"/>
                <a:ea typeface="Calibri" panose="020F0502020204030204" pitchFamily="34" charset="0"/>
                <a:cs typeface="Calibri" panose="020F0502020204030204" pitchFamily="34" charset="0"/>
              </a:rPr>
              <a:t>20%-50% missing data</a:t>
            </a:r>
            <a:r>
              <a:rPr lang="en-US" sz="950" dirty="0">
                <a:latin typeface="Calibri" panose="020F0502020204030204" pitchFamily="34" charset="0"/>
                <a:ea typeface="Calibri" panose="020F0502020204030204" pitchFamily="34" charset="0"/>
                <a:cs typeface="Calibri" panose="020F0502020204030204" pitchFamily="34" charset="0"/>
              </a:rPr>
              <a:t> will be kept and cleaned, while those with under 5% missing (e.g., </a:t>
            </a:r>
            <a:r>
              <a:rPr lang="en-US" sz="950" i="1" dirty="0" err="1">
                <a:latin typeface="Calibri" panose="020F0502020204030204" pitchFamily="34" charset="0"/>
                <a:ea typeface="Calibri" panose="020F0502020204030204" pitchFamily="34" charset="0"/>
                <a:cs typeface="Calibri" panose="020F0502020204030204" pitchFamily="34" charset="0"/>
              </a:rPr>
              <a:t>company_name_x</a:t>
            </a:r>
            <a:r>
              <a:rPr lang="en-US" sz="950" dirty="0">
                <a:latin typeface="Calibri" panose="020F0502020204030204" pitchFamily="34" charset="0"/>
                <a:ea typeface="Calibri" panose="020F0502020204030204" pitchFamily="34" charset="0"/>
                <a:cs typeface="Calibri" panose="020F0502020204030204" pitchFamily="34" charset="0"/>
              </a:rPr>
              <a:t> and </a:t>
            </a:r>
            <a:r>
              <a:rPr lang="en-US" sz="950" i="1" dirty="0">
                <a:latin typeface="Calibri" panose="020F0502020204030204" pitchFamily="34" charset="0"/>
                <a:ea typeface="Calibri" panose="020F0502020204030204" pitchFamily="34" charset="0"/>
                <a:cs typeface="Calibri" panose="020F0502020204030204" pitchFamily="34" charset="0"/>
              </a:rPr>
              <a:t>company_name_y</a:t>
            </a:r>
            <a:r>
              <a:rPr lang="en-US" sz="950" dirty="0">
                <a:latin typeface="Calibri" panose="020F0502020204030204" pitchFamily="34" charset="0"/>
                <a:ea typeface="Calibri" panose="020F0502020204030204" pitchFamily="34" charset="0"/>
                <a:cs typeface="Calibri" panose="020F0502020204030204" pitchFamily="34" charset="0"/>
              </a:rPr>
              <a:t>) will be combined to avoid </a:t>
            </a:r>
            <a:r>
              <a:rPr lang="en-US" sz="950" b="1" dirty="0">
                <a:latin typeface="Calibri" panose="020F0502020204030204" pitchFamily="34" charset="0"/>
                <a:ea typeface="Calibri" panose="020F0502020204030204" pitchFamily="34" charset="0"/>
                <a:cs typeface="Calibri" panose="020F0502020204030204" pitchFamily="34" charset="0"/>
              </a:rPr>
              <a:t>duplication</a:t>
            </a:r>
            <a:r>
              <a:rPr lang="en-US" sz="950" dirty="0">
                <a:latin typeface="Calibri" panose="020F0502020204030204" pitchFamily="34" charset="0"/>
                <a:ea typeface="Calibri" panose="020F0502020204030204" pitchFamily="34" charset="0"/>
                <a:cs typeface="Calibri" panose="020F0502020204030204" pitchFamily="34" charset="0"/>
              </a:rPr>
              <a:t>. This ensures the dataset is tidy and relevant for analysis.</a:t>
            </a:r>
            <a:endParaRPr lang="en-SG" sz="950" dirty="0">
              <a:latin typeface="Calibri" panose="020F0502020204030204" pitchFamily="34" charset="0"/>
              <a:ea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C63D0963-6979-42BD-C414-54C350132621}"/>
              </a:ext>
            </a:extLst>
          </p:cNvPr>
          <p:cNvSpPr txBox="1"/>
          <p:nvPr/>
        </p:nvSpPr>
        <p:spPr>
          <a:xfrm>
            <a:off x="258695" y="504192"/>
            <a:ext cx="1629382" cy="253916"/>
          </a:xfrm>
          <a:prstGeom prst="rect">
            <a:avLst/>
          </a:prstGeom>
          <a:noFill/>
        </p:spPr>
        <p:txBody>
          <a:bodyPr wrap="square" rtlCol="0">
            <a:spAutoFit/>
          </a:bodyPr>
          <a:lstStyle/>
          <a:p>
            <a:pPr algn="ctr"/>
            <a:r>
              <a:rPr lang="en-SG" sz="1050" b="1" u="sng" dirty="0">
                <a:latin typeface="Book Antiqua" panose="02040602050305030304" pitchFamily="18" charset="0"/>
              </a:rPr>
              <a:t>Merging Datasets</a:t>
            </a:r>
          </a:p>
        </p:txBody>
      </p:sp>
      <p:pic>
        <p:nvPicPr>
          <p:cNvPr id="16" name="Picture 15">
            <a:extLst>
              <a:ext uri="{FF2B5EF4-FFF2-40B4-BE49-F238E27FC236}">
                <a16:creationId xmlns:a16="http://schemas.microsoft.com/office/drawing/2014/main" id="{3376F631-F5EB-E15D-3A3D-AFE2EF8D5D04}"/>
              </a:ext>
            </a:extLst>
          </p:cNvPr>
          <p:cNvPicPr>
            <a:picLocks noChangeAspect="1"/>
          </p:cNvPicPr>
          <p:nvPr/>
        </p:nvPicPr>
        <p:blipFill>
          <a:blip r:embed="rId4"/>
          <a:stretch>
            <a:fillRect/>
          </a:stretch>
        </p:blipFill>
        <p:spPr>
          <a:xfrm>
            <a:off x="304800" y="3633055"/>
            <a:ext cx="1150605" cy="1286317"/>
          </a:xfrm>
          <a:prstGeom prst="rect">
            <a:avLst/>
          </a:prstGeom>
        </p:spPr>
      </p:pic>
      <p:pic>
        <p:nvPicPr>
          <p:cNvPr id="18" name="Picture 17">
            <a:extLst>
              <a:ext uri="{FF2B5EF4-FFF2-40B4-BE49-F238E27FC236}">
                <a16:creationId xmlns:a16="http://schemas.microsoft.com/office/drawing/2014/main" id="{E6799FF5-C2F5-EDAD-77F2-F2ED7683FCBC}"/>
              </a:ext>
            </a:extLst>
          </p:cNvPr>
          <p:cNvPicPr>
            <a:picLocks noChangeAspect="1"/>
          </p:cNvPicPr>
          <p:nvPr/>
        </p:nvPicPr>
        <p:blipFill>
          <a:blip r:embed="rId5"/>
          <a:stretch>
            <a:fillRect/>
          </a:stretch>
        </p:blipFill>
        <p:spPr>
          <a:xfrm>
            <a:off x="1677007" y="3626456"/>
            <a:ext cx="1150605" cy="1292916"/>
          </a:xfrm>
          <a:prstGeom prst="rect">
            <a:avLst/>
          </a:prstGeom>
        </p:spPr>
      </p:pic>
      <p:pic>
        <p:nvPicPr>
          <p:cNvPr id="20" name="Picture 19">
            <a:extLst>
              <a:ext uri="{FF2B5EF4-FFF2-40B4-BE49-F238E27FC236}">
                <a16:creationId xmlns:a16="http://schemas.microsoft.com/office/drawing/2014/main" id="{70311674-1A58-2ED5-21CC-E7267A8501FD}"/>
              </a:ext>
            </a:extLst>
          </p:cNvPr>
          <p:cNvPicPr>
            <a:picLocks noChangeAspect="1"/>
          </p:cNvPicPr>
          <p:nvPr/>
        </p:nvPicPr>
        <p:blipFill>
          <a:blip r:embed="rId6"/>
          <a:stretch>
            <a:fillRect/>
          </a:stretch>
        </p:blipFill>
        <p:spPr>
          <a:xfrm>
            <a:off x="2957316" y="3626455"/>
            <a:ext cx="2305879" cy="1302739"/>
          </a:xfrm>
          <a:prstGeom prst="rect">
            <a:avLst/>
          </a:prstGeom>
        </p:spPr>
      </p:pic>
      <p:sp>
        <p:nvSpPr>
          <p:cNvPr id="23" name="TextBox 22">
            <a:extLst>
              <a:ext uri="{FF2B5EF4-FFF2-40B4-BE49-F238E27FC236}">
                <a16:creationId xmlns:a16="http://schemas.microsoft.com/office/drawing/2014/main" id="{1561F752-5E72-C8E1-A6E6-102BD77D515D}"/>
              </a:ext>
            </a:extLst>
          </p:cNvPr>
          <p:cNvSpPr txBox="1"/>
          <p:nvPr/>
        </p:nvSpPr>
        <p:spPr>
          <a:xfrm>
            <a:off x="5392899" y="3777895"/>
            <a:ext cx="3661661" cy="1077218"/>
          </a:xfrm>
          <a:prstGeom prst="rect">
            <a:avLst/>
          </a:prstGeom>
          <a:noFill/>
        </p:spPr>
        <p:txBody>
          <a:bodyPr wrap="square">
            <a:spAutoFit/>
          </a:bodyPr>
          <a:lstStyle/>
          <a:p>
            <a:r>
              <a:rPr lang="en-US" sz="800" dirty="0">
                <a:latin typeface="Calibri" panose="020F0502020204030204" pitchFamily="34" charset="0"/>
                <a:ea typeface="Calibri" panose="020F0502020204030204" pitchFamily="34" charset="0"/>
                <a:cs typeface="Calibri" panose="020F0502020204030204" pitchFamily="34" charset="0"/>
              </a:rPr>
              <a:t>I refined the dataset by dropping redundant, irrelevant, and highly missing columns to streamline analysis and focus on the research question. Duplicates like </a:t>
            </a:r>
            <a:r>
              <a:rPr lang="en-US" sz="800" i="1" dirty="0">
                <a:latin typeface="Calibri" panose="020F0502020204030204" pitchFamily="34" charset="0"/>
                <a:ea typeface="Calibri" panose="020F0502020204030204" pitchFamily="34" charset="0"/>
                <a:cs typeface="Calibri" panose="020F0502020204030204" pitchFamily="34" charset="0"/>
              </a:rPr>
              <a:t>title_y </a:t>
            </a:r>
            <a:r>
              <a:rPr lang="en-US" sz="800" dirty="0">
                <a:latin typeface="Calibri" panose="020F0502020204030204" pitchFamily="34" charset="0"/>
                <a:ea typeface="Calibri" panose="020F0502020204030204" pitchFamily="34" charset="0"/>
                <a:cs typeface="Calibri" panose="020F0502020204030204" pitchFamily="34" charset="0"/>
              </a:rPr>
              <a:t>and </a:t>
            </a:r>
            <a:r>
              <a:rPr lang="en-US" sz="800" i="1" dirty="0" err="1">
                <a:latin typeface="Calibri" panose="020F0502020204030204" pitchFamily="34" charset="0"/>
                <a:ea typeface="Calibri" panose="020F0502020204030204" pitchFamily="34" charset="0"/>
                <a:cs typeface="Calibri" panose="020F0502020204030204" pitchFamily="34" charset="0"/>
              </a:rPr>
              <a:t>company_name</a:t>
            </a:r>
            <a:r>
              <a:rPr lang="en-US" sz="800" dirty="0" err="1">
                <a:latin typeface="Calibri" panose="020F0502020204030204" pitchFamily="34" charset="0"/>
                <a:ea typeface="Calibri" panose="020F0502020204030204" pitchFamily="34" charset="0"/>
                <a:cs typeface="Calibri" panose="020F0502020204030204" pitchFamily="34" charset="0"/>
              </a:rPr>
              <a:t>_</a:t>
            </a:r>
            <a:r>
              <a:rPr lang="en-US" sz="800" i="1" dirty="0" err="1">
                <a:latin typeface="Calibri" panose="020F0502020204030204" pitchFamily="34" charset="0"/>
                <a:ea typeface="Calibri" panose="020F0502020204030204" pitchFamily="34" charset="0"/>
                <a:cs typeface="Calibri" panose="020F0502020204030204" pitchFamily="34" charset="0"/>
              </a:rPr>
              <a:t>y</a:t>
            </a:r>
            <a:r>
              <a:rPr lang="en-US" sz="800" dirty="0">
                <a:latin typeface="Calibri" panose="020F0502020204030204" pitchFamily="34" charset="0"/>
                <a:ea typeface="Calibri" panose="020F0502020204030204" pitchFamily="34" charset="0"/>
                <a:cs typeface="Calibri" panose="020F0502020204030204" pitchFamily="34" charset="0"/>
              </a:rPr>
              <a:t> were removed, and columns with over 90% missing data (e.g., </a:t>
            </a:r>
            <a:r>
              <a:rPr lang="en-US" sz="800" i="1" dirty="0">
                <a:latin typeface="Calibri" panose="020F0502020204030204" pitchFamily="34" charset="0"/>
                <a:ea typeface="Calibri" panose="020F0502020204030204" pitchFamily="34" charset="0"/>
                <a:cs typeface="Calibri" panose="020F0502020204030204" pitchFamily="34" charset="0"/>
              </a:rPr>
              <a:t>Easter Egg</a:t>
            </a:r>
            <a:r>
              <a:rPr lang="en-US" sz="800" dirty="0">
                <a:latin typeface="Calibri" panose="020F0502020204030204" pitchFamily="34" charset="0"/>
                <a:ea typeface="Calibri" panose="020F0502020204030204" pitchFamily="34" charset="0"/>
                <a:cs typeface="Calibri" panose="020F0502020204030204" pitchFamily="34" charset="0"/>
              </a:rPr>
              <a:t>, </a:t>
            </a:r>
            <a:r>
              <a:rPr lang="en-US" sz="800" i="1" dirty="0" err="1">
                <a:latin typeface="Calibri" panose="020F0502020204030204" pitchFamily="34" charset="0"/>
                <a:ea typeface="Calibri" panose="020F0502020204030204" pitchFamily="34" charset="0"/>
                <a:cs typeface="Calibri" panose="020F0502020204030204" pitchFamily="34" charset="0"/>
              </a:rPr>
              <a:t>closed_time</a:t>
            </a:r>
            <a:r>
              <a:rPr lang="en-US" sz="800" dirty="0">
                <a:latin typeface="Calibri" panose="020F0502020204030204" pitchFamily="34" charset="0"/>
                <a:ea typeface="Calibri" panose="020F0502020204030204" pitchFamily="34" charset="0"/>
                <a:cs typeface="Calibri" panose="020F0502020204030204" pitchFamily="34" charset="0"/>
              </a:rPr>
              <a:t>) were dropped unless essential. Irrelevant attributes such as </a:t>
            </a:r>
            <a:r>
              <a:rPr lang="en-US" sz="800" b="1" u="sng" dirty="0">
                <a:latin typeface="Calibri" panose="020F0502020204030204" pitchFamily="34" charset="0"/>
                <a:ea typeface="Calibri" panose="020F0502020204030204" pitchFamily="34" charset="0"/>
                <a:cs typeface="Calibri" panose="020F0502020204030204" pitchFamily="34" charset="0"/>
              </a:rPr>
              <a:t>URLs, job IDs, and platform-specific details</a:t>
            </a:r>
            <a:r>
              <a:rPr lang="en-US" sz="800" dirty="0">
                <a:latin typeface="Calibri" panose="020F0502020204030204" pitchFamily="34" charset="0"/>
                <a:ea typeface="Calibri" panose="020F0502020204030204" pitchFamily="34" charset="0"/>
                <a:cs typeface="Calibri" panose="020F0502020204030204" pitchFamily="34" charset="0"/>
              </a:rPr>
              <a:t> were </a:t>
            </a:r>
            <a:r>
              <a:rPr lang="en-US" sz="8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excluded</a:t>
            </a:r>
            <a:r>
              <a:rPr lang="en-US" sz="800" dirty="0">
                <a:latin typeface="Calibri" panose="020F0502020204030204" pitchFamily="34" charset="0"/>
                <a:ea typeface="Calibri" panose="020F0502020204030204" pitchFamily="34" charset="0"/>
                <a:cs typeface="Calibri" panose="020F0502020204030204" pitchFamily="34" charset="0"/>
              </a:rPr>
              <a:t> as they didn’t contribute to hiring trends, salaries, or skills analysis. This process reduced the dataset to 13 relevant columns, ensuring clarity and alignment with the research objectives.</a:t>
            </a:r>
            <a:endParaRPr lang="en-SG" sz="800" dirty="0">
              <a:latin typeface="Calibri" panose="020F0502020204030204" pitchFamily="34" charset="0"/>
              <a:ea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22D1457A-D78F-5CFA-480C-7F4E96067EB2}"/>
              </a:ext>
            </a:extLst>
          </p:cNvPr>
          <p:cNvSpPr txBox="1"/>
          <p:nvPr/>
        </p:nvSpPr>
        <p:spPr>
          <a:xfrm>
            <a:off x="5163537" y="3592614"/>
            <a:ext cx="1629382" cy="230832"/>
          </a:xfrm>
          <a:prstGeom prst="rect">
            <a:avLst/>
          </a:prstGeom>
          <a:noFill/>
        </p:spPr>
        <p:txBody>
          <a:bodyPr wrap="square" rtlCol="0">
            <a:spAutoFit/>
          </a:bodyPr>
          <a:lstStyle/>
          <a:p>
            <a:pPr algn="ctr"/>
            <a:r>
              <a:rPr lang="en-SG" sz="900" b="1" u="sng" dirty="0">
                <a:latin typeface="Book Antiqua" panose="02040602050305030304" pitchFamily="18" charset="0"/>
              </a:rPr>
              <a:t>Dropping Columns</a:t>
            </a:r>
          </a:p>
        </p:txBody>
      </p:sp>
      <p:pic>
        <p:nvPicPr>
          <p:cNvPr id="27" name="Picture 26">
            <a:extLst>
              <a:ext uri="{FF2B5EF4-FFF2-40B4-BE49-F238E27FC236}">
                <a16:creationId xmlns:a16="http://schemas.microsoft.com/office/drawing/2014/main" id="{E493DA0F-D0A7-2AC1-67A3-3297CD9DC642}"/>
              </a:ext>
            </a:extLst>
          </p:cNvPr>
          <p:cNvPicPr>
            <a:picLocks noChangeAspect="1"/>
          </p:cNvPicPr>
          <p:nvPr/>
        </p:nvPicPr>
        <p:blipFill>
          <a:blip r:embed="rId7"/>
          <a:stretch>
            <a:fillRect/>
          </a:stretch>
        </p:blipFill>
        <p:spPr>
          <a:xfrm>
            <a:off x="5726371" y="740099"/>
            <a:ext cx="1409606" cy="679450"/>
          </a:xfrm>
          <a:prstGeom prst="rect">
            <a:avLst/>
          </a:prstGeom>
        </p:spPr>
      </p:pic>
      <p:pic>
        <p:nvPicPr>
          <p:cNvPr id="29" name="Picture 28">
            <a:extLst>
              <a:ext uri="{FF2B5EF4-FFF2-40B4-BE49-F238E27FC236}">
                <a16:creationId xmlns:a16="http://schemas.microsoft.com/office/drawing/2014/main" id="{59377109-FE49-AAE7-4207-5B21847E2F5A}"/>
              </a:ext>
            </a:extLst>
          </p:cNvPr>
          <p:cNvPicPr>
            <a:picLocks noChangeAspect="1"/>
          </p:cNvPicPr>
          <p:nvPr/>
        </p:nvPicPr>
        <p:blipFill>
          <a:blip r:embed="rId8"/>
          <a:stretch>
            <a:fillRect/>
          </a:stretch>
        </p:blipFill>
        <p:spPr>
          <a:xfrm>
            <a:off x="7182082" y="740099"/>
            <a:ext cx="1229114" cy="679450"/>
          </a:xfrm>
          <a:prstGeom prst="rect">
            <a:avLst/>
          </a:prstGeom>
        </p:spPr>
      </p:pic>
      <p:sp>
        <p:nvSpPr>
          <p:cNvPr id="30" name="TextBox 29">
            <a:extLst>
              <a:ext uri="{FF2B5EF4-FFF2-40B4-BE49-F238E27FC236}">
                <a16:creationId xmlns:a16="http://schemas.microsoft.com/office/drawing/2014/main" id="{B8668B69-C99D-332C-B65E-01E141164954}"/>
              </a:ext>
            </a:extLst>
          </p:cNvPr>
          <p:cNvSpPr txBox="1"/>
          <p:nvPr/>
        </p:nvSpPr>
        <p:spPr>
          <a:xfrm>
            <a:off x="5649841" y="1390650"/>
            <a:ext cx="3340845" cy="1077218"/>
          </a:xfrm>
          <a:prstGeom prst="rect">
            <a:avLst/>
          </a:prstGeom>
          <a:noFill/>
        </p:spPr>
        <p:txBody>
          <a:bodyPr wrap="square" rtlCol="0">
            <a:spAutoFit/>
          </a:bodyPr>
          <a:lstStyle/>
          <a:p>
            <a:r>
              <a:rPr lang="en-US" sz="800" dirty="0">
                <a:latin typeface="Calibri" panose="020F0502020204030204" pitchFamily="34" charset="0"/>
                <a:ea typeface="Calibri" panose="020F0502020204030204" pitchFamily="34" charset="0"/>
                <a:cs typeface="Calibri" panose="020F0502020204030204" pitchFamily="34" charset="0"/>
              </a:rPr>
              <a:t>To handle missing values, I imputed </a:t>
            </a:r>
            <a:r>
              <a:rPr lang="en-US" sz="800" i="1" dirty="0">
                <a:latin typeface="Calibri" panose="020F0502020204030204" pitchFamily="34" charset="0"/>
                <a:ea typeface="Calibri" panose="020F0502020204030204" pitchFamily="34" charset="0"/>
                <a:cs typeface="Calibri" panose="020F0502020204030204" pitchFamily="34" charset="0"/>
              </a:rPr>
              <a:t>pay_period</a:t>
            </a:r>
            <a:r>
              <a:rPr lang="en-US" sz="800" dirty="0">
                <a:latin typeface="Calibri" panose="020F0502020204030204" pitchFamily="34" charset="0"/>
                <a:ea typeface="Calibri" panose="020F0502020204030204" pitchFamily="34" charset="0"/>
                <a:cs typeface="Calibri" panose="020F0502020204030204" pitchFamily="34" charset="0"/>
              </a:rPr>
              <a:t> using the mode for consistency and used </a:t>
            </a:r>
            <a:r>
              <a:rPr lang="en-US" sz="800" b="1" dirty="0">
                <a:latin typeface="Calibri" panose="020F0502020204030204" pitchFamily="34" charset="0"/>
                <a:ea typeface="Calibri" panose="020F0502020204030204" pitchFamily="34" charset="0"/>
                <a:cs typeface="Calibri" panose="020F0502020204030204" pitchFamily="34" charset="0"/>
              </a:rPr>
              <a:t>group-based</a:t>
            </a:r>
            <a:r>
              <a:rPr lang="en-US" sz="800" dirty="0">
                <a:latin typeface="Calibri" panose="020F0502020204030204" pitchFamily="34" charset="0"/>
                <a:ea typeface="Calibri" panose="020F0502020204030204" pitchFamily="34" charset="0"/>
                <a:cs typeface="Calibri" panose="020F0502020204030204" pitchFamily="34" charset="0"/>
              </a:rPr>
              <a:t> </a:t>
            </a:r>
            <a:r>
              <a:rPr lang="en-US" sz="800" b="1" dirty="0">
                <a:latin typeface="Calibri" panose="020F0502020204030204" pitchFamily="34" charset="0"/>
                <a:ea typeface="Calibri" panose="020F0502020204030204" pitchFamily="34" charset="0"/>
                <a:cs typeface="Calibri" panose="020F0502020204030204" pitchFamily="34" charset="0"/>
              </a:rPr>
              <a:t>means</a:t>
            </a:r>
            <a:r>
              <a:rPr lang="en-US" sz="800" dirty="0">
                <a:latin typeface="Calibri" panose="020F0502020204030204" pitchFamily="34" charset="0"/>
                <a:ea typeface="Calibri" panose="020F0502020204030204" pitchFamily="34" charset="0"/>
                <a:cs typeface="Calibri" panose="020F0502020204030204" pitchFamily="34" charset="0"/>
              </a:rPr>
              <a:t> within </a:t>
            </a:r>
            <a:r>
              <a:rPr lang="en-US" sz="800" i="1" dirty="0">
                <a:latin typeface="Calibri" panose="020F0502020204030204" pitchFamily="34" charset="0"/>
                <a:ea typeface="Calibri" panose="020F0502020204030204" pitchFamily="34" charset="0"/>
                <a:cs typeface="Calibri" panose="020F0502020204030204" pitchFamily="34" charset="0"/>
              </a:rPr>
              <a:t>pay_period</a:t>
            </a:r>
            <a:r>
              <a:rPr lang="en-US" sz="800" dirty="0">
                <a:latin typeface="Calibri" panose="020F0502020204030204" pitchFamily="34" charset="0"/>
                <a:ea typeface="Calibri" panose="020F0502020204030204" pitchFamily="34" charset="0"/>
                <a:cs typeface="Calibri" panose="020F0502020204030204" pitchFamily="34" charset="0"/>
              </a:rPr>
              <a:t> for </a:t>
            </a:r>
            <a:r>
              <a:rPr lang="en-US" sz="800" i="1" dirty="0">
                <a:latin typeface="Calibri" panose="020F0502020204030204" pitchFamily="34" charset="0"/>
                <a:ea typeface="Calibri" panose="020F0502020204030204" pitchFamily="34" charset="0"/>
                <a:cs typeface="Calibri" panose="020F0502020204030204" pitchFamily="34" charset="0"/>
              </a:rPr>
              <a:t>max_salary</a:t>
            </a:r>
            <a:r>
              <a:rPr lang="en-US" sz="800" dirty="0">
                <a:latin typeface="Calibri" panose="020F0502020204030204" pitchFamily="34" charset="0"/>
                <a:ea typeface="Calibri" panose="020F0502020204030204" pitchFamily="34" charset="0"/>
                <a:cs typeface="Calibri" panose="020F0502020204030204" pitchFamily="34" charset="0"/>
              </a:rPr>
              <a:t>, </a:t>
            </a:r>
            <a:r>
              <a:rPr lang="en-US" sz="800" i="1" dirty="0">
                <a:latin typeface="Calibri" panose="020F0502020204030204" pitchFamily="34" charset="0"/>
                <a:ea typeface="Calibri" panose="020F0502020204030204" pitchFamily="34" charset="0"/>
                <a:cs typeface="Calibri" panose="020F0502020204030204" pitchFamily="34" charset="0"/>
              </a:rPr>
              <a:t>min_salary</a:t>
            </a:r>
            <a:r>
              <a:rPr lang="en-US" sz="800" dirty="0">
                <a:latin typeface="Calibri" panose="020F0502020204030204" pitchFamily="34" charset="0"/>
                <a:ea typeface="Calibri" panose="020F0502020204030204" pitchFamily="34" charset="0"/>
                <a:cs typeface="Calibri" panose="020F0502020204030204" pitchFamily="34" charset="0"/>
              </a:rPr>
              <a:t>, and </a:t>
            </a:r>
            <a:r>
              <a:rPr lang="en-US" sz="800" i="1" dirty="0">
                <a:latin typeface="Calibri" panose="020F0502020204030204" pitchFamily="34" charset="0"/>
                <a:ea typeface="Calibri" panose="020F0502020204030204" pitchFamily="34" charset="0"/>
                <a:cs typeface="Calibri" panose="020F0502020204030204" pitchFamily="34" charset="0"/>
              </a:rPr>
              <a:t>med_salary</a:t>
            </a:r>
            <a:r>
              <a:rPr lang="en-US" sz="800" dirty="0">
                <a:latin typeface="Calibri" panose="020F0502020204030204" pitchFamily="34" charset="0"/>
                <a:ea typeface="Calibri" panose="020F0502020204030204" pitchFamily="34" charset="0"/>
                <a:cs typeface="Calibri" panose="020F0502020204030204" pitchFamily="34" charset="0"/>
              </a:rPr>
              <a:t> to maintain logical salary trends. Missing description and </a:t>
            </a:r>
            <a:r>
              <a:rPr lang="en-US" sz="800" i="1" dirty="0">
                <a:latin typeface="Calibri" panose="020F0502020204030204" pitchFamily="34" charset="0"/>
                <a:ea typeface="Calibri" panose="020F0502020204030204" pitchFamily="34" charset="0"/>
                <a:cs typeface="Calibri" panose="020F0502020204030204" pitchFamily="34" charset="0"/>
              </a:rPr>
              <a:t>company_name</a:t>
            </a:r>
            <a:r>
              <a:rPr lang="en-US" sz="800" dirty="0">
                <a:latin typeface="Calibri" panose="020F0502020204030204" pitchFamily="34" charset="0"/>
                <a:ea typeface="Calibri" panose="020F0502020204030204" pitchFamily="34" charset="0"/>
                <a:cs typeface="Calibri" panose="020F0502020204030204" pitchFamily="34" charset="0"/>
              </a:rPr>
              <a:t> entries were filled with placeholders like "No description available" and "Unknown Company." For </a:t>
            </a:r>
            <a:r>
              <a:rPr lang="en-US" sz="800" i="1" dirty="0">
                <a:latin typeface="Calibri" panose="020F0502020204030204" pitchFamily="34" charset="0"/>
                <a:ea typeface="Calibri" panose="020F0502020204030204" pitchFamily="34" charset="0"/>
                <a:cs typeface="Calibri" panose="020F0502020204030204" pitchFamily="34" charset="0"/>
              </a:rPr>
              <a:t>formatted_experience_level</a:t>
            </a:r>
            <a:r>
              <a:rPr lang="en-US" sz="800" dirty="0">
                <a:latin typeface="Calibri" panose="020F0502020204030204" pitchFamily="34" charset="0"/>
                <a:ea typeface="Calibri" panose="020F0502020204030204" pitchFamily="34" charset="0"/>
                <a:cs typeface="Calibri" panose="020F0502020204030204" pitchFamily="34" charset="0"/>
              </a:rPr>
              <a:t>, the mode was used, while </a:t>
            </a:r>
            <a:r>
              <a:rPr lang="en-US" sz="800" i="1" dirty="0">
                <a:latin typeface="Calibri" panose="020F0502020204030204" pitchFamily="34" charset="0"/>
                <a:ea typeface="Calibri" panose="020F0502020204030204" pitchFamily="34" charset="0"/>
                <a:cs typeface="Calibri" panose="020F0502020204030204" pitchFamily="34" charset="0"/>
              </a:rPr>
              <a:t>skills_desc</a:t>
            </a:r>
            <a:r>
              <a:rPr lang="en-US" sz="800" dirty="0">
                <a:latin typeface="Calibri" panose="020F0502020204030204" pitchFamily="34" charset="0"/>
                <a:ea typeface="Calibri" panose="020F0502020204030204" pitchFamily="34" charset="0"/>
                <a:cs typeface="Calibri" panose="020F0502020204030204" pitchFamily="34" charset="0"/>
              </a:rPr>
              <a:t> was filled with "No skills listed." Medians were applied for applies and views to retain data integrity, ensuring a clean dataset for accurate IT job trend analysis.</a:t>
            </a:r>
            <a:endParaRPr lang="en-SG" sz="800" dirty="0">
              <a:latin typeface="Calibri" panose="020F0502020204030204" pitchFamily="34" charset="0"/>
              <a:ea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778F6890-19B1-4F55-6A65-5E96A98BD65B}"/>
              </a:ext>
            </a:extLst>
          </p:cNvPr>
          <p:cNvSpPr txBox="1"/>
          <p:nvPr/>
        </p:nvSpPr>
        <p:spPr>
          <a:xfrm>
            <a:off x="7205633" y="542398"/>
            <a:ext cx="1848927" cy="200055"/>
          </a:xfrm>
          <a:prstGeom prst="rect">
            <a:avLst/>
          </a:prstGeom>
          <a:noFill/>
        </p:spPr>
        <p:txBody>
          <a:bodyPr wrap="square" rtlCol="0">
            <a:spAutoFit/>
          </a:bodyPr>
          <a:lstStyle/>
          <a:p>
            <a:pPr algn="ctr"/>
            <a:r>
              <a:rPr lang="en-SG" sz="700" b="1" u="sng" dirty="0">
                <a:latin typeface="Book Antiqua" panose="02040602050305030304" pitchFamily="18" charset="0"/>
              </a:rPr>
              <a:t>Imputation &amp; Handling Missing Values</a:t>
            </a:r>
          </a:p>
        </p:txBody>
      </p:sp>
      <p:pic>
        <p:nvPicPr>
          <p:cNvPr id="35" name="Picture 34">
            <a:extLst>
              <a:ext uri="{FF2B5EF4-FFF2-40B4-BE49-F238E27FC236}">
                <a16:creationId xmlns:a16="http://schemas.microsoft.com/office/drawing/2014/main" id="{3467C1A7-96BF-F4C3-F34F-5F700682CB4A}"/>
              </a:ext>
            </a:extLst>
          </p:cNvPr>
          <p:cNvPicPr>
            <a:picLocks noChangeAspect="1"/>
          </p:cNvPicPr>
          <p:nvPr/>
        </p:nvPicPr>
        <p:blipFill>
          <a:blip r:embed="rId9"/>
          <a:stretch>
            <a:fillRect/>
          </a:stretch>
        </p:blipFill>
        <p:spPr>
          <a:xfrm>
            <a:off x="5656715" y="2540121"/>
            <a:ext cx="2061772" cy="860471"/>
          </a:xfrm>
          <a:prstGeom prst="rect">
            <a:avLst/>
          </a:prstGeom>
        </p:spPr>
      </p:pic>
      <p:pic>
        <p:nvPicPr>
          <p:cNvPr id="37" name="Graphic 36" descr="Badge 1 with solid fill">
            <a:extLst>
              <a:ext uri="{FF2B5EF4-FFF2-40B4-BE49-F238E27FC236}">
                <a16:creationId xmlns:a16="http://schemas.microsoft.com/office/drawing/2014/main" id="{2FC06A1F-2CD4-74D6-5DE5-30F3B682EC7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9677" y="404901"/>
            <a:ext cx="511138" cy="511138"/>
          </a:xfrm>
          <a:prstGeom prst="rect">
            <a:avLst/>
          </a:prstGeom>
        </p:spPr>
      </p:pic>
      <p:pic>
        <p:nvPicPr>
          <p:cNvPr id="39" name="Graphic 38" descr="Badge with solid fill">
            <a:extLst>
              <a:ext uri="{FF2B5EF4-FFF2-40B4-BE49-F238E27FC236}">
                <a16:creationId xmlns:a16="http://schemas.microsoft.com/office/drawing/2014/main" id="{02FC410B-C118-C430-E34D-A5A5BBC2146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090098" y="3315674"/>
            <a:ext cx="463371" cy="463371"/>
          </a:xfrm>
          <a:prstGeom prst="rect">
            <a:avLst/>
          </a:prstGeom>
        </p:spPr>
      </p:pic>
      <p:pic>
        <p:nvPicPr>
          <p:cNvPr id="41" name="Graphic 40" descr="Badge 3 with solid fill">
            <a:extLst>
              <a:ext uri="{FF2B5EF4-FFF2-40B4-BE49-F238E27FC236}">
                <a16:creationId xmlns:a16="http://schemas.microsoft.com/office/drawing/2014/main" id="{D99C3870-DFE1-376F-AB50-FEEBE66838AB}"/>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437624" y="740099"/>
            <a:ext cx="471905" cy="471905"/>
          </a:xfrm>
          <a:prstGeom prst="rect">
            <a:avLst/>
          </a:prstGeom>
        </p:spPr>
      </p:pic>
      <p:sp>
        <p:nvSpPr>
          <p:cNvPr id="42" name="TextBox 41">
            <a:extLst>
              <a:ext uri="{FF2B5EF4-FFF2-40B4-BE49-F238E27FC236}">
                <a16:creationId xmlns:a16="http://schemas.microsoft.com/office/drawing/2014/main" id="{E3499A52-5AB9-9133-F5F8-B749C3BCB172}"/>
              </a:ext>
            </a:extLst>
          </p:cNvPr>
          <p:cNvSpPr txBox="1"/>
          <p:nvPr/>
        </p:nvSpPr>
        <p:spPr>
          <a:xfrm>
            <a:off x="7672201" y="2524080"/>
            <a:ext cx="1318485" cy="892552"/>
          </a:xfrm>
          <a:prstGeom prst="rect">
            <a:avLst/>
          </a:prstGeom>
          <a:noFill/>
        </p:spPr>
        <p:txBody>
          <a:bodyPr wrap="square" rtlCol="0">
            <a:spAutoFit/>
          </a:bodyPr>
          <a:lstStyle/>
          <a:p>
            <a:pPr lvl="1"/>
            <a:r>
              <a:rPr lang="en-US" sz="650" dirty="0">
                <a:latin typeface="Calibri" panose="020F0502020204030204" pitchFamily="34" charset="0"/>
                <a:ea typeface="Calibri" panose="020F0502020204030204" pitchFamily="34" charset="0"/>
                <a:cs typeface="Calibri" panose="020F0502020204030204" pitchFamily="34" charset="0"/>
              </a:rPr>
              <a:t>Lastly, I used a regex pattern to filter IT-related job titles like "developer" and "data," ensuring the analysis focused on IT roles relevant to my research question.</a:t>
            </a:r>
          </a:p>
          <a:p>
            <a:pPr lvl="1"/>
            <a:endParaRPr lang="en-US" sz="650" dirty="0">
              <a:latin typeface="Calibri" panose="020F0502020204030204" pitchFamily="34" charset="0"/>
              <a:ea typeface="Calibri" panose="020F0502020204030204" pitchFamily="34" charset="0"/>
              <a:cs typeface="Calibri" panose="020F0502020204030204" pitchFamily="34" charset="0"/>
            </a:endParaRPr>
          </a:p>
          <a:p>
            <a:pPr lvl="1"/>
            <a:r>
              <a:rPr lang="en-US" sz="650" dirty="0">
                <a:latin typeface="Calibri" panose="020F0502020204030204" pitchFamily="34" charset="0"/>
                <a:ea typeface="Calibri" panose="020F0502020204030204" pitchFamily="34" charset="0"/>
                <a:cs typeface="Calibri" panose="020F0502020204030204" pitchFamily="34" charset="0"/>
              </a:rPr>
              <a:t>This is the end of My Pandas Data Analysis!</a:t>
            </a:r>
            <a:endParaRPr lang="en-SG" sz="650" dirty="0">
              <a:latin typeface="Calibri" panose="020F0502020204030204" pitchFamily="34" charset="0"/>
              <a:ea typeface="Calibri" panose="020F0502020204030204" pitchFamily="34" charset="0"/>
              <a:cs typeface="Calibri" panose="020F0502020204030204" pitchFamily="34" charset="0"/>
            </a:endParaRPr>
          </a:p>
        </p:txBody>
      </p:sp>
      <p:sp>
        <p:nvSpPr>
          <p:cNvPr id="45" name="TextBox 44">
            <a:extLst>
              <a:ext uri="{FF2B5EF4-FFF2-40B4-BE49-F238E27FC236}">
                <a16:creationId xmlns:a16="http://schemas.microsoft.com/office/drawing/2014/main" id="{9EA854D3-3086-2910-F05F-533ED228726A}"/>
              </a:ext>
            </a:extLst>
          </p:cNvPr>
          <p:cNvSpPr txBox="1"/>
          <p:nvPr/>
        </p:nvSpPr>
        <p:spPr>
          <a:xfrm>
            <a:off x="8140133" y="3263962"/>
            <a:ext cx="1066886" cy="215444"/>
          </a:xfrm>
          <a:prstGeom prst="rect">
            <a:avLst/>
          </a:prstGeom>
          <a:noFill/>
        </p:spPr>
        <p:txBody>
          <a:bodyPr wrap="square" rtlCol="0">
            <a:spAutoFit/>
          </a:bodyPr>
          <a:lstStyle/>
          <a:p>
            <a:pPr algn="ctr"/>
            <a:r>
              <a:rPr lang="en-SG" sz="800" b="1" u="sng" dirty="0">
                <a:latin typeface="Book Antiqua" panose="02040602050305030304" pitchFamily="18" charset="0"/>
              </a:rPr>
              <a:t>Regex Matching</a:t>
            </a:r>
          </a:p>
        </p:txBody>
      </p:sp>
      <p:pic>
        <p:nvPicPr>
          <p:cNvPr id="47" name="Graphic 46" descr="Badge 4 with solid fill">
            <a:extLst>
              <a:ext uri="{FF2B5EF4-FFF2-40B4-BE49-F238E27FC236}">
                <a16:creationId xmlns:a16="http://schemas.microsoft.com/office/drawing/2014/main" id="{A3899E8F-D115-5AE7-EF20-7AF4ABBCB020}"/>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852912" y="2423144"/>
            <a:ext cx="297212" cy="297212"/>
          </a:xfrm>
          <a:prstGeom prst="rect">
            <a:avLst/>
          </a:prstGeom>
        </p:spPr>
      </p:pic>
    </p:spTree>
    <p:extLst>
      <p:ext uri="{BB962C8B-B14F-4D97-AF65-F5344CB8AC3E}">
        <p14:creationId xmlns:p14="http://schemas.microsoft.com/office/powerpoint/2010/main" val="2564999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A1BD4-736F-ECCC-F2BE-F84CE27FA711}"/>
              </a:ext>
            </a:extLst>
          </p:cNvPr>
          <p:cNvSpPr>
            <a:spLocks noGrp="1"/>
          </p:cNvSpPr>
          <p:nvPr>
            <p:ph type="title"/>
          </p:nvPr>
        </p:nvSpPr>
        <p:spPr>
          <a:xfrm>
            <a:off x="713249" y="121838"/>
            <a:ext cx="7717500" cy="453900"/>
          </a:xfrm>
        </p:spPr>
        <p:txBody>
          <a:bodyPr/>
          <a:lstStyle/>
          <a:p>
            <a:r>
              <a:rPr lang="en-SG" sz="2400" dirty="0">
                <a:latin typeface="Calibri" panose="020F0502020204030204" pitchFamily="34" charset="0"/>
                <a:ea typeface="Calibri" panose="020F0502020204030204" pitchFamily="34" charset="0"/>
                <a:cs typeface="Calibri" panose="020F0502020204030204" pitchFamily="34" charset="0"/>
              </a:rPr>
              <a:t>Final DataFrame Overview</a:t>
            </a:r>
          </a:p>
        </p:txBody>
      </p:sp>
      <p:graphicFrame>
        <p:nvGraphicFramePr>
          <p:cNvPr id="3" name="Table 2">
            <a:extLst>
              <a:ext uri="{FF2B5EF4-FFF2-40B4-BE49-F238E27FC236}">
                <a16:creationId xmlns:a16="http://schemas.microsoft.com/office/drawing/2014/main" id="{5070ADF6-F0DE-137E-CD5F-794702BA6084}"/>
              </a:ext>
            </a:extLst>
          </p:cNvPr>
          <p:cNvGraphicFramePr>
            <a:graphicFrameLocks noGrp="1"/>
          </p:cNvGraphicFramePr>
          <p:nvPr>
            <p:extLst>
              <p:ext uri="{D42A27DB-BD31-4B8C-83A1-F6EECF244321}">
                <p14:modId xmlns:p14="http://schemas.microsoft.com/office/powerpoint/2010/main" val="1498301475"/>
              </p:ext>
            </p:extLst>
          </p:nvPr>
        </p:nvGraphicFramePr>
        <p:xfrm>
          <a:off x="260689" y="677898"/>
          <a:ext cx="8622621" cy="4206240"/>
        </p:xfrm>
        <a:graphic>
          <a:graphicData uri="http://schemas.openxmlformats.org/drawingml/2006/table">
            <a:tbl>
              <a:tblPr firstRow="1" bandRow="1">
                <a:tableStyleId>{3C2FFA5D-87B4-456A-9821-1D502468CF0F}</a:tableStyleId>
              </a:tblPr>
              <a:tblGrid>
                <a:gridCol w="2028580">
                  <a:extLst>
                    <a:ext uri="{9D8B030D-6E8A-4147-A177-3AD203B41FA5}">
                      <a16:colId xmlns:a16="http://schemas.microsoft.com/office/drawing/2014/main" val="2556865873"/>
                    </a:ext>
                  </a:extLst>
                </a:gridCol>
                <a:gridCol w="3415772">
                  <a:extLst>
                    <a:ext uri="{9D8B030D-6E8A-4147-A177-3AD203B41FA5}">
                      <a16:colId xmlns:a16="http://schemas.microsoft.com/office/drawing/2014/main" val="3847401948"/>
                    </a:ext>
                  </a:extLst>
                </a:gridCol>
                <a:gridCol w="3178269">
                  <a:extLst>
                    <a:ext uri="{9D8B030D-6E8A-4147-A177-3AD203B41FA5}">
                      <a16:colId xmlns:a16="http://schemas.microsoft.com/office/drawing/2014/main" val="425026615"/>
                    </a:ext>
                  </a:extLst>
                </a:gridCol>
              </a:tblGrid>
              <a:tr h="241539">
                <a:tc>
                  <a:txBody>
                    <a:bodyPr/>
                    <a:lstStyle/>
                    <a:p>
                      <a:pPr algn="ctr"/>
                      <a:r>
                        <a:rPr lang="en-SG" sz="1200" dirty="0">
                          <a:latin typeface="Book Antiqua" panose="02040602050305030304" pitchFamily="18" charset="0"/>
                          <a:ea typeface="Calibri" panose="020F0502020204030204" pitchFamily="34" charset="0"/>
                          <a:cs typeface="Calibri" panose="020F0502020204030204" pitchFamily="34" charset="0"/>
                        </a:rPr>
                        <a:t>Column Name</a:t>
                      </a:r>
                    </a:p>
                  </a:txBody>
                  <a:tcPr/>
                </a:tc>
                <a:tc>
                  <a:txBody>
                    <a:bodyPr/>
                    <a:lstStyle/>
                    <a:p>
                      <a:pPr algn="ctr"/>
                      <a:r>
                        <a:rPr lang="en-SG" sz="1200" dirty="0">
                          <a:latin typeface="Book Antiqua" panose="02040602050305030304" pitchFamily="18" charset="0"/>
                          <a:ea typeface="Calibri" panose="020F0502020204030204" pitchFamily="34" charset="0"/>
                          <a:cs typeface="Calibri" panose="020F0502020204030204" pitchFamily="34" charset="0"/>
                        </a:rPr>
                        <a:t>Description</a:t>
                      </a:r>
                    </a:p>
                  </a:txBody>
                  <a:tcPr/>
                </a:tc>
                <a:tc>
                  <a:txBody>
                    <a:bodyPr/>
                    <a:lstStyle/>
                    <a:p>
                      <a:pPr algn="ctr"/>
                      <a:r>
                        <a:rPr lang="en-SG" sz="1200" dirty="0">
                          <a:latin typeface="Book Antiqua" panose="02040602050305030304" pitchFamily="18" charset="0"/>
                          <a:ea typeface="Calibri" panose="020F0502020204030204" pitchFamily="34" charset="0"/>
                          <a:cs typeface="Calibri" panose="020F0502020204030204" pitchFamily="34" charset="0"/>
                        </a:rPr>
                        <a:t>Relevance to Research Question</a:t>
                      </a:r>
                    </a:p>
                  </a:txBody>
                  <a:tcPr/>
                </a:tc>
                <a:extLst>
                  <a:ext uri="{0D108BD9-81ED-4DB2-BD59-A6C34878D82A}">
                    <a16:rowId xmlns:a16="http://schemas.microsoft.com/office/drawing/2014/main" val="15693486"/>
                  </a:ext>
                </a:extLst>
              </a:tr>
              <a:tr h="214702">
                <a:tc>
                  <a:txBody>
                    <a:bodyPr/>
                    <a:lstStyle/>
                    <a:p>
                      <a:pPr algn="ctr"/>
                      <a:r>
                        <a:rPr lang="en-SG" sz="1000" dirty="0">
                          <a:latin typeface="Calibri" panose="020F0502020204030204" pitchFamily="34" charset="0"/>
                          <a:ea typeface="Calibri" panose="020F0502020204030204" pitchFamily="34" charset="0"/>
                          <a:cs typeface="Calibri" panose="020F0502020204030204" pitchFamily="34" charset="0"/>
                        </a:rPr>
                        <a:t>company_name</a:t>
                      </a:r>
                    </a:p>
                  </a:txBody>
                  <a:tcPr/>
                </a:tc>
                <a:tc>
                  <a:txBody>
                    <a:bodyPr/>
                    <a:lstStyle/>
                    <a:p>
                      <a:pPr algn="ctr"/>
                      <a:r>
                        <a:rPr lang="en-US" sz="1000" dirty="0">
                          <a:latin typeface="Calibri" panose="020F0502020204030204" pitchFamily="34" charset="0"/>
                          <a:ea typeface="Calibri" panose="020F0502020204030204" pitchFamily="34" charset="0"/>
                          <a:cs typeface="Calibri" panose="020F0502020204030204" pitchFamily="34" charset="0"/>
                        </a:rPr>
                        <a:t>Name of the company posting the job</a:t>
                      </a:r>
                      <a:endParaRPr lang="en-SG" sz="10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sz="1000" dirty="0">
                          <a:latin typeface="Calibri" panose="020F0502020204030204" pitchFamily="34" charset="0"/>
                          <a:ea typeface="Calibri" panose="020F0502020204030204" pitchFamily="34" charset="0"/>
                          <a:cs typeface="Calibri" panose="020F0502020204030204" pitchFamily="34" charset="0"/>
                        </a:rPr>
                        <a:t>Identifies key employers and hiring trends across regions.</a:t>
                      </a:r>
                      <a:endParaRPr lang="en-SG" sz="10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711198210"/>
                  </a:ext>
                </a:extLst>
              </a:tr>
              <a:tr h="214702">
                <a:tc>
                  <a:txBody>
                    <a:bodyPr/>
                    <a:lstStyle/>
                    <a:p>
                      <a:pPr algn="ctr"/>
                      <a:r>
                        <a:rPr lang="en-SG" sz="1000" dirty="0">
                          <a:latin typeface="Calibri" panose="020F0502020204030204" pitchFamily="34" charset="0"/>
                          <a:ea typeface="Calibri" panose="020F0502020204030204" pitchFamily="34" charset="0"/>
                          <a:cs typeface="Calibri" panose="020F0502020204030204" pitchFamily="34" charset="0"/>
                        </a:rPr>
                        <a:t>title</a:t>
                      </a:r>
                    </a:p>
                  </a:txBody>
                  <a:tcPr/>
                </a:tc>
                <a:tc>
                  <a:txBody>
                    <a:bodyPr/>
                    <a:lstStyle/>
                    <a:p>
                      <a:pPr algn="ctr"/>
                      <a:r>
                        <a:rPr lang="en-US" sz="1000" dirty="0">
                          <a:latin typeface="Calibri" panose="020F0502020204030204" pitchFamily="34" charset="0"/>
                          <a:ea typeface="Calibri" panose="020F0502020204030204" pitchFamily="34" charset="0"/>
                          <a:cs typeface="Calibri" panose="020F0502020204030204" pitchFamily="34" charset="0"/>
                        </a:rPr>
                        <a:t>Job title of the posting</a:t>
                      </a:r>
                      <a:endParaRPr lang="en-SG" sz="10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sz="1000" dirty="0">
                          <a:latin typeface="Calibri" panose="020F0502020204030204" pitchFamily="34" charset="0"/>
                          <a:ea typeface="Calibri" panose="020F0502020204030204" pitchFamily="34" charset="0"/>
                          <a:cs typeface="Calibri" panose="020F0502020204030204" pitchFamily="34" charset="0"/>
                        </a:rPr>
                        <a:t>Focuses on IT-related roles to filter and analyze trends.</a:t>
                      </a:r>
                      <a:endParaRPr lang="en-SG" sz="10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054036"/>
                  </a:ext>
                </a:extLst>
              </a:tr>
              <a:tr h="348890">
                <a:tc>
                  <a:txBody>
                    <a:bodyPr/>
                    <a:lstStyle/>
                    <a:p>
                      <a:pPr algn="ctr"/>
                      <a:r>
                        <a:rPr lang="en-SG" sz="1000" dirty="0">
                          <a:latin typeface="Calibri" panose="020F0502020204030204" pitchFamily="34" charset="0"/>
                          <a:ea typeface="Calibri" panose="020F0502020204030204" pitchFamily="34" charset="0"/>
                          <a:cs typeface="Calibri" panose="020F0502020204030204" pitchFamily="34" charset="0"/>
                        </a:rPr>
                        <a:t>description</a:t>
                      </a:r>
                    </a:p>
                  </a:txBody>
                  <a:tcPr/>
                </a:tc>
                <a:tc>
                  <a:txBody>
                    <a:bodyPr/>
                    <a:lstStyle/>
                    <a:p>
                      <a:pPr algn="ctr"/>
                      <a:r>
                        <a:rPr lang="en-US" sz="1000" dirty="0">
                          <a:latin typeface="Calibri" panose="020F0502020204030204" pitchFamily="34" charset="0"/>
                          <a:ea typeface="Calibri" panose="020F0502020204030204" pitchFamily="34" charset="0"/>
                          <a:cs typeface="Calibri" panose="020F0502020204030204" pitchFamily="34" charset="0"/>
                        </a:rPr>
                        <a:t>Detailed description of the job</a:t>
                      </a:r>
                      <a:endParaRPr lang="en-SG" sz="10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sz="1000" dirty="0">
                          <a:latin typeface="Calibri" panose="020F0502020204030204" pitchFamily="34" charset="0"/>
                          <a:ea typeface="Calibri" panose="020F0502020204030204" pitchFamily="34" charset="0"/>
                          <a:cs typeface="Calibri" panose="020F0502020204030204" pitchFamily="34" charset="0"/>
                        </a:rPr>
                        <a:t>Provides insights into required skills and responsibilities for IT roles.</a:t>
                      </a:r>
                      <a:endParaRPr lang="en-SG" sz="10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468175168"/>
                  </a:ext>
                </a:extLst>
              </a:tr>
              <a:tr h="214702">
                <a:tc>
                  <a:txBody>
                    <a:bodyPr/>
                    <a:lstStyle/>
                    <a:p>
                      <a:pPr algn="ctr"/>
                      <a:r>
                        <a:rPr lang="en-SG" sz="1000" dirty="0">
                          <a:latin typeface="Calibri" panose="020F0502020204030204" pitchFamily="34" charset="0"/>
                          <a:ea typeface="Calibri" panose="020F0502020204030204" pitchFamily="34" charset="0"/>
                          <a:cs typeface="Calibri" panose="020F0502020204030204" pitchFamily="34" charset="0"/>
                        </a:rPr>
                        <a:t>max_salary</a:t>
                      </a:r>
                    </a:p>
                  </a:txBody>
                  <a:tcPr/>
                </a:tc>
                <a:tc>
                  <a:txBody>
                    <a:bodyPr/>
                    <a:lstStyle/>
                    <a:p>
                      <a:pPr algn="ctr"/>
                      <a:r>
                        <a:rPr lang="en-US" sz="1000" dirty="0">
                          <a:latin typeface="Calibri" panose="020F0502020204030204" pitchFamily="34" charset="0"/>
                          <a:ea typeface="Calibri" panose="020F0502020204030204" pitchFamily="34" charset="0"/>
                          <a:cs typeface="Calibri" panose="020F0502020204030204" pitchFamily="34" charset="0"/>
                        </a:rPr>
                        <a:t>Maximum salary offered for the role</a:t>
                      </a:r>
                      <a:endParaRPr lang="en-SG" sz="10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sz="1000" dirty="0">
                          <a:latin typeface="Calibri" panose="020F0502020204030204" pitchFamily="34" charset="0"/>
                          <a:ea typeface="Calibri" panose="020F0502020204030204" pitchFamily="34" charset="0"/>
                          <a:cs typeface="Calibri" panose="020F0502020204030204" pitchFamily="34" charset="0"/>
                        </a:rPr>
                        <a:t>Used to analyse salary ranges geographically.</a:t>
                      </a:r>
                      <a:endParaRPr lang="en-SG" sz="10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4103228594"/>
                  </a:ext>
                </a:extLst>
              </a:tr>
              <a:tr h="348890">
                <a:tc>
                  <a:txBody>
                    <a:bodyPr/>
                    <a:lstStyle/>
                    <a:p>
                      <a:pPr algn="ctr"/>
                      <a:r>
                        <a:rPr lang="en-SG" sz="1000" dirty="0" err="1">
                          <a:latin typeface="Calibri" panose="020F0502020204030204" pitchFamily="34" charset="0"/>
                          <a:ea typeface="Calibri" panose="020F0502020204030204" pitchFamily="34" charset="0"/>
                          <a:cs typeface="Calibri" panose="020F0502020204030204" pitchFamily="34" charset="0"/>
                        </a:rPr>
                        <a:t>pay_period</a:t>
                      </a:r>
                      <a:endParaRPr lang="en-SG" sz="10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sz="1000" dirty="0">
                          <a:latin typeface="Calibri" panose="020F0502020204030204" pitchFamily="34" charset="0"/>
                          <a:ea typeface="Calibri" panose="020F0502020204030204" pitchFamily="34" charset="0"/>
                          <a:cs typeface="Calibri" panose="020F0502020204030204" pitchFamily="34" charset="0"/>
                        </a:rPr>
                        <a:t>Salary frequency (e.g., hourly, yearly)</a:t>
                      </a:r>
                      <a:endParaRPr lang="en-SG" sz="10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sz="10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Helps compare salaries across different locations and roles.</a:t>
                      </a:r>
                      <a:endParaRPr lang="en-SG" sz="10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endParaRPr>
                    </a:p>
                  </a:txBody>
                  <a:tcPr/>
                </a:tc>
                <a:extLst>
                  <a:ext uri="{0D108BD9-81ED-4DB2-BD59-A6C34878D82A}">
                    <a16:rowId xmlns:a16="http://schemas.microsoft.com/office/drawing/2014/main" val="3744903625"/>
                  </a:ext>
                </a:extLst>
              </a:tr>
              <a:tr h="214702">
                <a:tc>
                  <a:txBody>
                    <a:bodyPr/>
                    <a:lstStyle/>
                    <a:p>
                      <a:pPr algn="ctr"/>
                      <a:r>
                        <a:rPr lang="en-SG" sz="1000" dirty="0">
                          <a:latin typeface="Calibri" panose="020F0502020204030204" pitchFamily="34" charset="0"/>
                          <a:ea typeface="Calibri" panose="020F0502020204030204" pitchFamily="34" charset="0"/>
                          <a:cs typeface="Calibri" panose="020F0502020204030204" pitchFamily="34" charset="0"/>
                        </a:rPr>
                        <a:t>location</a:t>
                      </a:r>
                    </a:p>
                  </a:txBody>
                  <a:tcPr/>
                </a:tc>
                <a:tc>
                  <a:txBody>
                    <a:bodyPr/>
                    <a:lstStyle/>
                    <a:p>
                      <a:pPr algn="ctr"/>
                      <a:r>
                        <a:rPr lang="en-US" sz="1000" dirty="0">
                          <a:latin typeface="Calibri" panose="020F0502020204030204" pitchFamily="34" charset="0"/>
                          <a:ea typeface="Calibri" panose="020F0502020204030204" pitchFamily="34" charset="0"/>
                          <a:cs typeface="Calibri" panose="020F0502020204030204" pitchFamily="34" charset="0"/>
                        </a:rPr>
                        <a:t>Geographic location of the job posting</a:t>
                      </a:r>
                      <a:endParaRPr lang="en-SG" sz="10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sz="1000" dirty="0">
                          <a:latin typeface="Calibri" panose="020F0502020204030204" pitchFamily="34" charset="0"/>
                          <a:ea typeface="Calibri" panose="020F0502020204030204" pitchFamily="34" charset="0"/>
                          <a:cs typeface="Calibri" panose="020F0502020204030204" pitchFamily="34" charset="0"/>
                        </a:rPr>
                        <a:t>Core to identifying regional hiring trends.</a:t>
                      </a:r>
                      <a:endParaRPr lang="en-SG" sz="10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068234395"/>
                  </a:ext>
                </a:extLst>
              </a:tr>
              <a:tr h="214702">
                <a:tc>
                  <a:txBody>
                    <a:bodyPr/>
                    <a:lstStyle/>
                    <a:p>
                      <a:pPr algn="ctr"/>
                      <a:r>
                        <a:rPr lang="en-SG" sz="1000" dirty="0">
                          <a:latin typeface="Calibri" panose="020F0502020204030204" pitchFamily="34" charset="0"/>
                          <a:ea typeface="Calibri" panose="020F0502020204030204" pitchFamily="34" charset="0"/>
                          <a:cs typeface="Calibri" panose="020F0502020204030204" pitchFamily="34" charset="0"/>
                        </a:rPr>
                        <a:t>views</a:t>
                      </a:r>
                    </a:p>
                  </a:txBody>
                  <a:tcPr/>
                </a:tc>
                <a:tc>
                  <a:txBody>
                    <a:bodyPr/>
                    <a:lstStyle/>
                    <a:p>
                      <a:pPr algn="ctr"/>
                      <a:r>
                        <a:rPr lang="en-US" sz="1000" dirty="0">
                          <a:latin typeface="Calibri" panose="020F0502020204030204" pitchFamily="34" charset="0"/>
                          <a:ea typeface="Calibri" panose="020F0502020204030204" pitchFamily="34" charset="0"/>
                          <a:cs typeface="Calibri" panose="020F0502020204030204" pitchFamily="34" charset="0"/>
                        </a:rPr>
                        <a:t>Number of views on the job posting</a:t>
                      </a:r>
                      <a:endParaRPr lang="en-SG" sz="10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sz="1000" dirty="0">
                          <a:latin typeface="Calibri" panose="020F0502020204030204" pitchFamily="34" charset="0"/>
                          <a:ea typeface="Calibri" panose="020F0502020204030204" pitchFamily="34" charset="0"/>
                          <a:cs typeface="Calibri" panose="020F0502020204030204" pitchFamily="34" charset="0"/>
                        </a:rPr>
                        <a:t>Indicates interest/popularity of job roles by location.</a:t>
                      </a:r>
                      <a:endParaRPr lang="en-SG" sz="10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581946605"/>
                  </a:ext>
                </a:extLst>
              </a:tr>
              <a:tr h="348890">
                <a:tc>
                  <a:txBody>
                    <a:bodyPr/>
                    <a:lstStyle/>
                    <a:p>
                      <a:pPr algn="ctr"/>
                      <a:r>
                        <a:rPr lang="en-SG" sz="1000" dirty="0" err="1">
                          <a:latin typeface="Calibri" panose="020F0502020204030204" pitchFamily="34" charset="0"/>
                          <a:ea typeface="Calibri" panose="020F0502020204030204" pitchFamily="34" charset="0"/>
                          <a:cs typeface="Calibri" panose="020F0502020204030204" pitchFamily="34" charset="0"/>
                        </a:rPr>
                        <a:t>med_salary</a:t>
                      </a:r>
                      <a:endParaRPr lang="en-SG" sz="10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sz="1000" dirty="0">
                          <a:latin typeface="Calibri" panose="020F0502020204030204" pitchFamily="34" charset="0"/>
                          <a:ea typeface="Calibri" panose="020F0502020204030204" pitchFamily="34" charset="0"/>
                          <a:cs typeface="Calibri" panose="020F0502020204030204" pitchFamily="34" charset="0"/>
                        </a:rPr>
                        <a:t>Median salary of similar roles</a:t>
                      </a:r>
                      <a:endParaRPr lang="en-SG" sz="10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sz="1000" dirty="0">
                          <a:latin typeface="Calibri" panose="020F0502020204030204" pitchFamily="34" charset="0"/>
                          <a:ea typeface="Calibri" panose="020F0502020204030204" pitchFamily="34" charset="0"/>
                          <a:cs typeface="Calibri" panose="020F0502020204030204" pitchFamily="34" charset="0"/>
                        </a:rPr>
                        <a:t>Complements max_salary to provide a comprehensive view of salary trends.</a:t>
                      </a:r>
                      <a:endParaRPr lang="en-SG" sz="10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589292557"/>
                  </a:ext>
                </a:extLst>
              </a:tr>
              <a:tr h="214702">
                <a:tc>
                  <a:txBody>
                    <a:bodyPr/>
                    <a:lstStyle/>
                    <a:p>
                      <a:pPr algn="ctr"/>
                      <a:r>
                        <a:rPr lang="en-SG" sz="1000" dirty="0" err="1">
                          <a:latin typeface="Calibri" panose="020F0502020204030204" pitchFamily="34" charset="0"/>
                          <a:ea typeface="Calibri" panose="020F0502020204030204" pitchFamily="34" charset="0"/>
                          <a:cs typeface="Calibri" panose="020F0502020204030204" pitchFamily="34" charset="0"/>
                        </a:rPr>
                        <a:t>min_salary</a:t>
                      </a:r>
                      <a:endParaRPr lang="en-SG" sz="10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sz="1000" dirty="0">
                          <a:latin typeface="Calibri" panose="020F0502020204030204" pitchFamily="34" charset="0"/>
                          <a:ea typeface="Calibri" panose="020F0502020204030204" pitchFamily="34" charset="0"/>
                          <a:cs typeface="Calibri" panose="020F0502020204030204" pitchFamily="34" charset="0"/>
                        </a:rPr>
                        <a:t>Minimum salary offered for the role</a:t>
                      </a:r>
                      <a:endParaRPr lang="en-SG" sz="10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sz="1000" dirty="0">
                          <a:latin typeface="Calibri" panose="020F0502020204030204" pitchFamily="34" charset="0"/>
                          <a:ea typeface="Calibri" panose="020F0502020204030204" pitchFamily="34" charset="0"/>
                          <a:cs typeface="Calibri" panose="020F0502020204030204" pitchFamily="34" charset="0"/>
                        </a:rPr>
                        <a:t>Helps compare salary ranges for IT roles.</a:t>
                      </a:r>
                      <a:endParaRPr lang="en-SG" sz="10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7390248"/>
                  </a:ext>
                </a:extLst>
              </a:tr>
              <a:tr h="214702">
                <a:tc>
                  <a:txBody>
                    <a:bodyPr/>
                    <a:lstStyle/>
                    <a:p>
                      <a:pPr algn="ctr"/>
                      <a:r>
                        <a:rPr lang="en-SG" sz="1000" dirty="0" err="1">
                          <a:latin typeface="Calibri" panose="020F0502020204030204" pitchFamily="34" charset="0"/>
                          <a:ea typeface="Calibri" panose="020F0502020204030204" pitchFamily="34" charset="0"/>
                          <a:cs typeface="Calibri" panose="020F0502020204030204" pitchFamily="34" charset="0"/>
                        </a:rPr>
                        <a:t>formatted_work_type</a:t>
                      </a:r>
                      <a:endParaRPr lang="en-SG" sz="10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sz="1000" dirty="0">
                          <a:latin typeface="Calibri" panose="020F0502020204030204" pitchFamily="34" charset="0"/>
                          <a:ea typeface="Calibri" panose="020F0502020204030204" pitchFamily="34" charset="0"/>
                          <a:cs typeface="Calibri" panose="020F0502020204030204" pitchFamily="34" charset="0"/>
                        </a:rPr>
                        <a:t>Work arrangement (e.g., full-time, part-time)</a:t>
                      </a:r>
                      <a:endParaRPr lang="en-SG" sz="10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sz="1000" dirty="0">
                          <a:latin typeface="Calibri" panose="020F0502020204030204" pitchFamily="34" charset="0"/>
                          <a:ea typeface="Calibri" panose="020F0502020204030204" pitchFamily="34" charset="0"/>
                          <a:cs typeface="Calibri" panose="020F0502020204030204" pitchFamily="34" charset="0"/>
                        </a:rPr>
                        <a:t>Highlights employment trends in terms of work types.</a:t>
                      </a:r>
                      <a:endParaRPr lang="en-SG" sz="10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805264211"/>
                  </a:ext>
                </a:extLst>
              </a:tr>
              <a:tr h="214702">
                <a:tc>
                  <a:txBody>
                    <a:bodyPr/>
                    <a:lstStyle/>
                    <a:p>
                      <a:pPr algn="ctr"/>
                      <a:r>
                        <a:rPr lang="en-SG" sz="1000" dirty="0">
                          <a:latin typeface="Calibri" panose="020F0502020204030204" pitchFamily="34" charset="0"/>
                          <a:ea typeface="Calibri" panose="020F0502020204030204" pitchFamily="34" charset="0"/>
                          <a:cs typeface="Calibri" panose="020F0502020204030204" pitchFamily="34" charset="0"/>
                        </a:rPr>
                        <a:t>applies</a:t>
                      </a:r>
                    </a:p>
                  </a:txBody>
                  <a:tcPr/>
                </a:tc>
                <a:tc>
                  <a:txBody>
                    <a:bodyPr/>
                    <a:lstStyle/>
                    <a:p>
                      <a:pPr algn="ctr"/>
                      <a:r>
                        <a:rPr lang="en-SG" sz="1000" dirty="0">
                          <a:latin typeface="Calibri" panose="020F0502020204030204" pitchFamily="34" charset="0"/>
                          <a:ea typeface="Calibri" panose="020F0502020204030204" pitchFamily="34" charset="0"/>
                          <a:cs typeface="Calibri" panose="020F0502020204030204" pitchFamily="34" charset="0"/>
                        </a:rPr>
                        <a:t>Number of applications received</a:t>
                      </a:r>
                    </a:p>
                  </a:txBody>
                  <a:tcPr/>
                </a:tc>
                <a:tc>
                  <a:txBody>
                    <a:bodyPr/>
                    <a:lstStyle/>
                    <a:p>
                      <a:pPr algn="ctr"/>
                      <a:r>
                        <a:rPr lang="en-US" sz="1000" dirty="0">
                          <a:latin typeface="Calibri" panose="020F0502020204030204" pitchFamily="34" charset="0"/>
                          <a:ea typeface="Calibri" panose="020F0502020204030204" pitchFamily="34" charset="0"/>
                          <a:cs typeface="Calibri" panose="020F0502020204030204" pitchFamily="34" charset="0"/>
                        </a:rPr>
                        <a:t>Reflects the demand for IT roles across different regions.</a:t>
                      </a:r>
                      <a:endParaRPr lang="en-SG" sz="10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121869816"/>
                  </a:ext>
                </a:extLst>
              </a:tr>
              <a:tr h="348890">
                <a:tc>
                  <a:txBody>
                    <a:bodyPr/>
                    <a:lstStyle/>
                    <a:p>
                      <a:pPr algn="ctr"/>
                      <a:r>
                        <a:rPr lang="en-SG" sz="1000" dirty="0" err="1">
                          <a:latin typeface="Calibri" panose="020F0502020204030204" pitchFamily="34" charset="0"/>
                          <a:ea typeface="Calibri" panose="020F0502020204030204" pitchFamily="34" charset="0"/>
                          <a:cs typeface="Calibri" panose="020F0502020204030204" pitchFamily="34" charset="0"/>
                        </a:rPr>
                        <a:t>formatted_experience_level</a:t>
                      </a:r>
                      <a:endParaRPr lang="en-SG" sz="10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sz="1000" dirty="0">
                          <a:latin typeface="Calibri" panose="020F0502020204030204" pitchFamily="34" charset="0"/>
                          <a:ea typeface="Calibri" panose="020F0502020204030204" pitchFamily="34" charset="0"/>
                          <a:cs typeface="Calibri" panose="020F0502020204030204" pitchFamily="34" charset="0"/>
                        </a:rPr>
                        <a:t>Experience level required for the role</a:t>
                      </a:r>
                      <a:endParaRPr lang="en-SG" sz="10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sz="1000" dirty="0">
                          <a:latin typeface="Calibri" panose="020F0502020204030204" pitchFamily="34" charset="0"/>
                          <a:ea typeface="Calibri" panose="020F0502020204030204" pitchFamily="34" charset="0"/>
                          <a:cs typeface="Calibri" panose="020F0502020204030204" pitchFamily="34" charset="0"/>
                        </a:rPr>
                        <a:t>Explores trends in experience requirements geographically.</a:t>
                      </a:r>
                      <a:endParaRPr lang="en-SG" sz="10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709812233"/>
                  </a:ext>
                </a:extLst>
              </a:tr>
              <a:tr h="348890">
                <a:tc>
                  <a:txBody>
                    <a:bodyPr/>
                    <a:lstStyle/>
                    <a:p>
                      <a:pPr algn="ctr"/>
                      <a:r>
                        <a:rPr lang="en-SG" sz="1000" dirty="0" err="1">
                          <a:latin typeface="Calibri" panose="020F0502020204030204" pitchFamily="34" charset="0"/>
                          <a:ea typeface="Calibri" panose="020F0502020204030204" pitchFamily="34" charset="0"/>
                          <a:cs typeface="Calibri" panose="020F0502020204030204" pitchFamily="34" charset="0"/>
                        </a:rPr>
                        <a:t>skills_desc</a:t>
                      </a:r>
                      <a:endParaRPr lang="en-SG" sz="10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sz="1000" dirty="0">
                          <a:latin typeface="Calibri" panose="020F0502020204030204" pitchFamily="34" charset="0"/>
                          <a:ea typeface="Calibri" panose="020F0502020204030204" pitchFamily="34" charset="0"/>
                          <a:cs typeface="Calibri" panose="020F0502020204030204" pitchFamily="34" charset="0"/>
                        </a:rPr>
                        <a:t>Required skills for the role</a:t>
                      </a:r>
                      <a:endParaRPr lang="en-SG" sz="10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sz="1000" dirty="0">
                          <a:latin typeface="Calibri" panose="020F0502020204030204" pitchFamily="34" charset="0"/>
                          <a:ea typeface="Calibri" panose="020F0502020204030204" pitchFamily="34" charset="0"/>
                          <a:cs typeface="Calibri" panose="020F0502020204030204" pitchFamily="34" charset="0"/>
                        </a:rPr>
                        <a:t>Identifies skill demands for IT roles and how they vary regionally.</a:t>
                      </a:r>
                      <a:endParaRPr lang="en-SG" sz="10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979871806"/>
                  </a:ext>
                </a:extLst>
              </a:tr>
            </a:tbl>
          </a:graphicData>
        </a:graphic>
      </p:graphicFrame>
    </p:spTree>
    <p:extLst>
      <p:ext uri="{BB962C8B-B14F-4D97-AF65-F5344CB8AC3E}">
        <p14:creationId xmlns:p14="http://schemas.microsoft.com/office/powerpoint/2010/main" val="72223419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7F25B3-69CF-D74C-12DA-1A97166D0D4D}"/>
              </a:ext>
            </a:extLst>
          </p:cNvPr>
          <p:cNvSpPr>
            <a:spLocks noGrp="1"/>
          </p:cNvSpPr>
          <p:nvPr>
            <p:ph type="ctrTitle"/>
          </p:nvPr>
        </p:nvSpPr>
        <p:spPr>
          <a:xfrm>
            <a:off x="713225" y="2463395"/>
            <a:ext cx="3862500" cy="1385100"/>
          </a:xfrm>
        </p:spPr>
        <p:txBody>
          <a:bodyPr/>
          <a:lstStyle/>
          <a:p>
            <a:r>
              <a:rPr lang="en-SG" sz="3200" b="1" dirty="0">
                <a:latin typeface="Book Antiqua" panose="02040602050305030304" pitchFamily="18" charset="0"/>
              </a:rPr>
              <a:t>Data Visualisation With MatPlotLib</a:t>
            </a:r>
          </a:p>
        </p:txBody>
      </p:sp>
      <p:sp>
        <p:nvSpPr>
          <p:cNvPr id="4" name="Subtitle 3">
            <a:extLst>
              <a:ext uri="{FF2B5EF4-FFF2-40B4-BE49-F238E27FC236}">
                <a16:creationId xmlns:a16="http://schemas.microsoft.com/office/drawing/2014/main" id="{6B756400-3059-B52E-CC73-AF67A358EBA1}"/>
              </a:ext>
            </a:extLst>
          </p:cNvPr>
          <p:cNvSpPr>
            <a:spLocks noGrp="1"/>
          </p:cNvSpPr>
          <p:nvPr>
            <p:ph type="subTitle" idx="1"/>
          </p:nvPr>
        </p:nvSpPr>
        <p:spPr>
          <a:xfrm>
            <a:off x="589400" y="3848495"/>
            <a:ext cx="5163700" cy="405000"/>
          </a:xfrm>
        </p:spPr>
        <p:txBody>
          <a:bodyPr/>
          <a:lstStyle/>
          <a:p>
            <a:r>
              <a:rPr lang="en-SG" sz="1200" dirty="0"/>
              <a:t>Let’s Visualise The Data To Answer Our Research Question!</a:t>
            </a:r>
            <a:endParaRPr lang="en-SG" dirty="0"/>
          </a:p>
        </p:txBody>
      </p:sp>
      <p:pic>
        <p:nvPicPr>
          <p:cNvPr id="8" name="Graphic 7">
            <a:extLst>
              <a:ext uri="{FF2B5EF4-FFF2-40B4-BE49-F238E27FC236}">
                <a16:creationId xmlns:a16="http://schemas.microsoft.com/office/drawing/2014/main" id="{5FD33C78-12AA-9C6B-610A-B8FA6143674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71913" y="1104505"/>
            <a:ext cx="4429125" cy="1062990"/>
          </a:xfrm>
          <a:prstGeom prst="rect">
            <a:avLst/>
          </a:prstGeom>
        </p:spPr>
      </p:pic>
    </p:spTree>
    <p:extLst>
      <p:ext uri="{BB962C8B-B14F-4D97-AF65-F5344CB8AC3E}">
        <p14:creationId xmlns:p14="http://schemas.microsoft.com/office/powerpoint/2010/main" val="8727933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5C97A7E-F33E-D3D3-CD44-8608BCDFBB2F}"/>
              </a:ext>
            </a:extLst>
          </p:cNvPr>
          <p:cNvSpPr/>
          <p:nvPr/>
        </p:nvSpPr>
        <p:spPr>
          <a:xfrm>
            <a:off x="6015987" y="841639"/>
            <a:ext cx="3013711" cy="1573814"/>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SG"/>
          </a:p>
        </p:txBody>
      </p:sp>
      <p:sp>
        <p:nvSpPr>
          <p:cNvPr id="2" name="Title 1">
            <a:extLst>
              <a:ext uri="{FF2B5EF4-FFF2-40B4-BE49-F238E27FC236}">
                <a16:creationId xmlns:a16="http://schemas.microsoft.com/office/drawing/2014/main" id="{6C19322A-2C0F-65A8-A8AC-5AC7AA37DF97}"/>
              </a:ext>
            </a:extLst>
          </p:cNvPr>
          <p:cNvSpPr>
            <a:spLocks noGrp="1"/>
          </p:cNvSpPr>
          <p:nvPr>
            <p:ph type="title"/>
          </p:nvPr>
        </p:nvSpPr>
        <p:spPr>
          <a:xfrm>
            <a:off x="684177" y="181116"/>
            <a:ext cx="7717500" cy="453900"/>
          </a:xfrm>
        </p:spPr>
        <p:txBody>
          <a:bodyPr/>
          <a:lstStyle/>
          <a:p>
            <a:r>
              <a:rPr lang="en-SG" sz="2400" dirty="0">
                <a:latin typeface="Calibri" panose="020F0502020204030204" pitchFamily="34" charset="0"/>
                <a:ea typeface="Calibri" panose="020F0502020204030204" pitchFamily="34" charset="0"/>
                <a:cs typeface="Calibri" panose="020F0502020204030204" pitchFamily="34" charset="0"/>
              </a:rPr>
              <a:t>Data Visualisation: Pie Chart &amp; Bar Chart</a:t>
            </a:r>
          </a:p>
        </p:txBody>
      </p:sp>
      <p:pic>
        <p:nvPicPr>
          <p:cNvPr id="4" name="Picture 3">
            <a:extLst>
              <a:ext uri="{FF2B5EF4-FFF2-40B4-BE49-F238E27FC236}">
                <a16:creationId xmlns:a16="http://schemas.microsoft.com/office/drawing/2014/main" id="{0E69B5D3-A6AB-DEC1-4E19-242C707B26FA}"/>
              </a:ext>
            </a:extLst>
          </p:cNvPr>
          <p:cNvPicPr>
            <a:picLocks noChangeAspect="1"/>
          </p:cNvPicPr>
          <p:nvPr/>
        </p:nvPicPr>
        <p:blipFill>
          <a:blip r:embed="rId2"/>
          <a:stretch>
            <a:fillRect/>
          </a:stretch>
        </p:blipFill>
        <p:spPr>
          <a:xfrm>
            <a:off x="309556" y="826166"/>
            <a:ext cx="1430542" cy="1066569"/>
          </a:xfrm>
          <a:prstGeom prst="rect">
            <a:avLst/>
          </a:prstGeom>
        </p:spPr>
      </p:pic>
      <p:pic>
        <p:nvPicPr>
          <p:cNvPr id="6" name="Picture 5">
            <a:extLst>
              <a:ext uri="{FF2B5EF4-FFF2-40B4-BE49-F238E27FC236}">
                <a16:creationId xmlns:a16="http://schemas.microsoft.com/office/drawing/2014/main" id="{CA3FD826-E193-9BB0-E5D8-E96193CBA906}"/>
              </a:ext>
            </a:extLst>
          </p:cNvPr>
          <p:cNvPicPr>
            <a:picLocks noChangeAspect="1"/>
          </p:cNvPicPr>
          <p:nvPr/>
        </p:nvPicPr>
        <p:blipFill>
          <a:blip r:embed="rId3"/>
          <a:stretch>
            <a:fillRect/>
          </a:stretch>
        </p:blipFill>
        <p:spPr>
          <a:xfrm>
            <a:off x="1848509" y="832909"/>
            <a:ext cx="1430542" cy="1066568"/>
          </a:xfrm>
          <a:prstGeom prst="rect">
            <a:avLst/>
          </a:prstGeom>
        </p:spPr>
      </p:pic>
      <p:pic>
        <p:nvPicPr>
          <p:cNvPr id="8" name="Picture 7">
            <a:extLst>
              <a:ext uri="{FF2B5EF4-FFF2-40B4-BE49-F238E27FC236}">
                <a16:creationId xmlns:a16="http://schemas.microsoft.com/office/drawing/2014/main" id="{74ED8B43-487E-DAF9-F434-CF9993A97912}"/>
              </a:ext>
            </a:extLst>
          </p:cNvPr>
          <p:cNvPicPr>
            <a:picLocks noChangeAspect="1"/>
          </p:cNvPicPr>
          <p:nvPr/>
        </p:nvPicPr>
        <p:blipFill>
          <a:blip r:embed="rId4"/>
          <a:stretch>
            <a:fillRect/>
          </a:stretch>
        </p:blipFill>
        <p:spPr>
          <a:xfrm>
            <a:off x="428612" y="1899477"/>
            <a:ext cx="1311486" cy="1339111"/>
          </a:xfrm>
          <a:prstGeom prst="rect">
            <a:avLst/>
          </a:prstGeom>
        </p:spPr>
      </p:pic>
      <p:sp>
        <p:nvSpPr>
          <p:cNvPr id="9" name="TextBox 8">
            <a:extLst>
              <a:ext uri="{FF2B5EF4-FFF2-40B4-BE49-F238E27FC236}">
                <a16:creationId xmlns:a16="http://schemas.microsoft.com/office/drawing/2014/main" id="{A3BFFEF0-D7C1-2292-760E-2EC0E161CF64}"/>
              </a:ext>
            </a:extLst>
          </p:cNvPr>
          <p:cNvSpPr txBox="1"/>
          <p:nvPr/>
        </p:nvSpPr>
        <p:spPr>
          <a:xfrm>
            <a:off x="6429518" y="674909"/>
            <a:ext cx="2830833" cy="200055"/>
          </a:xfrm>
          <a:prstGeom prst="rect">
            <a:avLst/>
          </a:prstGeom>
          <a:noFill/>
        </p:spPr>
        <p:txBody>
          <a:bodyPr wrap="square" rtlCol="0">
            <a:spAutoFit/>
          </a:bodyPr>
          <a:lstStyle/>
          <a:p>
            <a:r>
              <a:rPr lang="en-SG" sz="700" b="1" u="sng" dirty="0">
                <a:latin typeface="Book Antiqua" panose="02040602050305030304" pitchFamily="18" charset="0"/>
              </a:rPr>
              <a:t>Pie chart of </a:t>
            </a:r>
            <a:r>
              <a:rPr lang="en-SG" sz="700" b="1" u="sng" dirty="0">
                <a:solidFill>
                  <a:schemeClr val="tx2"/>
                </a:solidFill>
                <a:latin typeface="Book Antiqua" panose="02040602050305030304" pitchFamily="18" charset="0"/>
              </a:rPr>
              <a:t>Most Requested IT-Related Skills in Job Postings</a:t>
            </a:r>
          </a:p>
        </p:txBody>
      </p:sp>
      <p:pic>
        <p:nvPicPr>
          <p:cNvPr id="11" name="Picture 10">
            <a:extLst>
              <a:ext uri="{FF2B5EF4-FFF2-40B4-BE49-F238E27FC236}">
                <a16:creationId xmlns:a16="http://schemas.microsoft.com/office/drawing/2014/main" id="{52F76CD7-EFF2-5EF5-AB00-2B75753043FF}"/>
              </a:ext>
            </a:extLst>
          </p:cNvPr>
          <p:cNvPicPr>
            <a:picLocks noChangeAspect="1"/>
          </p:cNvPicPr>
          <p:nvPr/>
        </p:nvPicPr>
        <p:blipFill>
          <a:blip r:embed="rId5"/>
          <a:stretch>
            <a:fillRect/>
          </a:stretch>
        </p:blipFill>
        <p:spPr>
          <a:xfrm>
            <a:off x="1896997" y="1885989"/>
            <a:ext cx="1382054" cy="685761"/>
          </a:xfrm>
          <a:prstGeom prst="rect">
            <a:avLst/>
          </a:prstGeom>
        </p:spPr>
      </p:pic>
      <p:pic>
        <p:nvPicPr>
          <p:cNvPr id="13" name="Picture 12">
            <a:extLst>
              <a:ext uri="{FF2B5EF4-FFF2-40B4-BE49-F238E27FC236}">
                <a16:creationId xmlns:a16="http://schemas.microsoft.com/office/drawing/2014/main" id="{9DEDDCC3-033D-DD3F-72F7-053D97B4EA68}"/>
              </a:ext>
            </a:extLst>
          </p:cNvPr>
          <p:cNvPicPr>
            <a:picLocks noChangeAspect="1"/>
          </p:cNvPicPr>
          <p:nvPr/>
        </p:nvPicPr>
        <p:blipFill>
          <a:blip r:embed="rId6"/>
          <a:stretch>
            <a:fillRect/>
          </a:stretch>
        </p:blipFill>
        <p:spPr>
          <a:xfrm>
            <a:off x="1922035" y="2598649"/>
            <a:ext cx="1357016" cy="639939"/>
          </a:xfrm>
          <a:prstGeom prst="rect">
            <a:avLst/>
          </a:prstGeom>
        </p:spPr>
      </p:pic>
      <p:sp>
        <p:nvSpPr>
          <p:cNvPr id="14" name="Oval 13">
            <a:extLst>
              <a:ext uri="{FF2B5EF4-FFF2-40B4-BE49-F238E27FC236}">
                <a16:creationId xmlns:a16="http://schemas.microsoft.com/office/drawing/2014/main" id="{35D7413E-AB66-99C8-58A7-645932732AF0}"/>
              </a:ext>
            </a:extLst>
          </p:cNvPr>
          <p:cNvSpPr/>
          <p:nvPr/>
        </p:nvSpPr>
        <p:spPr>
          <a:xfrm>
            <a:off x="2278856" y="1300163"/>
            <a:ext cx="704850" cy="453900"/>
          </a:xfrm>
          <a:prstGeom prst="ellipse">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 name="Oval 14">
            <a:extLst>
              <a:ext uri="{FF2B5EF4-FFF2-40B4-BE49-F238E27FC236}">
                <a16:creationId xmlns:a16="http://schemas.microsoft.com/office/drawing/2014/main" id="{75C4DDAC-BBDD-86F6-EB10-FFBBF4DC4F61}"/>
              </a:ext>
            </a:extLst>
          </p:cNvPr>
          <p:cNvSpPr/>
          <p:nvPr/>
        </p:nvSpPr>
        <p:spPr>
          <a:xfrm>
            <a:off x="802481" y="1481138"/>
            <a:ext cx="554832" cy="333375"/>
          </a:xfrm>
          <a:prstGeom prst="ellipse">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7" name="Straight Connector 16">
            <a:extLst>
              <a:ext uri="{FF2B5EF4-FFF2-40B4-BE49-F238E27FC236}">
                <a16:creationId xmlns:a16="http://schemas.microsoft.com/office/drawing/2014/main" id="{6D6A2F47-AA58-DFAD-E1D3-58917764AAD4}"/>
              </a:ext>
            </a:extLst>
          </p:cNvPr>
          <p:cNvCxnSpPr>
            <a:cxnSpLocks/>
          </p:cNvCxnSpPr>
          <p:nvPr/>
        </p:nvCxnSpPr>
        <p:spPr>
          <a:xfrm flipV="1">
            <a:off x="1079897" y="1238250"/>
            <a:ext cx="205978" cy="2428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B7B07FE-F70C-C70D-64B5-D1DEA950F1C1}"/>
              </a:ext>
            </a:extLst>
          </p:cNvPr>
          <p:cNvCxnSpPr>
            <a:cxnSpLocks/>
          </p:cNvCxnSpPr>
          <p:nvPr/>
        </p:nvCxnSpPr>
        <p:spPr>
          <a:xfrm>
            <a:off x="1275223" y="1242053"/>
            <a:ext cx="1003633" cy="285060"/>
          </a:xfrm>
          <a:prstGeom prst="line">
            <a:avLst/>
          </a:prstGeom>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479C195D-322F-931D-8224-B6230F55A070}"/>
              </a:ext>
            </a:extLst>
          </p:cNvPr>
          <p:cNvSpPr/>
          <p:nvPr/>
        </p:nvSpPr>
        <p:spPr>
          <a:xfrm>
            <a:off x="933450" y="1095277"/>
            <a:ext cx="695326" cy="13380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SG"/>
          </a:p>
        </p:txBody>
      </p:sp>
      <p:sp>
        <p:nvSpPr>
          <p:cNvPr id="23" name="TextBox 22">
            <a:extLst>
              <a:ext uri="{FF2B5EF4-FFF2-40B4-BE49-F238E27FC236}">
                <a16:creationId xmlns:a16="http://schemas.microsoft.com/office/drawing/2014/main" id="{925D4D6D-541E-55DA-9DEA-7A01FF516901}"/>
              </a:ext>
            </a:extLst>
          </p:cNvPr>
          <p:cNvSpPr txBox="1"/>
          <p:nvPr/>
        </p:nvSpPr>
        <p:spPr>
          <a:xfrm>
            <a:off x="882584" y="1067238"/>
            <a:ext cx="1259681" cy="184666"/>
          </a:xfrm>
          <a:prstGeom prst="rect">
            <a:avLst/>
          </a:prstGeom>
          <a:noFill/>
        </p:spPr>
        <p:txBody>
          <a:bodyPr wrap="square" rtlCol="0">
            <a:spAutoFit/>
          </a:bodyPr>
          <a:lstStyle/>
          <a:p>
            <a:r>
              <a:rPr lang="en-SG" sz="600" dirty="0">
                <a:latin typeface="Book Antiqua" panose="02040602050305030304" pitchFamily="18" charset="0"/>
              </a:rPr>
              <a:t>Outliers Detected!</a:t>
            </a:r>
          </a:p>
        </p:txBody>
      </p:sp>
      <p:pic>
        <p:nvPicPr>
          <p:cNvPr id="25" name="Picture 24">
            <a:extLst>
              <a:ext uri="{FF2B5EF4-FFF2-40B4-BE49-F238E27FC236}">
                <a16:creationId xmlns:a16="http://schemas.microsoft.com/office/drawing/2014/main" id="{2C577EBC-F831-496F-AEC5-53A546341263}"/>
              </a:ext>
            </a:extLst>
          </p:cNvPr>
          <p:cNvPicPr>
            <a:picLocks noChangeAspect="1"/>
          </p:cNvPicPr>
          <p:nvPr/>
        </p:nvPicPr>
        <p:blipFill>
          <a:blip r:embed="rId7"/>
          <a:stretch>
            <a:fillRect/>
          </a:stretch>
        </p:blipFill>
        <p:spPr>
          <a:xfrm>
            <a:off x="4303277" y="878247"/>
            <a:ext cx="1697621" cy="1474045"/>
          </a:xfrm>
          <a:prstGeom prst="rect">
            <a:avLst/>
          </a:prstGeom>
        </p:spPr>
      </p:pic>
      <p:sp>
        <p:nvSpPr>
          <p:cNvPr id="27" name="TextBox 26">
            <a:extLst>
              <a:ext uri="{FF2B5EF4-FFF2-40B4-BE49-F238E27FC236}">
                <a16:creationId xmlns:a16="http://schemas.microsoft.com/office/drawing/2014/main" id="{6AFDFEA6-BE60-29D1-AAD6-F16179E23AD0}"/>
              </a:ext>
            </a:extLst>
          </p:cNvPr>
          <p:cNvSpPr txBox="1"/>
          <p:nvPr/>
        </p:nvSpPr>
        <p:spPr>
          <a:xfrm>
            <a:off x="6015988" y="874964"/>
            <a:ext cx="3013711" cy="1477328"/>
          </a:xfrm>
          <a:prstGeom prst="rect">
            <a:avLst/>
          </a:prstGeom>
          <a:noFill/>
        </p:spPr>
        <p:txBody>
          <a:bodyPr wrap="square">
            <a:spAutoFit/>
          </a:bodyPr>
          <a:lstStyle/>
          <a:p>
            <a:pPr algn="just"/>
            <a:r>
              <a:rPr lang="en-US" sz="900" dirty="0">
                <a:latin typeface="Calibri" panose="020F0502020204030204" pitchFamily="34" charset="0"/>
                <a:ea typeface="Calibri" panose="020F0502020204030204" pitchFamily="34" charset="0"/>
                <a:cs typeface="Calibri" panose="020F0502020204030204" pitchFamily="34" charset="0"/>
              </a:rPr>
              <a:t>In this analysis, I identified the </a:t>
            </a:r>
            <a:r>
              <a:rPr lang="en-US" sz="900" b="1" u="sng" dirty="0">
                <a:latin typeface="Calibri" panose="020F0502020204030204" pitchFamily="34" charset="0"/>
                <a:ea typeface="Calibri" panose="020F0502020204030204" pitchFamily="34" charset="0"/>
                <a:cs typeface="Calibri" panose="020F0502020204030204" pitchFamily="34" charset="0"/>
              </a:rPr>
              <a:t>most requested IT-related skills in job postings</a:t>
            </a:r>
            <a:r>
              <a:rPr lang="en-US" sz="900" dirty="0">
                <a:latin typeface="Calibri" panose="020F0502020204030204" pitchFamily="34" charset="0"/>
                <a:ea typeface="Calibri" panose="020F0502020204030204" pitchFamily="34" charset="0"/>
                <a:cs typeface="Calibri" panose="020F0502020204030204" pitchFamily="34" charset="0"/>
              </a:rPr>
              <a:t> by filtering and cleaning the </a:t>
            </a:r>
            <a:r>
              <a:rPr lang="en-US" sz="900" i="1" dirty="0">
                <a:latin typeface="Calibri" panose="020F0502020204030204" pitchFamily="34" charset="0"/>
                <a:ea typeface="Calibri" panose="020F0502020204030204" pitchFamily="34" charset="0"/>
                <a:cs typeface="Calibri" panose="020F0502020204030204" pitchFamily="34" charset="0"/>
              </a:rPr>
              <a:t>skills_desc</a:t>
            </a:r>
            <a:r>
              <a:rPr lang="en-US" sz="900" dirty="0">
                <a:latin typeface="Calibri" panose="020F0502020204030204" pitchFamily="34" charset="0"/>
                <a:ea typeface="Calibri" panose="020F0502020204030204" pitchFamily="34" charset="0"/>
                <a:cs typeface="Calibri" panose="020F0502020204030204" pitchFamily="34" charset="0"/>
              </a:rPr>
              <a:t> column to focus on predefined keywords like </a:t>
            </a:r>
            <a:r>
              <a:rPr lang="en-US" sz="900" u="sng" dirty="0">
                <a:latin typeface="Calibri" panose="020F0502020204030204" pitchFamily="34" charset="0"/>
                <a:ea typeface="Calibri" panose="020F0502020204030204" pitchFamily="34" charset="0"/>
                <a:cs typeface="Calibri" panose="020F0502020204030204" pitchFamily="34" charset="0"/>
              </a:rPr>
              <a:t>Python, Java, and SQL</a:t>
            </a:r>
            <a:r>
              <a:rPr lang="en-US" sz="900" dirty="0">
                <a:latin typeface="Calibri" panose="020F0502020204030204" pitchFamily="34" charset="0"/>
                <a:ea typeface="Calibri" panose="020F0502020204030204" pitchFamily="34" charset="0"/>
                <a:cs typeface="Calibri" panose="020F0502020204030204" pitchFamily="34" charset="0"/>
              </a:rPr>
              <a:t>. Using a pie chart, I visualised the demand, showing Python as the most in-demand skill, followed by Java and SQL. </a:t>
            </a:r>
            <a:r>
              <a:rPr lang="en-US" sz="900" u="sng" dirty="0">
                <a:latin typeface="Calibri" panose="020F0502020204030204" pitchFamily="34" charset="0"/>
                <a:ea typeface="Calibri" panose="020F0502020204030204" pitchFamily="34" charset="0"/>
                <a:cs typeface="Calibri" panose="020F0502020204030204" pitchFamily="34" charset="0"/>
              </a:rPr>
              <a:t>Less common skills, grouped as "Others," included technologies like C++, R, and TensorFlow</a:t>
            </a:r>
            <a:r>
              <a:rPr lang="en-US" sz="900" dirty="0">
                <a:latin typeface="Calibri" panose="020F0502020204030204" pitchFamily="34" charset="0"/>
                <a:ea typeface="Calibri" panose="020F0502020204030204" pitchFamily="34" charset="0"/>
                <a:cs typeface="Calibri" panose="020F0502020204030204" pitchFamily="34" charset="0"/>
              </a:rPr>
              <a:t>. This approach simplified the data, </a:t>
            </a:r>
            <a:r>
              <a:rPr lang="en-US" sz="900" b="1" dirty="0">
                <a:latin typeface="Calibri" panose="020F0502020204030204" pitchFamily="34" charset="0"/>
                <a:ea typeface="Calibri" panose="020F0502020204030204" pitchFamily="34" charset="0"/>
                <a:cs typeface="Calibri" panose="020F0502020204030204" pitchFamily="34" charset="0"/>
              </a:rPr>
              <a:t>highlighted key trends in employer priorities</a:t>
            </a:r>
            <a:r>
              <a:rPr lang="en-US" sz="900" dirty="0">
                <a:latin typeface="Calibri" panose="020F0502020204030204" pitchFamily="34" charset="0"/>
                <a:ea typeface="Calibri" panose="020F0502020204030204" pitchFamily="34" charset="0"/>
                <a:cs typeface="Calibri" panose="020F0502020204030204" pitchFamily="34" charset="0"/>
              </a:rPr>
              <a:t>, and </a:t>
            </a:r>
            <a:r>
              <a:rPr lang="en-US" sz="900" b="1" dirty="0">
                <a:latin typeface="Calibri" panose="020F0502020204030204" pitchFamily="34" charset="0"/>
                <a:ea typeface="Calibri" panose="020F0502020204030204" pitchFamily="34" charset="0"/>
                <a:cs typeface="Calibri" panose="020F0502020204030204" pitchFamily="34" charset="0"/>
              </a:rPr>
              <a:t>provided insights to guide job seekers and educators in focusing on high-demand skills.</a:t>
            </a:r>
            <a:endParaRPr lang="en-SG" sz="900" b="1" dirty="0">
              <a:latin typeface="Calibri" panose="020F0502020204030204" pitchFamily="34" charset="0"/>
              <a:ea typeface="Calibri" panose="020F0502020204030204" pitchFamily="34" charset="0"/>
              <a:cs typeface="Calibri" panose="020F0502020204030204" pitchFamily="34" charset="0"/>
            </a:endParaRPr>
          </a:p>
        </p:txBody>
      </p:sp>
      <p:pic>
        <p:nvPicPr>
          <p:cNvPr id="33" name="Picture 32">
            <a:extLst>
              <a:ext uri="{FF2B5EF4-FFF2-40B4-BE49-F238E27FC236}">
                <a16:creationId xmlns:a16="http://schemas.microsoft.com/office/drawing/2014/main" id="{EC018998-D81A-160A-413C-8C8994809621}"/>
              </a:ext>
            </a:extLst>
          </p:cNvPr>
          <p:cNvPicPr>
            <a:picLocks noChangeAspect="1"/>
          </p:cNvPicPr>
          <p:nvPr/>
        </p:nvPicPr>
        <p:blipFill>
          <a:blip r:embed="rId8"/>
          <a:stretch>
            <a:fillRect/>
          </a:stretch>
        </p:blipFill>
        <p:spPr>
          <a:xfrm>
            <a:off x="6015988" y="2505710"/>
            <a:ext cx="3003520" cy="1639874"/>
          </a:xfrm>
          <a:prstGeom prst="rect">
            <a:avLst/>
          </a:prstGeom>
        </p:spPr>
      </p:pic>
      <p:sp>
        <p:nvSpPr>
          <p:cNvPr id="34" name="TextBox 33">
            <a:extLst>
              <a:ext uri="{FF2B5EF4-FFF2-40B4-BE49-F238E27FC236}">
                <a16:creationId xmlns:a16="http://schemas.microsoft.com/office/drawing/2014/main" id="{5CAB2932-85D8-5139-2DA3-8A5A9C1A2414}"/>
              </a:ext>
            </a:extLst>
          </p:cNvPr>
          <p:cNvSpPr txBox="1"/>
          <p:nvPr/>
        </p:nvSpPr>
        <p:spPr>
          <a:xfrm>
            <a:off x="201145" y="639599"/>
            <a:ext cx="966064" cy="200055"/>
          </a:xfrm>
          <a:prstGeom prst="rect">
            <a:avLst/>
          </a:prstGeom>
          <a:noFill/>
        </p:spPr>
        <p:txBody>
          <a:bodyPr wrap="square" rtlCol="0">
            <a:spAutoFit/>
          </a:bodyPr>
          <a:lstStyle/>
          <a:p>
            <a:r>
              <a:rPr lang="en-SG" sz="700" b="1" u="sng" dirty="0">
                <a:latin typeface="Book Antiqua" panose="02040602050305030304" pitchFamily="18" charset="0"/>
              </a:rPr>
              <a:t>Handling Outliers</a:t>
            </a:r>
          </a:p>
        </p:txBody>
      </p:sp>
      <p:sp>
        <p:nvSpPr>
          <p:cNvPr id="40" name="TextBox 39">
            <a:extLst>
              <a:ext uri="{FF2B5EF4-FFF2-40B4-BE49-F238E27FC236}">
                <a16:creationId xmlns:a16="http://schemas.microsoft.com/office/drawing/2014/main" id="{E32B39FB-39B7-CC22-13B9-0F5658BE119D}"/>
              </a:ext>
            </a:extLst>
          </p:cNvPr>
          <p:cNvSpPr txBox="1"/>
          <p:nvPr/>
        </p:nvSpPr>
        <p:spPr>
          <a:xfrm>
            <a:off x="3307540" y="874964"/>
            <a:ext cx="864410" cy="2308324"/>
          </a:xfrm>
          <a:prstGeom prst="rect">
            <a:avLst/>
          </a:prstGeom>
          <a:noFill/>
        </p:spPr>
        <p:txBody>
          <a:bodyPr wrap="square">
            <a:spAutoFit/>
          </a:bodyPr>
          <a:lstStyle/>
          <a:p>
            <a:r>
              <a:rPr lang="en-US" sz="800" dirty="0">
                <a:latin typeface="Calibri" panose="020F0502020204030204" pitchFamily="34" charset="0"/>
                <a:ea typeface="Calibri" panose="020F0502020204030204" pitchFamily="34" charset="0"/>
                <a:cs typeface="Calibri" panose="020F0502020204030204" pitchFamily="34" charset="0"/>
              </a:rPr>
              <a:t>I handled outliers in the views and applies columns using the IQR method, applying capping to bring extreme values within bounds. Updated boxplots showed </a:t>
            </a:r>
            <a:r>
              <a:rPr lang="en-US" sz="800" b="1" dirty="0">
                <a:latin typeface="Calibri" panose="020F0502020204030204" pitchFamily="34" charset="0"/>
                <a:ea typeface="Calibri" panose="020F0502020204030204" pitchFamily="34" charset="0"/>
                <a:cs typeface="Calibri" panose="020F0502020204030204" pitchFamily="34" charset="0"/>
              </a:rPr>
              <a:t>no visible outliers</a:t>
            </a:r>
            <a:r>
              <a:rPr lang="en-US" sz="800" dirty="0">
                <a:latin typeface="Calibri" panose="020F0502020204030204" pitchFamily="34" charset="0"/>
                <a:ea typeface="Calibri" panose="020F0502020204030204" pitchFamily="34" charset="0"/>
                <a:cs typeface="Calibri" panose="020F0502020204030204" pitchFamily="34" charset="0"/>
              </a:rPr>
              <a:t>, ensuring </a:t>
            </a:r>
            <a:r>
              <a:rPr lang="en-US" sz="800" u="sng" dirty="0">
                <a:latin typeface="Calibri" panose="020F0502020204030204" pitchFamily="34" charset="0"/>
                <a:ea typeface="Calibri" panose="020F0502020204030204" pitchFamily="34" charset="0"/>
                <a:cs typeface="Calibri" panose="020F0502020204030204" pitchFamily="34" charset="0"/>
              </a:rPr>
              <a:t>clean and reliable data for further analysis.</a:t>
            </a:r>
            <a:endParaRPr lang="en-SG" sz="800" u="sng" dirty="0">
              <a:latin typeface="Calibri" panose="020F0502020204030204" pitchFamily="34" charset="0"/>
              <a:ea typeface="Calibri" panose="020F0502020204030204" pitchFamily="34" charset="0"/>
              <a:cs typeface="Calibri" panose="020F0502020204030204" pitchFamily="34" charset="0"/>
            </a:endParaRPr>
          </a:p>
        </p:txBody>
      </p:sp>
      <p:pic>
        <p:nvPicPr>
          <p:cNvPr id="43" name="Picture 42">
            <a:extLst>
              <a:ext uri="{FF2B5EF4-FFF2-40B4-BE49-F238E27FC236}">
                <a16:creationId xmlns:a16="http://schemas.microsoft.com/office/drawing/2014/main" id="{9D1E052C-70C1-F505-A407-4822FB1ACBB1}"/>
              </a:ext>
            </a:extLst>
          </p:cNvPr>
          <p:cNvPicPr>
            <a:picLocks noChangeAspect="1"/>
          </p:cNvPicPr>
          <p:nvPr/>
        </p:nvPicPr>
        <p:blipFill>
          <a:blip r:embed="rId9"/>
          <a:stretch>
            <a:fillRect/>
          </a:stretch>
        </p:blipFill>
        <p:spPr>
          <a:xfrm>
            <a:off x="187139" y="3386539"/>
            <a:ext cx="3120401" cy="1639874"/>
          </a:xfrm>
          <a:prstGeom prst="rect">
            <a:avLst/>
          </a:prstGeom>
        </p:spPr>
      </p:pic>
      <p:sp>
        <p:nvSpPr>
          <p:cNvPr id="44" name="Rectangle 43">
            <a:extLst>
              <a:ext uri="{FF2B5EF4-FFF2-40B4-BE49-F238E27FC236}">
                <a16:creationId xmlns:a16="http://schemas.microsoft.com/office/drawing/2014/main" id="{B3A0F612-E0A7-B15D-B7D6-41E36A7AC2D9}"/>
              </a:ext>
            </a:extLst>
          </p:cNvPr>
          <p:cNvSpPr/>
          <p:nvPr/>
        </p:nvSpPr>
        <p:spPr>
          <a:xfrm>
            <a:off x="201145" y="635016"/>
            <a:ext cx="3970805" cy="269341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6" name="TextBox 45">
            <a:extLst>
              <a:ext uri="{FF2B5EF4-FFF2-40B4-BE49-F238E27FC236}">
                <a16:creationId xmlns:a16="http://schemas.microsoft.com/office/drawing/2014/main" id="{ABA6FB3D-26E2-A016-656D-5ABE2AA94BA8}"/>
              </a:ext>
            </a:extLst>
          </p:cNvPr>
          <p:cNvSpPr txBox="1"/>
          <p:nvPr/>
        </p:nvSpPr>
        <p:spPr>
          <a:xfrm>
            <a:off x="3307540" y="3423236"/>
            <a:ext cx="2616924" cy="1323439"/>
          </a:xfrm>
          <a:prstGeom prst="rect">
            <a:avLst/>
          </a:prstGeom>
          <a:noFill/>
        </p:spPr>
        <p:txBody>
          <a:bodyPr wrap="square">
            <a:spAutoFit/>
          </a:bodyPr>
          <a:lstStyle/>
          <a:p>
            <a:r>
              <a:rPr lang="en-US" sz="800" dirty="0">
                <a:latin typeface="Calibri" panose="020F0502020204030204" pitchFamily="34" charset="0"/>
                <a:ea typeface="Calibri" panose="020F0502020204030204" pitchFamily="34" charset="0"/>
                <a:cs typeface="Calibri" panose="020F0502020204030204" pitchFamily="34" charset="0"/>
              </a:rPr>
              <a:t>This bar chart allowed me to analyse the </a:t>
            </a:r>
            <a:r>
              <a:rPr lang="en-US" sz="800" b="1" u="sng" dirty="0">
                <a:latin typeface="Calibri" panose="020F0502020204030204" pitchFamily="34" charset="0"/>
                <a:ea typeface="Calibri" panose="020F0502020204030204" pitchFamily="34" charset="0"/>
                <a:cs typeface="Calibri" panose="020F0502020204030204" pitchFamily="34" charset="0"/>
              </a:rPr>
              <a:t>average salaries across different experience levels in the IT sector</a:t>
            </a:r>
            <a:r>
              <a:rPr lang="en-US" sz="800" dirty="0">
                <a:latin typeface="Calibri" panose="020F0502020204030204" pitchFamily="34" charset="0"/>
                <a:ea typeface="Calibri" panose="020F0502020204030204" pitchFamily="34" charset="0"/>
                <a:cs typeface="Calibri" panose="020F0502020204030204" pitchFamily="34" charset="0"/>
              </a:rPr>
              <a:t>. I observed that higher experience levels, such as </a:t>
            </a:r>
            <a:r>
              <a:rPr lang="en-US" sz="800" b="1" dirty="0">
                <a:latin typeface="Calibri" panose="020F0502020204030204" pitchFamily="34" charset="0"/>
                <a:ea typeface="Calibri" panose="020F0502020204030204" pitchFamily="34" charset="0"/>
                <a:cs typeface="Calibri" panose="020F0502020204030204" pitchFamily="34" charset="0"/>
              </a:rPr>
              <a:t>Director and Executive roles</a:t>
            </a:r>
            <a:r>
              <a:rPr lang="en-US" sz="800" dirty="0">
                <a:latin typeface="Calibri" panose="020F0502020204030204" pitchFamily="34" charset="0"/>
                <a:ea typeface="Calibri" panose="020F0502020204030204" pitchFamily="34" charset="0"/>
                <a:cs typeface="Calibri" panose="020F0502020204030204" pitchFamily="34" charset="0"/>
              </a:rPr>
              <a:t>, command </a:t>
            </a:r>
            <a:r>
              <a:rPr lang="en-US" sz="800" u="sng" dirty="0">
                <a:latin typeface="Calibri" panose="020F0502020204030204" pitchFamily="34" charset="0"/>
                <a:ea typeface="Calibri" panose="020F0502020204030204" pitchFamily="34" charset="0"/>
                <a:cs typeface="Calibri" panose="020F0502020204030204" pitchFamily="34" charset="0"/>
              </a:rPr>
              <a:t>significantly higher salaries</a:t>
            </a:r>
            <a:r>
              <a:rPr lang="en-US" sz="800" dirty="0">
                <a:latin typeface="Calibri" panose="020F0502020204030204" pitchFamily="34" charset="0"/>
                <a:ea typeface="Calibri" panose="020F0502020204030204" pitchFamily="34" charset="0"/>
                <a:cs typeface="Calibri" panose="020F0502020204030204" pitchFamily="34" charset="0"/>
              </a:rPr>
              <a:t>, while entry-level and internship positions have lower averages. This analysis helped me understand how salary expectations change with experience and supports my research question by showing </a:t>
            </a:r>
            <a:r>
              <a:rPr lang="en-US" sz="800" u="sng" dirty="0">
                <a:latin typeface="Calibri" panose="020F0502020204030204" pitchFamily="34" charset="0"/>
                <a:ea typeface="Calibri" panose="020F0502020204030204" pitchFamily="34" charset="0"/>
                <a:cs typeface="Calibri" panose="020F0502020204030204" pitchFamily="34" charset="0"/>
              </a:rPr>
              <a:t>how salary ranges vary across roles</a:t>
            </a:r>
            <a:r>
              <a:rPr lang="en-US" sz="800" dirty="0">
                <a:latin typeface="Calibri" panose="020F0502020204030204" pitchFamily="34" charset="0"/>
                <a:ea typeface="Calibri" panose="020F0502020204030204" pitchFamily="34" charset="0"/>
                <a:cs typeface="Calibri" panose="020F0502020204030204" pitchFamily="34" charset="0"/>
              </a:rPr>
              <a:t>, providing valuable insights for job seekers and recruiters in the IT industry.</a:t>
            </a:r>
            <a:endParaRPr lang="en-SG" sz="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246508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805E2E9-1996-9780-53BA-03A493ED4C32}"/>
              </a:ext>
            </a:extLst>
          </p:cNvPr>
          <p:cNvSpPr/>
          <p:nvPr/>
        </p:nvSpPr>
        <p:spPr>
          <a:xfrm>
            <a:off x="309563" y="4086087"/>
            <a:ext cx="8396287" cy="1007624"/>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SG"/>
          </a:p>
        </p:txBody>
      </p:sp>
      <p:sp>
        <p:nvSpPr>
          <p:cNvPr id="13" name="Rectangle 12">
            <a:extLst>
              <a:ext uri="{FF2B5EF4-FFF2-40B4-BE49-F238E27FC236}">
                <a16:creationId xmlns:a16="http://schemas.microsoft.com/office/drawing/2014/main" id="{20A441C7-07E4-3764-56CD-DD09A0BCEC2E}"/>
              </a:ext>
            </a:extLst>
          </p:cNvPr>
          <p:cNvSpPr/>
          <p:nvPr/>
        </p:nvSpPr>
        <p:spPr>
          <a:xfrm>
            <a:off x="309563" y="2496634"/>
            <a:ext cx="8396287" cy="15175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Rectangle 6">
            <a:extLst>
              <a:ext uri="{FF2B5EF4-FFF2-40B4-BE49-F238E27FC236}">
                <a16:creationId xmlns:a16="http://schemas.microsoft.com/office/drawing/2014/main" id="{106CB5A1-E20A-E047-2982-F3BB1748E96B}"/>
              </a:ext>
            </a:extLst>
          </p:cNvPr>
          <p:cNvSpPr/>
          <p:nvPr/>
        </p:nvSpPr>
        <p:spPr>
          <a:xfrm>
            <a:off x="309563" y="633410"/>
            <a:ext cx="8396287" cy="1790700"/>
          </a:xfrm>
          <a:prstGeom prst="rect">
            <a:avLst/>
          </a:prstGeom>
          <a:solidFill>
            <a:srgbClr val="CCCCFF"/>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SG"/>
          </a:p>
        </p:txBody>
      </p:sp>
      <p:sp>
        <p:nvSpPr>
          <p:cNvPr id="2" name="Title 1">
            <a:extLst>
              <a:ext uri="{FF2B5EF4-FFF2-40B4-BE49-F238E27FC236}">
                <a16:creationId xmlns:a16="http://schemas.microsoft.com/office/drawing/2014/main" id="{D66BF1CF-5BA5-808C-34E8-9ED628116626}"/>
              </a:ext>
            </a:extLst>
          </p:cNvPr>
          <p:cNvSpPr>
            <a:spLocks noGrp="1"/>
          </p:cNvSpPr>
          <p:nvPr>
            <p:ph type="title"/>
          </p:nvPr>
        </p:nvSpPr>
        <p:spPr>
          <a:xfrm>
            <a:off x="713250" y="217085"/>
            <a:ext cx="7717500" cy="453900"/>
          </a:xfrm>
        </p:spPr>
        <p:txBody>
          <a:bodyPr/>
          <a:lstStyle/>
          <a:p>
            <a:r>
              <a:rPr lang="en-SG" sz="2400" dirty="0">
                <a:latin typeface="Calibri" panose="020F0502020204030204" pitchFamily="34" charset="0"/>
                <a:ea typeface="Calibri" panose="020F0502020204030204" pitchFamily="34" charset="0"/>
                <a:cs typeface="Calibri" panose="020F0502020204030204" pitchFamily="34" charset="0"/>
              </a:rPr>
              <a:t>Data Visualisation: Histogram, Line Chart &amp; Scatter Plot</a:t>
            </a:r>
          </a:p>
        </p:txBody>
      </p:sp>
      <p:pic>
        <p:nvPicPr>
          <p:cNvPr id="4" name="Picture 3">
            <a:extLst>
              <a:ext uri="{FF2B5EF4-FFF2-40B4-BE49-F238E27FC236}">
                <a16:creationId xmlns:a16="http://schemas.microsoft.com/office/drawing/2014/main" id="{0F8C93E1-83CB-4E79-C576-03D1EFC87E1A}"/>
              </a:ext>
            </a:extLst>
          </p:cNvPr>
          <p:cNvPicPr>
            <a:picLocks noChangeAspect="1"/>
          </p:cNvPicPr>
          <p:nvPr/>
        </p:nvPicPr>
        <p:blipFill>
          <a:blip r:embed="rId3"/>
          <a:stretch>
            <a:fillRect/>
          </a:stretch>
        </p:blipFill>
        <p:spPr>
          <a:xfrm>
            <a:off x="557213" y="743509"/>
            <a:ext cx="3171599" cy="1575826"/>
          </a:xfrm>
          <a:prstGeom prst="rect">
            <a:avLst/>
          </a:prstGeom>
        </p:spPr>
      </p:pic>
      <p:sp>
        <p:nvSpPr>
          <p:cNvPr id="6" name="TextBox 5">
            <a:extLst>
              <a:ext uri="{FF2B5EF4-FFF2-40B4-BE49-F238E27FC236}">
                <a16:creationId xmlns:a16="http://schemas.microsoft.com/office/drawing/2014/main" id="{F2B875CB-25AA-22FF-CA19-D8E2CB21FE0F}"/>
              </a:ext>
            </a:extLst>
          </p:cNvPr>
          <p:cNvSpPr txBox="1"/>
          <p:nvPr/>
        </p:nvSpPr>
        <p:spPr>
          <a:xfrm>
            <a:off x="4110037" y="743509"/>
            <a:ext cx="4529138" cy="1615827"/>
          </a:xfrm>
          <a:prstGeom prst="rect">
            <a:avLst/>
          </a:prstGeom>
          <a:noFill/>
        </p:spPr>
        <p:txBody>
          <a:bodyPr wrap="square">
            <a:spAutoFit/>
          </a:bodyPr>
          <a:lstStyle/>
          <a:p>
            <a:pPr marL="171450" indent="-171450">
              <a:buFont typeface="Wingdings" panose="05000000000000000000" pitchFamily="2" charset="2"/>
              <a:buChar char="§"/>
            </a:pPr>
            <a:r>
              <a:rPr lang="en-US" sz="1100" dirty="0">
                <a:latin typeface="Calibri" panose="020F0502020204030204" pitchFamily="34" charset="0"/>
                <a:ea typeface="Calibri" panose="020F0502020204030204" pitchFamily="34" charset="0"/>
                <a:cs typeface="Calibri" panose="020F0502020204030204" pitchFamily="34" charset="0"/>
              </a:rPr>
              <a:t>The chart revealed most IT job postings fall in the </a:t>
            </a:r>
            <a:r>
              <a:rPr lang="en-US" sz="1100" b="1" dirty="0">
                <a:latin typeface="Calibri" panose="020F0502020204030204" pitchFamily="34" charset="0"/>
                <a:ea typeface="Calibri" panose="020F0502020204030204" pitchFamily="34" charset="0"/>
                <a:cs typeface="Calibri" panose="020F0502020204030204" pitchFamily="34" charset="0"/>
              </a:rPr>
              <a:t>120k-150k salary range</a:t>
            </a:r>
            <a:r>
              <a:rPr lang="en-US" sz="1100" dirty="0">
                <a:latin typeface="Calibri" panose="020F0502020204030204" pitchFamily="34" charset="0"/>
                <a:ea typeface="Calibri" panose="020F0502020204030204" pitchFamily="34" charset="0"/>
                <a:cs typeface="Calibri" panose="020F0502020204030204" pitchFamily="34" charset="0"/>
              </a:rPr>
              <a:t>, showing demand for mid-to-high-paying roles.</a:t>
            </a:r>
          </a:p>
          <a:p>
            <a:pPr marL="171450" indent="-171450">
              <a:buFont typeface="Wingdings" panose="05000000000000000000" pitchFamily="2" charset="2"/>
              <a:buChar char="§"/>
            </a:pPr>
            <a:r>
              <a:rPr lang="en-US" sz="1100" dirty="0">
                <a:latin typeface="Calibri" panose="020F0502020204030204" pitchFamily="34" charset="0"/>
                <a:ea typeface="Calibri" panose="020F0502020204030204" pitchFamily="34" charset="0"/>
                <a:cs typeface="Calibri" panose="020F0502020204030204" pitchFamily="34" charset="0"/>
              </a:rPr>
              <a:t>Lower salaries (0-20k) represent </a:t>
            </a:r>
            <a:r>
              <a:rPr lang="en-US" sz="1100" b="1" dirty="0">
                <a:latin typeface="Calibri" panose="020F0502020204030204" pitchFamily="34" charset="0"/>
                <a:ea typeface="Calibri" panose="020F0502020204030204" pitchFamily="34" charset="0"/>
                <a:cs typeface="Calibri" panose="020F0502020204030204" pitchFamily="34" charset="0"/>
              </a:rPr>
              <a:t>entry-level or internships</a:t>
            </a:r>
            <a:r>
              <a:rPr lang="en-US" sz="1100" dirty="0">
                <a:latin typeface="Calibri" panose="020F0502020204030204" pitchFamily="34" charset="0"/>
                <a:ea typeface="Calibri" panose="020F0502020204030204" pitchFamily="34" charset="0"/>
                <a:cs typeface="Calibri" panose="020F0502020204030204" pitchFamily="34" charset="0"/>
              </a:rPr>
              <a:t>, while higher ranges (150k-200k and 200k+) indicate </a:t>
            </a:r>
            <a:r>
              <a:rPr lang="en-US" sz="1100" b="1" dirty="0">
                <a:latin typeface="Calibri" panose="020F0502020204030204" pitchFamily="34" charset="0"/>
                <a:ea typeface="Calibri" panose="020F0502020204030204" pitchFamily="34" charset="0"/>
                <a:cs typeface="Calibri" panose="020F0502020204030204" pitchFamily="34" charset="0"/>
              </a:rPr>
              <a:t>leadership or specialised roles</a:t>
            </a:r>
            <a:r>
              <a:rPr lang="en-US" sz="1100" dirty="0">
                <a:latin typeface="Calibri" panose="020F0502020204030204" pitchFamily="34" charset="0"/>
                <a:ea typeface="Calibri" panose="020F0502020204030204" pitchFamily="34" charset="0"/>
                <a:cs typeface="Calibri" panose="020F0502020204030204" pitchFamily="34" charset="0"/>
              </a:rPr>
              <a:t>.</a:t>
            </a:r>
          </a:p>
          <a:p>
            <a:pPr marL="171450" indent="-171450">
              <a:buFont typeface="Wingdings" panose="05000000000000000000" pitchFamily="2" charset="2"/>
              <a:buChar char="§"/>
            </a:pPr>
            <a:r>
              <a:rPr lang="en-US" sz="1100" dirty="0">
                <a:latin typeface="Calibri" panose="020F0502020204030204" pitchFamily="34" charset="0"/>
                <a:ea typeface="Calibri" panose="020F0502020204030204" pitchFamily="34" charset="0"/>
                <a:cs typeface="Calibri" panose="020F0502020204030204" pitchFamily="34" charset="0"/>
              </a:rPr>
              <a:t>Few postings in </a:t>
            </a:r>
            <a:r>
              <a:rPr lang="en-US" sz="1100" b="1" dirty="0">
                <a:latin typeface="Calibri" panose="020F0502020204030204" pitchFamily="34" charset="0"/>
                <a:ea typeface="Calibri" panose="020F0502020204030204" pitchFamily="34" charset="0"/>
                <a:cs typeface="Calibri" panose="020F0502020204030204" pitchFamily="34" charset="0"/>
              </a:rPr>
              <a:t>40k-80k ranges</a:t>
            </a:r>
            <a:r>
              <a:rPr lang="en-US" sz="1100" dirty="0">
                <a:latin typeface="Calibri" panose="020F0502020204030204" pitchFamily="34" charset="0"/>
                <a:ea typeface="Calibri" panose="020F0502020204030204" pitchFamily="34" charset="0"/>
                <a:cs typeface="Calibri" panose="020F0502020204030204" pitchFamily="34" charset="0"/>
              </a:rPr>
              <a:t> suggest a skew towards competitive salaries.</a:t>
            </a:r>
          </a:p>
          <a:p>
            <a:pPr marL="171450" indent="-171450">
              <a:buFont typeface="Wingdings" panose="05000000000000000000" pitchFamily="2" charset="2"/>
              <a:buChar char="§"/>
            </a:pPr>
            <a:r>
              <a:rPr lang="en-US" sz="1100" dirty="0">
                <a:latin typeface="Calibri" panose="020F0502020204030204" pitchFamily="34" charset="0"/>
                <a:ea typeface="Calibri" panose="020F0502020204030204" pitchFamily="34" charset="0"/>
                <a:cs typeface="Calibri" panose="020F0502020204030204" pitchFamily="34" charset="0"/>
              </a:rPr>
              <a:t>This supports my research question by identifying salary trends, helping job seekers align expectations, and understanding salary structures across roles.</a:t>
            </a:r>
          </a:p>
        </p:txBody>
      </p:sp>
      <p:pic>
        <p:nvPicPr>
          <p:cNvPr id="9" name="Picture 8">
            <a:extLst>
              <a:ext uri="{FF2B5EF4-FFF2-40B4-BE49-F238E27FC236}">
                <a16:creationId xmlns:a16="http://schemas.microsoft.com/office/drawing/2014/main" id="{6090A91E-1D0C-CDB7-4ED5-DEFD2E8E455A}"/>
              </a:ext>
            </a:extLst>
          </p:cNvPr>
          <p:cNvPicPr>
            <a:picLocks noChangeAspect="1"/>
          </p:cNvPicPr>
          <p:nvPr/>
        </p:nvPicPr>
        <p:blipFill>
          <a:blip r:embed="rId4"/>
          <a:stretch>
            <a:fillRect/>
          </a:stretch>
        </p:blipFill>
        <p:spPr>
          <a:xfrm>
            <a:off x="738074" y="2571750"/>
            <a:ext cx="2809876" cy="1344464"/>
          </a:xfrm>
          <a:prstGeom prst="rect">
            <a:avLst/>
          </a:prstGeom>
        </p:spPr>
      </p:pic>
      <p:sp>
        <p:nvSpPr>
          <p:cNvPr id="11" name="TextBox 10">
            <a:extLst>
              <a:ext uri="{FF2B5EF4-FFF2-40B4-BE49-F238E27FC236}">
                <a16:creationId xmlns:a16="http://schemas.microsoft.com/office/drawing/2014/main" id="{EC569A6A-47BA-1851-127B-CADF7C246B71}"/>
              </a:ext>
            </a:extLst>
          </p:cNvPr>
          <p:cNvSpPr txBox="1"/>
          <p:nvPr/>
        </p:nvSpPr>
        <p:spPr>
          <a:xfrm>
            <a:off x="4211175" y="2496634"/>
            <a:ext cx="4219575" cy="1554272"/>
          </a:xfrm>
          <a:prstGeom prst="rect">
            <a:avLst/>
          </a:prstGeom>
          <a:noFill/>
        </p:spPr>
        <p:txBody>
          <a:bodyPr wrap="square" rtlCol="0">
            <a:spAutoFit/>
          </a:bodyPr>
          <a:lstStyle/>
          <a:p>
            <a:pPr marL="171450" indent="-171450">
              <a:buFont typeface="Arial" panose="020B0604020202020204" pitchFamily="34" charset="0"/>
              <a:buChar char="•"/>
            </a:pPr>
            <a:r>
              <a:rPr lang="en-US" sz="950" dirty="0">
                <a:latin typeface="Calibri" panose="020F0502020204030204" pitchFamily="34" charset="0"/>
                <a:ea typeface="Calibri" panose="020F0502020204030204" pitchFamily="34" charset="0"/>
                <a:cs typeface="Calibri" panose="020F0502020204030204" pitchFamily="34" charset="0"/>
              </a:rPr>
              <a:t>Top Location: </a:t>
            </a:r>
            <a:r>
              <a:rPr lang="en-US" sz="950" b="1" u="sng" dirty="0">
                <a:latin typeface="Calibri" panose="020F0502020204030204" pitchFamily="34" charset="0"/>
                <a:ea typeface="Calibri" panose="020F0502020204030204" pitchFamily="34" charset="0"/>
                <a:cs typeface="Calibri" panose="020F0502020204030204" pitchFamily="34" charset="0"/>
              </a:rPr>
              <a:t>Rye, NY, offers the highest median salary for IT jobs at $175,000</a:t>
            </a:r>
            <a:r>
              <a:rPr lang="en-US" sz="950" dirty="0">
                <a:latin typeface="Calibri" panose="020F0502020204030204" pitchFamily="34" charset="0"/>
                <a:ea typeface="Calibri" panose="020F0502020204030204" pitchFamily="34" charset="0"/>
                <a:cs typeface="Calibri" panose="020F0502020204030204" pitchFamily="34" charset="0"/>
              </a:rPr>
              <a:t>, followed by </a:t>
            </a:r>
            <a:r>
              <a:rPr lang="en-US" sz="950" u="sng" dirty="0">
                <a:latin typeface="Calibri" panose="020F0502020204030204" pitchFamily="34" charset="0"/>
                <a:ea typeface="Calibri" panose="020F0502020204030204" pitchFamily="34" charset="0"/>
                <a:cs typeface="Calibri" panose="020F0502020204030204" pitchFamily="34" charset="0"/>
              </a:rPr>
              <a:t>Long Beach, CA ($150,000)</a:t>
            </a:r>
            <a:r>
              <a:rPr lang="en-US" sz="950" dirty="0">
                <a:latin typeface="Calibri" panose="020F0502020204030204" pitchFamily="34" charset="0"/>
                <a:ea typeface="Calibri" panose="020F0502020204030204" pitchFamily="34" charset="0"/>
                <a:cs typeface="Calibri" panose="020F0502020204030204" pitchFamily="34" charset="0"/>
              </a:rPr>
              <a:t> and </a:t>
            </a:r>
            <a:r>
              <a:rPr lang="en-US" sz="950" u="sng" dirty="0">
                <a:latin typeface="Calibri" panose="020F0502020204030204" pitchFamily="34" charset="0"/>
                <a:ea typeface="Calibri" panose="020F0502020204030204" pitchFamily="34" charset="0"/>
                <a:cs typeface="Calibri" panose="020F0502020204030204" pitchFamily="34" charset="0"/>
              </a:rPr>
              <a:t>Boulder County, CO ($122,240</a:t>
            </a:r>
            <a:r>
              <a:rPr lang="en-US" sz="950" dirty="0">
                <a:latin typeface="Calibri" panose="020F0502020204030204" pitchFamily="34" charset="0"/>
                <a:ea typeface="Calibri" panose="020F0502020204030204" pitchFamily="34" charset="0"/>
                <a:cs typeface="Calibri" panose="020F0502020204030204" pitchFamily="34" charset="0"/>
              </a:rPr>
              <a:t>).</a:t>
            </a:r>
          </a:p>
          <a:p>
            <a:pPr marL="171450" indent="-171450">
              <a:buFont typeface="Wingdings" panose="05000000000000000000" pitchFamily="2" charset="2"/>
              <a:buChar char="§"/>
            </a:pPr>
            <a:r>
              <a:rPr lang="en-US" sz="950" dirty="0">
                <a:latin typeface="Calibri" panose="020F0502020204030204" pitchFamily="34" charset="0"/>
                <a:ea typeface="Calibri" panose="020F0502020204030204" pitchFamily="34" charset="0"/>
                <a:cs typeface="Calibri" panose="020F0502020204030204" pitchFamily="34" charset="0"/>
              </a:rPr>
              <a:t>Geographic Insights: High-paying IT roles are spread across various regions, highlighting </a:t>
            </a:r>
            <a:r>
              <a:rPr lang="en-US" sz="950" u="sng" dirty="0">
                <a:latin typeface="Calibri" panose="020F0502020204030204" pitchFamily="34" charset="0"/>
                <a:ea typeface="Calibri" panose="020F0502020204030204" pitchFamily="34" charset="0"/>
                <a:cs typeface="Calibri" panose="020F0502020204030204" pitchFamily="34" charset="0"/>
              </a:rPr>
              <a:t>demand in hubs like New York, California, and Colorado</a:t>
            </a:r>
            <a:r>
              <a:rPr lang="en-US" sz="950" dirty="0">
                <a:latin typeface="Calibri" panose="020F0502020204030204" pitchFamily="34" charset="0"/>
                <a:ea typeface="Calibri" panose="020F0502020204030204" pitchFamily="34" charset="0"/>
                <a:cs typeface="Calibri" panose="020F0502020204030204" pitchFamily="34" charset="0"/>
              </a:rPr>
              <a:t>.</a:t>
            </a:r>
          </a:p>
          <a:p>
            <a:pPr marL="171450" indent="-171450">
              <a:buFont typeface="Arial" panose="020B0604020202020204" pitchFamily="34" charset="0"/>
              <a:buChar char="•"/>
            </a:pPr>
            <a:r>
              <a:rPr lang="en-US" sz="950" dirty="0">
                <a:latin typeface="Calibri" panose="020F0502020204030204" pitchFamily="34" charset="0"/>
                <a:ea typeface="Calibri" panose="020F0502020204030204" pitchFamily="34" charset="0"/>
                <a:cs typeface="Calibri" panose="020F0502020204030204" pitchFamily="34" charset="0"/>
              </a:rPr>
              <a:t>Salary Diversity: Median salaries range from </a:t>
            </a:r>
            <a:r>
              <a:rPr lang="en-US" sz="950" b="1" u="sng" dirty="0">
                <a:solidFill>
                  <a:srgbClr val="00B050"/>
                </a:solidFill>
                <a:latin typeface="Calibri" panose="020F0502020204030204" pitchFamily="34" charset="0"/>
                <a:ea typeface="Calibri" panose="020F0502020204030204" pitchFamily="34" charset="0"/>
                <a:cs typeface="Calibri" panose="020F0502020204030204" pitchFamily="34" charset="0"/>
              </a:rPr>
              <a:t>$175,000 to $93,917</a:t>
            </a:r>
            <a:r>
              <a:rPr lang="en-US" sz="950" dirty="0">
                <a:latin typeface="Calibri" panose="020F0502020204030204" pitchFamily="34" charset="0"/>
                <a:ea typeface="Calibri" panose="020F0502020204030204" pitchFamily="34" charset="0"/>
                <a:cs typeface="Calibri" panose="020F0502020204030204" pitchFamily="34" charset="0"/>
              </a:rPr>
              <a:t>, showing significant geographic variations in pay.</a:t>
            </a:r>
          </a:p>
          <a:p>
            <a:pPr marL="171450" indent="-171450">
              <a:buFont typeface="Arial" panose="020B0604020202020204" pitchFamily="34" charset="0"/>
              <a:buChar char="•"/>
            </a:pPr>
            <a:r>
              <a:rPr lang="en-US" sz="950" dirty="0">
                <a:latin typeface="Calibri" panose="020F0502020204030204" pitchFamily="34" charset="0"/>
                <a:ea typeface="Calibri" panose="020F0502020204030204" pitchFamily="34" charset="0"/>
                <a:cs typeface="Calibri" panose="020F0502020204030204" pitchFamily="34" charset="0"/>
              </a:rPr>
              <a:t>Relevance to Research Question: This analysis identifies how IT salaries differ by location, helping job seekers </a:t>
            </a:r>
            <a:r>
              <a:rPr lang="en-US" sz="950" b="1" dirty="0">
                <a:latin typeface="Calibri" panose="020F0502020204030204" pitchFamily="34" charset="0"/>
                <a:ea typeface="Calibri" panose="020F0502020204030204" pitchFamily="34" charset="0"/>
                <a:cs typeface="Calibri" panose="020F0502020204030204" pitchFamily="34" charset="0"/>
              </a:rPr>
              <a:t>target lucrative regions and employers set competitive benchmarks.</a:t>
            </a:r>
            <a:endParaRPr lang="en-SG" sz="950" b="1" dirty="0">
              <a:latin typeface="Calibri" panose="020F0502020204030204" pitchFamily="34" charset="0"/>
              <a:ea typeface="Calibri" panose="020F0502020204030204" pitchFamily="34" charset="0"/>
              <a:cs typeface="Calibri" panose="020F0502020204030204" pitchFamily="34" charset="0"/>
            </a:endParaRPr>
          </a:p>
        </p:txBody>
      </p:sp>
      <p:pic>
        <p:nvPicPr>
          <p:cNvPr id="15" name="Picture 14">
            <a:extLst>
              <a:ext uri="{FF2B5EF4-FFF2-40B4-BE49-F238E27FC236}">
                <a16:creationId xmlns:a16="http://schemas.microsoft.com/office/drawing/2014/main" id="{508C0BB7-CA59-64DD-930A-F992A21C2553}"/>
              </a:ext>
            </a:extLst>
          </p:cNvPr>
          <p:cNvPicPr>
            <a:picLocks noChangeAspect="1"/>
          </p:cNvPicPr>
          <p:nvPr/>
        </p:nvPicPr>
        <p:blipFill>
          <a:blip r:embed="rId5"/>
          <a:stretch>
            <a:fillRect/>
          </a:stretch>
        </p:blipFill>
        <p:spPr>
          <a:xfrm>
            <a:off x="713250" y="4124263"/>
            <a:ext cx="2811899" cy="931271"/>
          </a:xfrm>
          <a:prstGeom prst="rect">
            <a:avLst/>
          </a:prstGeom>
        </p:spPr>
      </p:pic>
      <p:sp>
        <p:nvSpPr>
          <p:cNvPr id="17" name="TextBox 16">
            <a:extLst>
              <a:ext uri="{FF2B5EF4-FFF2-40B4-BE49-F238E27FC236}">
                <a16:creationId xmlns:a16="http://schemas.microsoft.com/office/drawing/2014/main" id="{54F715B0-DD6A-1853-51CF-51EFE3FB008D}"/>
              </a:ext>
            </a:extLst>
          </p:cNvPr>
          <p:cNvSpPr txBox="1"/>
          <p:nvPr/>
        </p:nvSpPr>
        <p:spPr>
          <a:xfrm>
            <a:off x="4211175" y="4156147"/>
            <a:ext cx="4377635" cy="746358"/>
          </a:xfrm>
          <a:prstGeom prst="rect">
            <a:avLst/>
          </a:prstGeom>
          <a:noFill/>
        </p:spPr>
        <p:txBody>
          <a:bodyPr wrap="square">
            <a:spAutoFit/>
          </a:bodyPr>
          <a:lstStyle/>
          <a:p>
            <a:pPr marL="171450" indent="-171450">
              <a:buFont typeface="Arial" panose="020B0604020202020204" pitchFamily="34" charset="0"/>
              <a:buChar char="•"/>
            </a:pPr>
            <a:r>
              <a:rPr lang="en-US" sz="850" dirty="0">
                <a:latin typeface="Calibri" panose="020F0502020204030204" pitchFamily="34" charset="0"/>
                <a:ea typeface="Calibri" panose="020F0502020204030204" pitchFamily="34" charset="0"/>
                <a:cs typeface="Calibri" panose="020F0502020204030204" pitchFamily="34" charset="0"/>
              </a:rPr>
              <a:t>Purpose: Visualises the relationship between job views and applications in IT job postings.</a:t>
            </a:r>
          </a:p>
          <a:p>
            <a:pPr marL="171450" indent="-171450">
              <a:buFont typeface="Arial" panose="020B0604020202020204" pitchFamily="34" charset="0"/>
              <a:buChar char="•"/>
            </a:pPr>
            <a:r>
              <a:rPr lang="en-US" sz="850" dirty="0">
                <a:latin typeface="Calibri" panose="020F0502020204030204" pitchFamily="34" charset="0"/>
                <a:ea typeface="Calibri" panose="020F0502020204030204" pitchFamily="34" charset="0"/>
                <a:cs typeface="Calibri" panose="020F0502020204030204" pitchFamily="34" charset="0"/>
              </a:rPr>
              <a:t>Key Insights: Positive correlation (0.52) shows more views lead to more applications (approx. 8 applications per 100 views).</a:t>
            </a:r>
          </a:p>
          <a:p>
            <a:pPr marL="171450" indent="-171450">
              <a:buFont typeface="Arial" panose="020B0604020202020204" pitchFamily="34" charset="0"/>
              <a:buChar char="•"/>
            </a:pPr>
            <a:r>
              <a:rPr lang="en-US" sz="850" dirty="0">
                <a:latin typeface="Calibri" panose="020F0502020204030204" pitchFamily="34" charset="0"/>
                <a:ea typeface="Calibri" panose="020F0502020204030204" pitchFamily="34" charset="0"/>
                <a:cs typeface="Calibri" panose="020F0502020204030204" pitchFamily="34" charset="0"/>
              </a:rPr>
              <a:t>Relevance: Highlights hiring trends, showing visibility's importance in attracting applicants.</a:t>
            </a:r>
          </a:p>
          <a:p>
            <a:pPr marL="171450" indent="-171450">
              <a:buFont typeface="Arial" panose="020B0604020202020204" pitchFamily="34" charset="0"/>
              <a:buChar char="•"/>
            </a:pPr>
            <a:r>
              <a:rPr lang="en-US" sz="850" dirty="0">
                <a:latin typeface="Calibri" panose="020F0502020204030204" pitchFamily="34" charset="0"/>
                <a:ea typeface="Calibri" panose="020F0502020204030204" pitchFamily="34" charset="0"/>
                <a:cs typeface="Calibri" panose="020F0502020204030204" pitchFamily="34" charset="0"/>
              </a:rPr>
              <a:t>Conclusion: Job visibility is crucial for recruitment, offering insights for </a:t>
            </a:r>
            <a:r>
              <a:rPr lang="en-US" sz="850" dirty="0" err="1">
                <a:latin typeface="Calibri" panose="020F0502020204030204" pitchFamily="34" charset="0"/>
                <a:ea typeface="Calibri" panose="020F0502020204030204" pitchFamily="34" charset="0"/>
                <a:cs typeface="Calibri" panose="020F0502020204030204" pitchFamily="34" charset="0"/>
              </a:rPr>
              <a:t>optimising</a:t>
            </a:r>
            <a:r>
              <a:rPr lang="en-US" sz="850" dirty="0">
                <a:latin typeface="Calibri" panose="020F0502020204030204" pitchFamily="34" charset="0"/>
                <a:ea typeface="Calibri" panose="020F0502020204030204" pitchFamily="34" charset="0"/>
                <a:cs typeface="Calibri" panose="020F0502020204030204" pitchFamily="34" charset="0"/>
              </a:rPr>
              <a:t> postings.</a:t>
            </a:r>
            <a:endParaRPr lang="en-SG" sz="850" dirty="0">
              <a:latin typeface="Calibri" panose="020F0502020204030204" pitchFamily="34" charset="0"/>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E0466575-33D0-60CB-D996-F86F6E121DAB}"/>
              </a:ext>
            </a:extLst>
          </p:cNvPr>
          <p:cNvSpPr txBox="1"/>
          <p:nvPr/>
        </p:nvSpPr>
        <p:spPr>
          <a:xfrm>
            <a:off x="309563" y="460858"/>
            <a:ext cx="679933" cy="200055"/>
          </a:xfrm>
          <a:prstGeom prst="rect">
            <a:avLst/>
          </a:prstGeom>
          <a:solidFill>
            <a:srgbClr val="CCCCFF"/>
          </a:solidFill>
        </p:spPr>
        <p:txBody>
          <a:bodyPr wrap="square" rtlCol="0">
            <a:spAutoFit/>
          </a:bodyPr>
          <a:lstStyle/>
          <a:p>
            <a:r>
              <a:rPr lang="en-SG" sz="700" b="1" u="sng" dirty="0">
                <a:latin typeface="Book Antiqua" panose="02040602050305030304" pitchFamily="18" charset="0"/>
              </a:rPr>
              <a:t>Histogram</a:t>
            </a:r>
          </a:p>
        </p:txBody>
      </p:sp>
      <p:sp>
        <p:nvSpPr>
          <p:cNvPr id="21" name="TextBox 20">
            <a:extLst>
              <a:ext uri="{FF2B5EF4-FFF2-40B4-BE49-F238E27FC236}">
                <a16:creationId xmlns:a16="http://schemas.microsoft.com/office/drawing/2014/main" id="{D43AC7D6-8A9F-D971-C03B-735875757B8B}"/>
              </a:ext>
            </a:extLst>
          </p:cNvPr>
          <p:cNvSpPr txBox="1"/>
          <p:nvPr/>
        </p:nvSpPr>
        <p:spPr>
          <a:xfrm>
            <a:off x="293688" y="2333518"/>
            <a:ext cx="695808" cy="200055"/>
          </a:xfrm>
          <a:prstGeom prst="rect">
            <a:avLst/>
          </a:prstGeom>
          <a:solidFill>
            <a:schemeClr val="accent1"/>
          </a:solidFill>
        </p:spPr>
        <p:txBody>
          <a:bodyPr wrap="square" rtlCol="0">
            <a:spAutoFit/>
          </a:bodyPr>
          <a:lstStyle/>
          <a:p>
            <a:r>
              <a:rPr lang="en-SG" sz="700" b="1" u="sng" dirty="0">
                <a:latin typeface="Book Antiqua" panose="02040602050305030304" pitchFamily="18" charset="0"/>
              </a:rPr>
              <a:t>Line Chart</a:t>
            </a:r>
          </a:p>
        </p:txBody>
      </p:sp>
      <p:sp>
        <p:nvSpPr>
          <p:cNvPr id="22" name="TextBox 21">
            <a:extLst>
              <a:ext uri="{FF2B5EF4-FFF2-40B4-BE49-F238E27FC236}">
                <a16:creationId xmlns:a16="http://schemas.microsoft.com/office/drawing/2014/main" id="{CA6D8293-F992-BED5-87DD-9E93C5DF46AC}"/>
              </a:ext>
            </a:extLst>
          </p:cNvPr>
          <p:cNvSpPr txBox="1"/>
          <p:nvPr/>
        </p:nvSpPr>
        <p:spPr>
          <a:xfrm>
            <a:off x="293688" y="3886031"/>
            <a:ext cx="679933" cy="200055"/>
          </a:xfrm>
          <a:prstGeom prst="rect">
            <a:avLst/>
          </a:prstGeom>
          <a:solidFill>
            <a:schemeClr val="accent5"/>
          </a:solidFill>
        </p:spPr>
        <p:txBody>
          <a:bodyPr wrap="square" rtlCol="0">
            <a:spAutoFit/>
          </a:bodyPr>
          <a:lstStyle/>
          <a:p>
            <a:r>
              <a:rPr lang="en-SG" sz="700" b="1" u="sng" dirty="0">
                <a:latin typeface="Book Antiqua" panose="02040602050305030304" pitchFamily="18" charset="0"/>
              </a:rPr>
              <a:t>Scatter Plot</a:t>
            </a:r>
          </a:p>
        </p:txBody>
      </p:sp>
    </p:spTree>
    <p:extLst>
      <p:ext uri="{BB962C8B-B14F-4D97-AF65-F5344CB8AC3E}">
        <p14:creationId xmlns:p14="http://schemas.microsoft.com/office/powerpoint/2010/main" val="225115691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7CF9778-7CC2-71F8-4B7F-999D9F2A0FD5}"/>
              </a:ext>
            </a:extLst>
          </p:cNvPr>
          <p:cNvSpPr/>
          <p:nvPr/>
        </p:nvSpPr>
        <p:spPr>
          <a:xfrm>
            <a:off x="216776" y="3724526"/>
            <a:ext cx="8865313" cy="1217824"/>
          </a:xfrm>
          <a:prstGeom prst="rect">
            <a:avLst/>
          </a:prstGeom>
          <a:solidFill>
            <a:srgbClr val="C8FE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1" name="Rectangle 20">
            <a:extLst>
              <a:ext uri="{FF2B5EF4-FFF2-40B4-BE49-F238E27FC236}">
                <a16:creationId xmlns:a16="http://schemas.microsoft.com/office/drawing/2014/main" id="{BB686054-176D-39EC-9047-75E90775B148}"/>
              </a:ext>
            </a:extLst>
          </p:cNvPr>
          <p:cNvSpPr/>
          <p:nvPr/>
        </p:nvSpPr>
        <p:spPr>
          <a:xfrm>
            <a:off x="216776" y="2220640"/>
            <a:ext cx="8865313" cy="1503886"/>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SG"/>
          </a:p>
        </p:txBody>
      </p:sp>
      <p:sp>
        <p:nvSpPr>
          <p:cNvPr id="20" name="Rectangle 19">
            <a:extLst>
              <a:ext uri="{FF2B5EF4-FFF2-40B4-BE49-F238E27FC236}">
                <a16:creationId xmlns:a16="http://schemas.microsoft.com/office/drawing/2014/main" id="{15D11FC2-C5D1-09A9-A81D-7A2D680B7A5A}"/>
              </a:ext>
            </a:extLst>
          </p:cNvPr>
          <p:cNvSpPr/>
          <p:nvPr/>
        </p:nvSpPr>
        <p:spPr>
          <a:xfrm>
            <a:off x="216776" y="655050"/>
            <a:ext cx="8865313" cy="15655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 name="Title 1">
            <a:extLst>
              <a:ext uri="{FF2B5EF4-FFF2-40B4-BE49-F238E27FC236}">
                <a16:creationId xmlns:a16="http://schemas.microsoft.com/office/drawing/2014/main" id="{138A4EC6-909E-1A3C-29F0-E627D5C226EC}"/>
              </a:ext>
            </a:extLst>
          </p:cNvPr>
          <p:cNvSpPr>
            <a:spLocks noGrp="1"/>
          </p:cNvSpPr>
          <p:nvPr>
            <p:ph type="title"/>
          </p:nvPr>
        </p:nvSpPr>
        <p:spPr>
          <a:xfrm>
            <a:off x="713250" y="201150"/>
            <a:ext cx="7717500" cy="453900"/>
          </a:xfrm>
        </p:spPr>
        <p:txBody>
          <a:bodyPr/>
          <a:lstStyle/>
          <a:p>
            <a:r>
              <a:rPr lang="en-SG" sz="2400" dirty="0">
                <a:latin typeface="Calibri" panose="020F0502020204030204" pitchFamily="34" charset="0"/>
                <a:ea typeface="Calibri" panose="020F0502020204030204" pitchFamily="34" charset="0"/>
                <a:cs typeface="Calibri" panose="020F0502020204030204" pitchFamily="34" charset="0"/>
              </a:rPr>
              <a:t>Data Visualisation: Boxplot, Bar Chart, Histogram</a:t>
            </a:r>
          </a:p>
        </p:txBody>
      </p:sp>
      <p:pic>
        <p:nvPicPr>
          <p:cNvPr id="4" name="Picture 3">
            <a:extLst>
              <a:ext uri="{FF2B5EF4-FFF2-40B4-BE49-F238E27FC236}">
                <a16:creationId xmlns:a16="http://schemas.microsoft.com/office/drawing/2014/main" id="{00E4D389-3C18-51C8-6612-33B1597F6F56}"/>
              </a:ext>
            </a:extLst>
          </p:cNvPr>
          <p:cNvPicPr>
            <a:picLocks noChangeAspect="1"/>
          </p:cNvPicPr>
          <p:nvPr/>
        </p:nvPicPr>
        <p:blipFill>
          <a:blip r:embed="rId3"/>
          <a:stretch>
            <a:fillRect/>
          </a:stretch>
        </p:blipFill>
        <p:spPr>
          <a:xfrm>
            <a:off x="349250" y="758603"/>
            <a:ext cx="3479801" cy="1400335"/>
          </a:xfrm>
          <a:prstGeom prst="rect">
            <a:avLst/>
          </a:prstGeom>
        </p:spPr>
      </p:pic>
      <p:sp>
        <p:nvSpPr>
          <p:cNvPr id="5" name="TextBox 4">
            <a:extLst>
              <a:ext uri="{FF2B5EF4-FFF2-40B4-BE49-F238E27FC236}">
                <a16:creationId xmlns:a16="http://schemas.microsoft.com/office/drawing/2014/main" id="{60681C35-9682-0EC1-ABDE-6BB70D2875DA}"/>
              </a:ext>
            </a:extLst>
          </p:cNvPr>
          <p:cNvSpPr txBox="1"/>
          <p:nvPr/>
        </p:nvSpPr>
        <p:spPr>
          <a:xfrm>
            <a:off x="3829051" y="756651"/>
            <a:ext cx="5253038" cy="1338828"/>
          </a:xfrm>
          <a:prstGeom prst="rect">
            <a:avLst/>
          </a:prstGeom>
          <a:noFill/>
        </p:spPr>
        <p:txBody>
          <a:bodyPr wrap="square" rtlCol="0">
            <a:spAutoFit/>
          </a:bodyPr>
          <a:lstStyle/>
          <a:p>
            <a:pPr marL="171450" indent="-171450">
              <a:buFont typeface="Arial" panose="020B0604020202020204" pitchFamily="34" charset="0"/>
              <a:buChar char="•"/>
            </a:pPr>
            <a:r>
              <a:rPr lang="en-US" sz="900" b="1" dirty="0">
                <a:latin typeface="Calibri" panose="020F0502020204030204" pitchFamily="34" charset="0"/>
                <a:ea typeface="Calibri" panose="020F0502020204030204" pitchFamily="34" charset="0"/>
                <a:cs typeface="Calibri" panose="020F0502020204030204" pitchFamily="34" charset="0"/>
              </a:rPr>
              <a:t>Purpose</a:t>
            </a:r>
            <a:r>
              <a:rPr lang="en-US" sz="900" dirty="0">
                <a:latin typeface="Calibri" panose="020F0502020204030204" pitchFamily="34" charset="0"/>
                <a:ea typeface="Calibri" panose="020F0502020204030204" pitchFamily="34" charset="0"/>
                <a:cs typeface="Calibri" panose="020F0502020204030204" pitchFamily="34" charset="0"/>
              </a:rPr>
              <a:t>: Visualises median salary distribution across experience levels in IT jobs.</a:t>
            </a:r>
          </a:p>
          <a:p>
            <a:pPr marL="171450" indent="-171450">
              <a:buFont typeface="Arial" panose="020B0604020202020204" pitchFamily="34" charset="0"/>
              <a:buChar char="•"/>
            </a:pPr>
            <a:r>
              <a:rPr lang="en-US" sz="900" b="1" dirty="0">
                <a:latin typeface="Calibri" panose="020F0502020204030204" pitchFamily="34" charset="0"/>
                <a:ea typeface="Calibri" panose="020F0502020204030204" pitchFamily="34" charset="0"/>
                <a:cs typeface="Calibri" panose="020F0502020204030204" pitchFamily="34" charset="0"/>
              </a:rPr>
              <a:t>Key Insights</a:t>
            </a:r>
            <a:r>
              <a:rPr lang="en-US" sz="900" dirty="0">
                <a:latin typeface="Calibri" panose="020F0502020204030204" pitchFamily="34" charset="0"/>
                <a:ea typeface="Calibri" panose="020F0502020204030204" pitchFamily="34" charset="0"/>
                <a:cs typeface="Calibri" panose="020F0502020204030204" pitchFamily="34" charset="0"/>
              </a:rPr>
              <a:t>: </a:t>
            </a:r>
            <a:r>
              <a:rPr lang="en-US" sz="900" u="sng" dirty="0">
                <a:latin typeface="Calibri" panose="020F0502020204030204" pitchFamily="34" charset="0"/>
                <a:ea typeface="Calibri" panose="020F0502020204030204" pitchFamily="34" charset="0"/>
                <a:cs typeface="Calibri" panose="020F0502020204030204" pitchFamily="34" charset="0"/>
              </a:rPr>
              <a:t>Median salaries rise with experience</a:t>
            </a:r>
            <a:r>
              <a:rPr lang="en-US" sz="900" dirty="0">
                <a:latin typeface="Calibri" panose="020F0502020204030204" pitchFamily="34" charset="0"/>
                <a:ea typeface="Calibri" panose="020F0502020204030204" pitchFamily="34" charset="0"/>
                <a:cs typeface="Calibri" panose="020F0502020204030204" pitchFamily="34" charset="0"/>
              </a:rPr>
              <a:t>; </a:t>
            </a:r>
            <a:r>
              <a:rPr lang="en-US" sz="900" b="1" dirty="0">
                <a:latin typeface="Calibri" panose="020F0502020204030204" pitchFamily="34" charset="0"/>
                <a:ea typeface="Calibri" panose="020F0502020204030204" pitchFamily="34" charset="0"/>
                <a:cs typeface="Calibri" panose="020F0502020204030204" pitchFamily="34" charset="0"/>
              </a:rPr>
              <a:t>Internship roles</a:t>
            </a:r>
            <a:r>
              <a:rPr lang="en-US" sz="900" dirty="0">
                <a:latin typeface="Calibri" panose="020F0502020204030204" pitchFamily="34" charset="0"/>
                <a:ea typeface="Calibri" panose="020F0502020204030204" pitchFamily="34" charset="0"/>
                <a:cs typeface="Calibri" panose="020F0502020204030204" pitchFamily="34" charset="0"/>
              </a:rPr>
              <a:t> are </a:t>
            </a:r>
            <a:r>
              <a:rPr lang="en-US" sz="900" dirty="0">
                <a:solidFill>
                  <a:schemeClr val="accent2"/>
                </a:solidFill>
                <a:latin typeface="Calibri" panose="020F0502020204030204" pitchFamily="34" charset="0"/>
                <a:ea typeface="Calibri" panose="020F0502020204030204" pitchFamily="34" charset="0"/>
                <a:cs typeface="Calibri" panose="020F0502020204030204" pitchFamily="34" charset="0"/>
              </a:rPr>
              <a:t>lowest</a:t>
            </a:r>
            <a:r>
              <a:rPr lang="en-US" sz="900" dirty="0">
                <a:latin typeface="Calibri" panose="020F0502020204030204" pitchFamily="34" charset="0"/>
                <a:ea typeface="Calibri" panose="020F0502020204030204" pitchFamily="34" charset="0"/>
                <a:cs typeface="Calibri" panose="020F0502020204030204" pitchFamily="34" charset="0"/>
              </a:rPr>
              <a:t>, </a:t>
            </a:r>
            <a:r>
              <a:rPr lang="en-US" sz="900" b="1" dirty="0">
                <a:latin typeface="Calibri" panose="020F0502020204030204" pitchFamily="34" charset="0"/>
                <a:ea typeface="Calibri" panose="020F0502020204030204" pitchFamily="34" charset="0"/>
                <a:cs typeface="Calibri" panose="020F0502020204030204" pitchFamily="34" charset="0"/>
              </a:rPr>
              <a:t>Executive</a:t>
            </a:r>
            <a:r>
              <a:rPr lang="en-US" sz="900" dirty="0">
                <a:latin typeface="Calibri" panose="020F0502020204030204" pitchFamily="34" charset="0"/>
                <a:ea typeface="Calibri" panose="020F0502020204030204" pitchFamily="34" charset="0"/>
                <a:cs typeface="Calibri" panose="020F0502020204030204" pitchFamily="34" charset="0"/>
              </a:rPr>
              <a:t> </a:t>
            </a:r>
            <a:r>
              <a:rPr lang="en-US" sz="900" dirty="0">
                <a:solidFill>
                  <a:srgbClr val="00B050"/>
                </a:solidFill>
                <a:latin typeface="Calibri" panose="020F0502020204030204" pitchFamily="34" charset="0"/>
                <a:ea typeface="Calibri" panose="020F0502020204030204" pitchFamily="34" charset="0"/>
                <a:cs typeface="Calibri" panose="020F0502020204030204" pitchFamily="34" charset="0"/>
              </a:rPr>
              <a:t>highest</a:t>
            </a:r>
            <a:r>
              <a:rPr lang="en-US" sz="900" dirty="0">
                <a:latin typeface="Calibri" panose="020F0502020204030204" pitchFamily="34" charset="0"/>
                <a:ea typeface="Calibri" panose="020F0502020204030204" pitchFamily="34" charset="0"/>
                <a:cs typeface="Calibri" panose="020F0502020204030204" pitchFamily="34" charset="0"/>
              </a:rPr>
              <a:t>. Missing boxes indicate narrow data ranges.</a:t>
            </a:r>
          </a:p>
          <a:p>
            <a:pPr marL="171450" indent="-171450">
              <a:buFont typeface="Arial" panose="020B0604020202020204" pitchFamily="34" charset="0"/>
              <a:buChar char="•"/>
            </a:pPr>
            <a:r>
              <a:rPr lang="en-US" sz="900" b="1" dirty="0">
                <a:latin typeface="Calibri" panose="020F0502020204030204" pitchFamily="34" charset="0"/>
                <a:ea typeface="Calibri" panose="020F0502020204030204" pitchFamily="34" charset="0"/>
                <a:cs typeface="Calibri" panose="020F0502020204030204" pitchFamily="34" charset="0"/>
              </a:rPr>
              <a:t>Relevance</a:t>
            </a:r>
            <a:r>
              <a:rPr lang="en-US" sz="900" dirty="0">
                <a:latin typeface="Calibri" panose="020F0502020204030204" pitchFamily="34" charset="0"/>
                <a:ea typeface="Calibri" panose="020F0502020204030204" pitchFamily="34" charset="0"/>
                <a:cs typeface="Calibri" panose="020F0502020204030204" pitchFamily="34" charset="0"/>
              </a:rPr>
              <a:t>: Supports research by showing salary trends across roles, aiding job seekers and employers.</a:t>
            </a:r>
          </a:p>
          <a:p>
            <a:pPr marL="171450" indent="-171450">
              <a:buFont typeface="Arial" panose="020B0604020202020204" pitchFamily="34" charset="0"/>
              <a:buChar char="•"/>
            </a:pPr>
            <a:r>
              <a:rPr lang="en-US" sz="900" b="1" dirty="0">
                <a:latin typeface="Calibri" panose="020F0502020204030204" pitchFamily="34" charset="0"/>
                <a:ea typeface="Calibri" panose="020F0502020204030204" pitchFamily="34" charset="0"/>
                <a:cs typeface="Calibri" panose="020F0502020204030204" pitchFamily="34" charset="0"/>
              </a:rPr>
              <a:t>Conclusion</a:t>
            </a:r>
            <a:r>
              <a:rPr lang="en-US" sz="900" dirty="0">
                <a:latin typeface="Calibri" panose="020F0502020204030204" pitchFamily="34" charset="0"/>
                <a:ea typeface="Calibri" panose="020F0502020204030204" pitchFamily="34" charset="0"/>
                <a:cs typeface="Calibri" panose="020F0502020204030204" pitchFamily="34" charset="0"/>
              </a:rPr>
              <a:t>: Highlights salary expectations by experience for career planning and recruitment strategies.</a:t>
            </a:r>
            <a:endParaRPr lang="en-US" sz="900" i="1" dirty="0">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900" i="1" dirty="0">
                <a:latin typeface="Calibri" panose="020F0502020204030204" pitchFamily="34" charset="0"/>
                <a:ea typeface="Calibri" panose="020F0502020204030204" pitchFamily="34" charset="0"/>
                <a:cs typeface="Calibri" panose="020F0502020204030204" pitchFamily="34" charset="0"/>
              </a:rPr>
              <a:t>The "box" in the box plot might not show up because my dataset is very big, and the salary data is packed closely together. This could make the range between the middle (Q1 and Q3) too small to see clearly. Also, too many data points or outliers might be covering the box, making it hard to spot.</a:t>
            </a:r>
            <a:endParaRPr lang="en-SG" sz="900" i="1" dirty="0">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endParaRPr lang="en-SG" sz="900" dirty="0">
              <a:latin typeface="Calibri" panose="020F0502020204030204" pitchFamily="34" charset="0"/>
              <a:ea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16860914-28FF-4222-80F0-EEC969F092D1}"/>
              </a:ext>
            </a:extLst>
          </p:cNvPr>
          <p:cNvPicPr>
            <a:picLocks noChangeAspect="1"/>
          </p:cNvPicPr>
          <p:nvPr/>
        </p:nvPicPr>
        <p:blipFill>
          <a:blip r:embed="rId4"/>
          <a:stretch>
            <a:fillRect/>
          </a:stretch>
        </p:blipFill>
        <p:spPr>
          <a:xfrm>
            <a:off x="349249" y="2302583"/>
            <a:ext cx="3479801" cy="1300979"/>
          </a:xfrm>
          <a:prstGeom prst="rect">
            <a:avLst/>
          </a:prstGeom>
        </p:spPr>
      </p:pic>
      <p:sp>
        <p:nvSpPr>
          <p:cNvPr id="11" name="TextBox 10">
            <a:extLst>
              <a:ext uri="{FF2B5EF4-FFF2-40B4-BE49-F238E27FC236}">
                <a16:creationId xmlns:a16="http://schemas.microsoft.com/office/drawing/2014/main" id="{32A477CF-AB4D-1F28-6562-DA8A0ABEF233}"/>
              </a:ext>
            </a:extLst>
          </p:cNvPr>
          <p:cNvSpPr txBox="1"/>
          <p:nvPr/>
        </p:nvSpPr>
        <p:spPr>
          <a:xfrm>
            <a:off x="3946923" y="2287479"/>
            <a:ext cx="4980301" cy="1061829"/>
          </a:xfrm>
          <a:prstGeom prst="rect">
            <a:avLst/>
          </a:prstGeom>
          <a:noFill/>
        </p:spPr>
        <p:txBody>
          <a:bodyPr wrap="square">
            <a:spAutoFit/>
          </a:bodyPr>
          <a:lstStyle/>
          <a:p>
            <a:r>
              <a:rPr lang="en-US" sz="1050" dirty="0">
                <a:latin typeface="Calibri" panose="020F0502020204030204" pitchFamily="34" charset="0"/>
                <a:ea typeface="Calibri" panose="020F0502020204030204" pitchFamily="34" charset="0"/>
                <a:cs typeface="Calibri" panose="020F0502020204030204" pitchFamily="34" charset="0"/>
              </a:rPr>
              <a:t>This chart highlights the </a:t>
            </a:r>
            <a:r>
              <a:rPr lang="en-US" sz="1050" b="1" dirty="0">
                <a:latin typeface="Calibri" panose="020F0502020204030204" pitchFamily="34" charset="0"/>
                <a:ea typeface="Calibri" panose="020F0502020204030204" pitchFamily="34" charset="0"/>
                <a:cs typeface="Calibri" panose="020F0502020204030204" pitchFamily="34" charset="0"/>
              </a:rPr>
              <a:t>top 10 IT job titles </a:t>
            </a:r>
            <a:r>
              <a:rPr lang="en-US" sz="1050" dirty="0">
                <a:latin typeface="Calibri" panose="020F0502020204030204" pitchFamily="34" charset="0"/>
                <a:ea typeface="Calibri" panose="020F0502020204030204" pitchFamily="34" charset="0"/>
                <a:cs typeface="Calibri" panose="020F0502020204030204" pitchFamily="34" charset="0"/>
              </a:rPr>
              <a:t>with the </a:t>
            </a:r>
            <a:r>
              <a:rPr lang="en-US" sz="1050" u="sng" dirty="0">
                <a:latin typeface="Calibri" panose="020F0502020204030204" pitchFamily="34" charset="0"/>
                <a:ea typeface="Calibri" panose="020F0502020204030204" pitchFamily="34" charset="0"/>
                <a:cs typeface="Calibri" panose="020F0502020204030204" pitchFamily="34" charset="0"/>
              </a:rPr>
              <a:t>highest postings</a:t>
            </a:r>
            <a:r>
              <a:rPr lang="en-US" sz="1050" dirty="0">
                <a:latin typeface="Calibri" panose="020F0502020204030204" pitchFamily="34" charset="0"/>
                <a:ea typeface="Calibri" panose="020F0502020204030204" pitchFamily="34" charset="0"/>
                <a:cs typeface="Calibri" panose="020F0502020204030204" pitchFamily="34" charset="0"/>
              </a:rPr>
              <a:t>, with roles like </a:t>
            </a:r>
            <a:r>
              <a:rPr lang="en-US" sz="1050" b="1" u="sng" dirty="0">
                <a:latin typeface="Calibri" panose="020F0502020204030204" pitchFamily="34" charset="0"/>
                <a:ea typeface="Calibri" panose="020F0502020204030204" pitchFamily="34" charset="0"/>
                <a:cs typeface="Calibri" panose="020F0502020204030204" pitchFamily="34" charset="0"/>
              </a:rPr>
              <a:t>Software Engineer and Business Analyst dominating demand</a:t>
            </a:r>
            <a:r>
              <a:rPr lang="en-US" sz="1050" dirty="0">
                <a:latin typeface="Calibri" panose="020F0502020204030204" pitchFamily="34" charset="0"/>
                <a:ea typeface="Calibri" panose="020F0502020204030204" pitchFamily="34" charset="0"/>
                <a:cs typeface="Calibri" panose="020F0502020204030204" pitchFamily="34" charset="0"/>
              </a:rPr>
              <a:t>. It provides valuable insights for job seekers to focus on in-demand roles and for educators to align training with market needs. By identifying hiring trends, it complements salary and skills analysis, showcasing the demand for specific positions. Overall, this chart aids in understanding the most sought-after roles, </a:t>
            </a:r>
            <a:r>
              <a:rPr lang="en-US" sz="1050" u="sng" dirty="0">
                <a:latin typeface="Calibri" panose="020F0502020204030204" pitchFamily="34" charset="0"/>
                <a:ea typeface="Calibri" panose="020F0502020204030204" pitchFamily="34" charset="0"/>
                <a:cs typeface="Calibri" panose="020F0502020204030204" pitchFamily="34" charset="0"/>
              </a:rPr>
              <a:t>supporting career planning and workforce development.</a:t>
            </a:r>
            <a:endParaRPr lang="en-SG" sz="1050" u="sng" dirty="0">
              <a:latin typeface="Calibri" panose="020F0502020204030204" pitchFamily="34" charset="0"/>
              <a:ea typeface="Calibri" panose="020F0502020204030204" pitchFamily="34" charset="0"/>
              <a:cs typeface="Calibri" panose="020F0502020204030204" pitchFamily="34" charset="0"/>
            </a:endParaRPr>
          </a:p>
        </p:txBody>
      </p:sp>
      <p:pic>
        <p:nvPicPr>
          <p:cNvPr id="13" name="Picture 12">
            <a:extLst>
              <a:ext uri="{FF2B5EF4-FFF2-40B4-BE49-F238E27FC236}">
                <a16:creationId xmlns:a16="http://schemas.microsoft.com/office/drawing/2014/main" id="{E0D8DAB1-B951-E1C9-4374-250F5B2E9DFB}"/>
              </a:ext>
            </a:extLst>
          </p:cNvPr>
          <p:cNvPicPr>
            <a:picLocks noChangeAspect="1"/>
          </p:cNvPicPr>
          <p:nvPr/>
        </p:nvPicPr>
        <p:blipFill>
          <a:blip r:embed="rId5"/>
          <a:stretch>
            <a:fillRect/>
          </a:stretch>
        </p:blipFill>
        <p:spPr>
          <a:xfrm>
            <a:off x="335376" y="3845490"/>
            <a:ext cx="1753773" cy="1043950"/>
          </a:xfrm>
          <a:prstGeom prst="rect">
            <a:avLst/>
          </a:prstGeom>
        </p:spPr>
      </p:pic>
      <p:pic>
        <p:nvPicPr>
          <p:cNvPr id="15" name="Picture 14">
            <a:extLst>
              <a:ext uri="{FF2B5EF4-FFF2-40B4-BE49-F238E27FC236}">
                <a16:creationId xmlns:a16="http://schemas.microsoft.com/office/drawing/2014/main" id="{5ECA4187-6BC1-22B2-F354-AF47A26A99CD}"/>
              </a:ext>
            </a:extLst>
          </p:cNvPr>
          <p:cNvPicPr>
            <a:picLocks noChangeAspect="1"/>
          </p:cNvPicPr>
          <p:nvPr/>
        </p:nvPicPr>
        <p:blipFill>
          <a:blip r:embed="rId6"/>
          <a:stretch>
            <a:fillRect/>
          </a:stretch>
        </p:blipFill>
        <p:spPr>
          <a:xfrm>
            <a:off x="2041227" y="3871946"/>
            <a:ext cx="1976374" cy="1043949"/>
          </a:xfrm>
          <a:prstGeom prst="rect">
            <a:avLst/>
          </a:prstGeom>
        </p:spPr>
      </p:pic>
      <p:sp>
        <p:nvSpPr>
          <p:cNvPr id="19" name="TextBox 18">
            <a:extLst>
              <a:ext uri="{FF2B5EF4-FFF2-40B4-BE49-F238E27FC236}">
                <a16:creationId xmlns:a16="http://schemas.microsoft.com/office/drawing/2014/main" id="{40F6CDC8-A853-EEA7-371C-8F5D46E96549}"/>
              </a:ext>
            </a:extLst>
          </p:cNvPr>
          <p:cNvSpPr txBox="1"/>
          <p:nvPr/>
        </p:nvSpPr>
        <p:spPr>
          <a:xfrm>
            <a:off x="4040732" y="3825606"/>
            <a:ext cx="4966329" cy="1015663"/>
          </a:xfrm>
          <a:prstGeom prst="rect">
            <a:avLst/>
          </a:prstGeom>
          <a:noFill/>
        </p:spPr>
        <p:txBody>
          <a:bodyPr wrap="square">
            <a:spAutoFit/>
          </a:bodyPr>
          <a:lstStyle/>
          <a:p>
            <a:r>
              <a:rPr lang="en-US" sz="1000" dirty="0">
                <a:latin typeface="Calibri" panose="020F0502020204030204" pitchFamily="34" charset="0"/>
                <a:ea typeface="Calibri" panose="020F0502020204030204" pitchFamily="34" charset="0"/>
                <a:cs typeface="Calibri" panose="020F0502020204030204" pitchFamily="34" charset="0"/>
              </a:rPr>
              <a:t>This analysis highlights the </a:t>
            </a:r>
            <a:r>
              <a:rPr lang="en-US" sz="1000" b="1" u="sng" dirty="0">
                <a:latin typeface="Calibri" panose="020F0502020204030204" pitchFamily="34" charset="0"/>
                <a:ea typeface="Calibri" panose="020F0502020204030204" pitchFamily="34" charset="0"/>
                <a:cs typeface="Calibri" panose="020F0502020204030204" pitchFamily="34" charset="0"/>
              </a:rPr>
              <a:t>distribution of maximum salaries in the top 6 IT job locations</a:t>
            </a:r>
            <a:r>
              <a:rPr lang="en-US" sz="1000" dirty="0">
                <a:latin typeface="Calibri" panose="020F0502020204030204" pitchFamily="34" charset="0"/>
                <a:ea typeface="Calibri" panose="020F0502020204030204" pitchFamily="34" charset="0"/>
                <a:cs typeface="Calibri" panose="020F0502020204030204" pitchFamily="34" charset="0"/>
              </a:rPr>
              <a:t>, showcasing salary variability and identifying regions with the </a:t>
            </a:r>
            <a:r>
              <a:rPr lang="en-US" sz="1000" u="sng" dirty="0">
                <a:latin typeface="Calibri" panose="020F0502020204030204" pitchFamily="34" charset="0"/>
                <a:ea typeface="Calibri" panose="020F0502020204030204" pitchFamily="34" charset="0"/>
                <a:cs typeface="Calibri" panose="020F0502020204030204" pitchFamily="34" charset="0"/>
              </a:rPr>
              <a:t>highest earnings</a:t>
            </a:r>
            <a:r>
              <a:rPr lang="en-US" sz="1000" dirty="0">
                <a:latin typeface="Calibri" panose="020F0502020204030204" pitchFamily="34" charset="0"/>
                <a:ea typeface="Calibri" panose="020F0502020204030204" pitchFamily="34" charset="0"/>
                <a:cs typeface="Calibri" panose="020F0502020204030204" pitchFamily="34" charset="0"/>
              </a:rPr>
              <a:t>, such as </a:t>
            </a:r>
            <a:r>
              <a:rPr lang="en-US" sz="1000" b="1" u="sng" dirty="0">
                <a:latin typeface="Calibri" panose="020F0502020204030204" pitchFamily="34" charset="0"/>
                <a:ea typeface="Calibri" panose="020F0502020204030204" pitchFamily="34" charset="0"/>
                <a:cs typeface="Calibri" panose="020F0502020204030204" pitchFamily="34" charset="0"/>
              </a:rPr>
              <a:t>New York and Chicago</a:t>
            </a:r>
            <a:r>
              <a:rPr lang="en-US" sz="1000" dirty="0">
                <a:latin typeface="Calibri" panose="020F0502020204030204" pitchFamily="34" charset="0"/>
                <a:ea typeface="Calibri" panose="020F0502020204030204" pitchFamily="34" charset="0"/>
                <a:cs typeface="Calibri" panose="020F0502020204030204" pitchFamily="34" charset="0"/>
              </a:rPr>
              <a:t>. It addresses my research question by revealing </a:t>
            </a:r>
            <a:r>
              <a:rPr lang="en-US" sz="1000" i="1" dirty="0">
                <a:latin typeface="Calibri" panose="020F0502020204030204" pitchFamily="34" charset="0"/>
                <a:ea typeface="Calibri" panose="020F0502020204030204" pitchFamily="34" charset="0"/>
                <a:cs typeface="Calibri" panose="020F0502020204030204" pitchFamily="34" charset="0"/>
              </a:rPr>
              <a:t>how salaries differ by location</a:t>
            </a:r>
            <a:r>
              <a:rPr lang="en-US" sz="1000" dirty="0">
                <a:latin typeface="Calibri" panose="020F0502020204030204" pitchFamily="34" charset="0"/>
                <a:ea typeface="Calibri" panose="020F0502020204030204" pitchFamily="34" charset="0"/>
                <a:cs typeface="Calibri" panose="020F0502020204030204" pitchFamily="34" charset="0"/>
              </a:rPr>
              <a:t>, providing insights into hiring trends and regional compensation differences. This helps job seekers focus on high-paying areas and supports employers in setting competitive salaries.</a:t>
            </a:r>
            <a:endParaRPr lang="en-SG" sz="1000" dirty="0">
              <a:latin typeface="Calibri" panose="020F0502020204030204" pitchFamily="34" charset="0"/>
              <a:ea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2C23E275-B6BB-F710-4D68-42058667DAAC}"/>
              </a:ext>
            </a:extLst>
          </p:cNvPr>
          <p:cNvSpPr txBox="1"/>
          <p:nvPr/>
        </p:nvSpPr>
        <p:spPr>
          <a:xfrm>
            <a:off x="464150" y="437848"/>
            <a:ext cx="728546" cy="253916"/>
          </a:xfrm>
          <a:prstGeom prst="rect">
            <a:avLst/>
          </a:prstGeom>
          <a:solidFill>
            <a:schemeClr val="accent1"/>
          </a:solidFill>
        </p:spPr>
        <p:txBody>
          <a:bodyPr wrap="square" rtlCol="0">
            <a:spAutoFit/>
          </a:bodyPr>
          <a:lstStyle/>
          <a:p>
            <a:r>
              <a:rPr lang="en-SG" sz="1050" b="1" u="sng" dirty="0">
                <a:latin typeface="Book Antiqua" panose="02040602050305030304" pitchFamily="18" charset="0"/>
                <a:ea typeface="Calibri" panose="020F0502020204030204" pitchFamily="34" charset="0"/>
                <a:cs typeface="Calibri" panose="020F0502020204030204" pitchFamily="34" charset="0"/>
              </a:rPr>
              <a:t>Box Plot</a:t>
            </a:r>
          </a:p>
        </p:txBody>
      </p:sp>
      <p:sp>
        <p:nvSpPr>
          <p:cNvPr id="24" name="TextBox 23">
            <a:extLst>
              <a:ext uri="{FF2B5EF4-FFF2-40B4-BE49-F238E27FC236}">
                <a16:creationId xmlns:a16="http://schemas.microsoft.com/office/drawing/2014/main" id="{ABEC042C-B82D-B77F-1D3F-524094865C70}"/>
              </a:ext>
            </a:extLst>
          </p:cNvPr>
          <p:cNvSpPr txBox="1"/>
          <p:nvPr/>
        </p:nvSpPr>
        <p:spPr>
          <a:xfrm>
            <a:off x="424393" y="2012819"/>
            <a:ext cx="706459" cy="253916"/>
          </a:xfrm>
          <a:prstGeom prst="rect">
            <a:avLst/>
          </a:prstGeom>
          <a:solidFill>
            <a:schemeClr val="accent5">
              <a:lumMod val="60000"/>
              <a:lumOff val="40000"/>
            </a:schemeClr>
          </a:solidFill>
        </p:spPr>
        <p:txBody>
          <a:bodyPr wrap="square" rtlCol="0">
            <a:spAutoFit/>
          </a:bodyPr>
          <a:lstStyle/>
          <a:p>
            <a:r>
              <a:rPr lang="en-SG" sz="1050" b="1" u="sng" dirty="0">
                <a:latin typeface="Book Antiqua" panose="02040602050305030304" pitchFamily="18" charset="0"/>
                <a:ea typeface="Calibri" panose="020F0502020204030204" pitchFamily="34" charset="0"/>
                <a:cs typeface="Calibri" panose="020F0502020204030204" pitchFamily="34" charset="0"/>
              </a:rPr>
              <a:t>Bar Plot</a:t>
            </a:r>
          </a:p>
        </p:txBody>
      </p:sp>
      <p:sp>
        <p:nvSpPr>
          <p:cNvPr id="25" name="TextBox 24">
            <a:extLst>
              <a:ext uri="{FF2B5EF4-FFF2-40B4-BE49-F238E27FC236}">
                <a16:creationId xmlns:a16="http://schemas.microsoft.com/office/drawing/2014/main" id="{9139620B-4436-A787-41D8-3AFED1376DB8}"/>
              </a:ext>
            </a:extLst>
          </p:cNvPr>
          <p:cNvSpPr txBox="1"/>
          <p:nvPr/>
        </p:nvSpPr>
        <p:spPr>
          <a:xfrm>
            <a:off x="424393" y="3597568"/>
            <a:ext cx="861068" cy="253916"/>
          </a:xfrm>
          <a:prstGeom prst="rect">
            <a:avLst/>
          </a:prstGeom>
          <a:solidFill>
            <a:srgbClr val="C8FED9"/>
          </a:solidFill>
        </p:spPr>
        <p:txBody>
          <a:bodyPr wrap="square" rtlCol="0">
            <a:spAutoFit/>
          </a:bodyPr>
          <a:lstStyle/>
          <a:p>
            <a:r>
              <a:rPr lang="en-SG" sz="1050" b="1" u="sng" dirty="0">
                <a:latin typeface="Book Antiqua" panose="02040602050305030304" pitchFamily="18" charset="0"/>
                <a:ea typeface="Calibri" panose="020F0502020204030204" pitchFamily="34" charset="0"/>
                <a:cs typeface="Calibri" panose="020F0502020204030204" pitchFamily="34" charset="0"/>
              </a:rPr>
              <a:t>Histogram</a:t>
            </a:r>
          </a:p>
        </p:txBody>
      </p:sp>
    </p:spTree>
    <p:extLst>
      <p:ext uri="{BB962C8B-B14F-4D97-AF65-F5344CB8AC3E}">
        <p14:creationId xmlns:p14="http://schemas.microsoft.com/office/powerpoint/2010/main" val="8103415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6089D0A-8244-4508-6E58-D90E9291ED53}"/>
              </a:ext>
            </a:extLst>
          </p:cNvPr>
          <p:cNvSpPr>
            <a:spLocks noGrp="1"/>
          </p:cNvSpPr>
          <p:nvPr>
            <p:ph type="ctrTitle"/>
          </p:nvPr>
        </p:nvSpPr>
        <p:spPr/>
        <p:txBody>
          <a:bodyPr/>
          <a:lstStyle/>
          <a:p>
            <a:r>
              <a:rPr lang="en-SG" sz="3200" dirty="0">
                <a:latin typeface="Book Antiqua" panose="02040602050305030304" pitchFamily="18" charset="0"/>
              </a:rPr>
              <a:t>Conclusions To Research Question</a:t>
            </a:r>
          </a:p>
        </p:txBody>
      </p:sp>
      <p:sp>
        <p:nvSpPr>
          <p:cNvPr id="4" name="Subtitle 3">
            <a:extLst>
              <a:ext uri="{FF2B5EF4-FFF2-40B4-BE49-F238E27FC236}">
                <a16:creationId xmlns:a16="http://schemas.microsoft.com/office/drawing/2014/main" id="{7AFF1C50-45C7-8662-4CF1-0525B8668653}"/>
              </a:ext>
            </a:extLst>
          </p:cNvPr>
          <p:cNvSpPr>
            <a:spLocks noGrp="1"/>
          </p:cNvSpPr>
          <p:nvPr>
            <p:ph type="subTitle" idx="1"/>
          </p:nvPr>
        </p:nvSpPr>
        <p:spPr>
          <a:xfrm>
            <a:off x="580702" y="3970798"/>
            <a:ext cx="5206079" cy="405000"/>
          </a:xfrm>
        </p:spPr>
        <p:txBody>
          <a:bodyPr/>
          <a:lstStyle/>
          <a:p>
            <a:r>
              <a:rPr lang="en-SG" dirty="0"/>
              <a:t>The truth awaits… Conclusions to my research question!</a:t>
            </a:r>
          </a:p>
        </p:txBody>
      </p:sp>
      <p:pic>
        <p:nvPicPr>
          <p:cNvPr id="6" name="Graphic 5" descr="Programmer male with solid fill">
            <a:extLst>
              <a:ext uri="{FF2B5EF4-FFF2-40B4-BE49-F238E27FC236}">
                <a16:creationId xmlns:a16="http://schemas.microsoft.com/office/drawing/2014/main" id="{E36AF017-6832-8976-8A89-967643D7C1B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72648" y="608305"/>
            <a:ext cx="2719095" cy="2719095"/>
          </a:xfrm>
          <a:prstGeom prst="rect">
            <a:avLst/>
          </a:prstGeom>
        </p:spPr>
      </p:pic>
      <p:pic>
        <p:nvPicPr>
          <p:cNvPr id="8" name="Graphic 7" descr="Programmer female with solid fill">
            <a:extLst>
              <a:ext uri="{FF2B5EF4-FFF2-40B4-BE49-F238E27FC236}">
                <a16:creationId xmlns:a16="http://schemas.microsoft.com/office/drawing/2014/main" id="{0C377E49-6B4C-8CF5-977C-7F165AAC594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014442" y="300696"/>
            <a:ext cx="2719095" cy="2719095"/>
          </a:xfrm>
          <a:prstGeom prst="rect">
            <a:avLst/>
          </a:prstGeom>
        </p:spPr>
      </p:pic>
    </p:spTree>
    <p:extLst>
      <p:ext uri="{BB962C8B-B14F-4D97-AF65-F5344CB8AC3E}">
        <p14:creationId xmlns:p14="http://schemas.microsoft.com/office/powerpoint/2010/main" val="5240848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FFDD2-40D1-7F1E-6AF8-3D3C0D79D269}"/>
              </a:ext>
            </a:extLst>
          </p:cNvPr>
          <p:cNvSpPr>
            <a:spLocks noGrp="1"/>
          </p:cNvSpPr>
          <p:nvPr>
            <p:ph type="title"/>
          </p:nvPr>
        </p:nvSpPr>
        <p:spPr/>
        <p:txBody>
          <a:bodyPr/>
          <a:lstStyle/>
          <a:p>
            <a:r>
              <a:rPr lang="en-US" sz="2400" dirty="0">
                <a:latin typeface="Calibri" panose="020F0502020204030204" pitchFamily="34" charset="0"/>
                <a:ea typeface="Calibri" panose="020F0502020204030204" pitchFamily="34" charset="0"/>
                <a:cs typeface="Calibri" panose="020F0502020204030204" pitchFamily="34" charset="0"/>
              </a:rPr>
              <a:t>Steps Taken to Answer the Research Question</a:t>
            </a:r>
            <a:endParaRPr lang="en-SG" sz="2400" dirty="0">
              <a:latin typeface="Calibri" panose="020F0502020204030204" pitchFamily="34" charset="0"/>
              <a:ea typeface="Calibri" panose="020F0502020204030204" pitchFamily="34" charset="0"/>
              <a:cs typeface="Calibri" panose="020F0502020204030204" pitchFamily="34" charset="0"/>
            </a:endParaRPr>
          </a:p>
        </p:txBody>
      </p:sp>
      <p:sp>
        <p:nvSpPr>
          <p:cNvPr id="3" name="Rectangle: Rounded Corners 2">
            <a:extLst>
              <a:ext uri="{FF2B5EF4-FFF2-40B4-BE49-F238E27FC236}">
                <a16:creationId xmlns:a16="http://schemas.microsoft.com/office/drawing/2014/main" id="{9F57EC41-BF2F-890C-2124-D546BA158668}"/>
              </a:ext>
            </a:extLst>
          </p:cNvPr>
          <p:cNvSpPr/>
          <p:nvPr/>
        </p:nvSpPr>
        <p:spPr>
          <a:xfrm>
            <a:off x="690561" y="1071557"/>
            <a:ext cx="3281362" cy="14382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 name="TextBox 3">
            <a:extLst>
              <a:ext uri="{FF2B5EF4-FFF2-40B4-BE49-F238E27FC236}">
                <a16:creationId xmlns:a16="http://schemas.microsoft.com/office/drawing/2014/main" id="{20492E6B-3EB9-7079-DB00-30A3BBBE61EB}"/>
              </a:ext>
            </a:extLst>
          </p:cNvPr>
          <p:cNvSpPr txBox="1"/>
          <p:nvPr/>
        </p:nvSpPr>
        <p:spPr>
          <a:xfrm>
            <a:off x="750092" y="1128974"/>
            <a:ext cx="3162300" cy="1323439"/>
          </a:xfrm>
          <a:prstGeom prst="rect">
            <a:avLst/>
          </a:prstGeom>
          <a:noFill/>
        </p:spPr>
        <p:txBody>
          <a:bodyPr wrap="square" rtlCol="0">
            <a:spAutoFit/>
          </a:bodyPr>
          <a:lstStyle/>
          <a:p>
            <a:r>
              <a:rPr lang="en-US" sz="1000" b="1" dirty="0">
                <a:latin typeface="Calibri" panose="020F0502020204030204" pitchFamily="34" charset="0"/>
                <a:ea typeface="Calibri" panose="020F0502020204030204" pitchFamily="34" charset="0"/>
                <a:cs typeface="Calibri" panose="020F0502020204030204" pitchFamily="34" charset="0"/>
              </a:rPr>
              <a:t>1. Data Preparation (Pandas)</a:t>
            </a:r>
          </a:p>
          <a:p>
            <a:pPr marL="171450" indent="-171450">
              <a:buFont typeface="Wingdings" panose="05000000000000000000" pitchFamily="2" charset="2"/>
              <a:buChar char="Ø"/>
            </a:pPr>
            <a:r>
              <a:rPr lang="en-US" sz="1000" dirty="0">
                <a:latin typeface="Calibri" panose="020F0502020204030204" pitchFamily="34" charset="0"/>
                <a:ea typeface="Calibri" panose="020F0502020204030204" pitchFamily="34" charset="0"/>
                <a:cs typeface="Calibri" panose="020F0502020204030204" pitchFamily="34" charset="0"/>
              </a:rPr>
              <a:t>Imported and cleaned datasets from the "CA1 dataset folder" using Pandas.</a:t>
            </a:r>
          </a:p>
          <a:p>
            <a:pPr marL="171450" indent="-171450">
              <a:buFont typeface="Wingdings" panose="05000000000000000000" pitchFamily="2" charset="2"/>
              <a:buChar char="Ø"/>
            </a:pPr>
            <a:r>
              <a:rPr lang="en-US" sz="1000" dirty="0">
                <a:latin typeface="Calibri" panose="020F0502020204030204" pitchFamily="34" charset="0"/>
                <a:ea typeface="Calibri" panose="020F0502020204030204" pitchFamily="34" charset="0"/>
                <a:cs typeface="Calibri" panose="020F0502020204030204" pitchFamily="34" charset="0"/>
              </a:rPr>
              <a:t>Conducted </a:t>
            </a:r>
            <a:r>
              <a:rPr lang="en-US" sz="1000" b="1" dirty="0">
                <a:latin typeface="Calibri" panose="020F0502020204030204" pitchFamily="34" charset="0"/>
                <a:ea typeface="Calibri" panose="020F0502020204030204" pitchFamily="34" charset="0"/>
                <a:cs typeface="Calibri" panose="020F0502020204030204" pitchFamily="34" charset="0"/>
              </a:rPr>
              <a:t>Exploratory Data Analysis (EDA)</a:t>
            </a:r>
            <a:r>
              <a:rPr lang="en-US" sz="1000" dirty="0">
                <a:latin typeface="Calibri" panose="020F0502020204030204" pitchFamily="34" charset="0"/>
                <a:ea typeface="Calibri" panose="020F0502020204030204" pitchFamily="34" charset="0"/>
                <a:cs typeface="Calibri" panose="020F0502020204030204" pitchFamily="34" charset="0"/>
              </a:rPr>
              <a:t> to understand the structure and key attributes of each dataset. This helped me gain clarity before merging.</a:t>
            </a:r>
          </a:p>
          <a:p>
            <a:pPr marL="171450" indent="-171450">
              <a:buFont typeface="Wingdings" panose="05000000000000000000" pitchFamily="2" charset="2"/>
              <a:buChar char="Ø"/>
            </a:pPr>
            <a:r>
              <a:rPr lang="en-US" sz="1000" dirty="0">
                <a:latin typeface="Calibri" panose="020F0502020204030204" pitchFamily="34" charset="0"/>
                <a:ea typeface="Calibri" panose="020F0502020204030204" pitchFamily="34" charset="0"/>
                <a:cs typeface="Calibri" panose="020F0502020204030204" pitchFamily="34" charset="0"/>
              </a:rPr>
              <a:t>Merged datasets to ensure all information was consistent and complete.</a:t>
            </a:r>
          </a:p>
        </p:txBody>
      </p:sp>
      <p:sp>
        <p:nvSpPr>
          <p:cNvPr id="5" name="Rectangle: Rounded Corners 4">
            <a:extLst>
              <a:ext uri="{FF2B5EF4-FFF2-40B4-BE49-F238E27FC236}">
                <a16:creationId xmlns:a16="http://schemas.microsoft.com/office/drawing/2014/main" id="{CF16F6FA-FD36-122D-B3BC-55DC09624721}"/>
              </a:ext>
            </a:extLst>
          </p:cNvPr>
          <p:cNvSpPr/>
          <p:nvPr/>
        </p:nvSpPr>
        <p:spPr>
          <a:xfrm>
            <a:off x="4914898" y="1071557"/>
            <a:ext cx="3456058" cy="14382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 name="TextBox 5">
            <a:extLst>
              <a:ext uri="{FF2B5EF4-FFF2-40B4-BE49-F238E27FC236}">
                <a16:creationId xmlns:a16="http://schemas.microsoft.com/office/drawing/2014/main" id="{B4B55A7F-EC1A-DEC1-D208-E11BA4739359}"/>
              </a:ext>
            </a:extLst>
          </p:cNvPr>
          <p:cNvSpPr txBox="1"/>
          <p:nvPr/>
        </p:nvSpPr>
        <p:spPr>
          <a:xfrm>
            <a:off x="4974428" y="1128974"/>
            <a:ext cx="3396527" cy="1323439"/>
          </a:xfrm>
          <a:prstGeom prst="rect">
            <a:avLst/>
          </a:prstGeom>
          <a:noFill/>
        </p:spPr>
        <p:txBody>
          <a:bodyPr wrap="square" rtlCol="0">
            <a:spAutoFit/>
          </a:bodyPr>
          <a:lstStyle/>
          <a:p>
            <a:r>
              <a:rPr lang="en-US" sz="1000" b="1" dirty="0">
                <a:latin typeface="Calibri" panose="020F0502020204030204" pitchFamily="34" charset="0"/>
                <a:ea typeface="Calibri" panose="020F0502020204030204" pitchFamily="34" charset="0"/>
                <a:cs typeface="Calibri" panose="020F0502020204030204" pitchFamily="34" charset="0"/>
              </a:rPr>
              <a:t>2. Handling Missing Data (Imputation &amp; Dropping)</a:t>
            </a:r>
          </a:p>
          <a:p>
            <a:pPr marL="171450" indent="-171450">
              <a:buFont typeface="Wingdings" panose="05000000000000000000" pitchFamily="2" charset="2"/>
              <a:buChar char="q"/>
            </a:pPr>
            <a:r>
              <a:rPr lang="en-US" sz="1000" dirty="0">
                <a:latin typeface="Calibri" panose="020F0502020204030204" pitchFamily="34" charset="0"/>
                <a:ea typeface="Calibri" panose="020F0502020204030204" pitchFamily="34" charset="0"/>
                <a:cs typeface="Calibri" panose="020F0502020204030204" pitchFamily="34" charset="0"/>
              </a:rPr>
              <a:t>Addressed missing values by:</a:t>
            </a:r>
          </a:p>
          <a:p>
            <a:pPr marL="171450" lvl="2" indent="-171450">
              <a:buFont typeface="Wingdings" panose="05000000000000000000" pitchFamily="2" charset="2"/>
              <a:buChar char="§"/>
            </a:pPr>
            <a:r>
              <a:rPr lang="en-US" sz="1000" b="1" dirty="0">
                <a:latin typeface="Calibri" panose="020F0502020204030204" pitchFamily="34" charset="0"/>
                <a:ea typeface="Calibri" panose="020F0502020204030204" pitchFamily="34" charset="0"/>
                <a:cs typeface="Calibri" panose="020F0502020204030204" pitchFamily="34" charset="0"/>
              </a:rPr>
              <a:t>Imputing with medians</a:t>
            </a:r>
            <a:r>
              <a:rPr lang="en-US" sz="1000" dirty="0">
                <a:latin typeface="Calibri" panose="020F0502020204030204" pitchFamily="34" charset="0"/>
                <a:ea typeface="Calibri" panose="020F0502020204030204" pitchFamily="34" charset="0"/>
                <a:cs typeface="Calibri" panose="020F0502020204030204" pitchFamily="34" charset="0"/>
              </a:rPr>
              <a:t> for </a:t>
            </a:r>
            <a:r>
              <a:rPr lang="en-US" sz="1000" b="1" dirty="0">
                <a:latin typeface="Calibri" panose="020F0502020204030204" pitchFamily="34" charset="0"/>
                <a:ea typeface="Calibri" panose="020F0502020204030204" pitchFamily="34" charset="0"/>
                <a:cs typeface="Calibri" panose="020F0502020204030204" pitchFamily="34" charset="0"/>
              </a:rPr>
              <a:t>numerical columns </a:t>
            </a:r>
            <a:r>
              <a:rPr lang="en-US" sz="1000" dirty="0">
                <a:latin typeface="Calibri" panose="020F0502020204030204" pitchFamily="34" charset="0"/>
                <a:ea typeface="Calibri" panose="020F0502020204030204" pitchFamily="34" charset="0"/>
                <a:cs typeface="Calibri" panose="020F0502020204030204" pitchFamily="34" charset="0"/>
              </a:rPr>
              <a:t>(e.g., salaries and views).</a:t>
            </a:r>
          </a:p>
          <a:p>
            <a:pPr marL="171450" lvl="5" indent="-171450">
              <a:buFont typeface="Wingdings" panose="05000000000000000000" pitchFamily="2" charset="2"/>
              <a:buChar char="§"/>
            </a:pPr>
            <a:r>
              <a:rPr lang="en-US" sz="1000" b="1" dirty="0">
                <a:latin typeface="Calibri" panose="020F0502020204030204" pitchFamily="34" charset="0"/>
                <a:ea typeface="Calibri" panose="020F0502020204030204" pitchFamily="34" charset="0"/>
                <a:cs typeface="Calibri" panose="020F0502020204030204" pitchFamily="34" charset="0"/>
              </a:rPr>
              <a:t>Dropping columns or rows</a:t>
            </a:r>
            <a:r>
              <a:rPr lang="en-US" sz="1000" dirty="0">
                <a:latin typeface="Calibri" panose="020F0502020204030204" pitchFamily="34" charset="0"/>
                <a:ea typeface="Calibri" panose="020F0502020204030204" pitchFamily="34" charset="0"/>
                <a:cs typeface="Calibri" panose="020F0502020204030204" pitchFamily="34" charset="0"/>
              </a:rPr>
              <a:t> with excessive missing data and keeping those that are relevant</a:t>
            </a:r>
          </a:p>
          <a:p>
            <a:pPr marL="171450" indent="-171450">
              <a:buFont typeface="Wingdings" panose="05000000000000000000" pitchFamily="2" charset="2"/>
              <a:buChar char="q"/>
            </a:pPr>
            <a:r>
              <a:rPr lang="en-US" sz="1000" dirty="0">
                <a:latin typeface="Calibri" panose="020F0502020204030204" pitchFamily="34" charset="0"/>
                <a:ea typeface="Calibri" panose="020F0502020204030204" pitchFamily="34" charset="0"/>
                <a:cs typeface="Calibri" panose="020F0502020204030204" pitchFamily="34" charset="0"/>
              </a:rPr>
              <a:t>Ensured </a:t>
            </a:r>
            <a:r>
              <a:rPr lang="en-US" sz="1000" b="1" dirty="0">
                <a:latin typeface="Calibri" panose="020F0502020204030204" pitchFamily="34" charset="0"/>
                <a:ea typeface="Calibri" panose="020F0502020204030204" pitchFamily="34" charset="0"/>
                <a:cs typeface="Calibri" panose="020F0502020204030204" pitchFamily="34" charset="0"/>
              </a:rPr>
              <a:t>clean, reliable data</a:t>
            </a:r>
            <a:r>
              <a:rPr lang="en-US" sz="1000" dirty="0">
                <a:latin typeface="Calibri" panose="020F0502020204030204" pitchFamily="34" charset="0"/>
                <a:ea typeface="Calibri" panose="020F0502020204030204" pitchFamily="34" charset="0"/>
                <a:cs typeface="Calibri" panose="020F0502020204030204" pitchFamily="34" charset="0"/>
              </a:rPr>
              <a:t> for analysis.</a:t>
            </a:r>
          </a:p>
          <a:p>
            <a:endParaRPr lang="en-US" sz="1000" dirty="0">
              <a:latin typeface="Calibri" panose="020F0502020204030204" pitchFamily="34" charset="0"/>
              <a:ea typeface="Calibri" panose="020F0502020204030204" pitchFamily="34" charset="0"/>
              <a:cs typeface="Calibri" panose="020F0502020204030204" pitchFamily="34" charset="0"/>
            </a:endParaRPr>
          </a:p>
        </p:txBody>
      </p:sp>
      <p:sp>
        <p:nvSpPr>
          <p:cNvPr id="7" name="Rectangle: Rounded Corners 6">
            <a:extLst>
              <a:ext uri="{FF2B5EF4-FFF2-40B4-BE49-F238E27FC236}">
                <a16:creationId xmlns:a16="http://schemas.microsoft.com/office/drawing/2014/main" id="{B9F854AB-D951-E770-5DF3-E4D48B6709EA}"/>
              </a:ext>
            </a:extLst>
          </p:cNvPr>
          <p:cNvSpPr/>
          <p:nvPr/>
        </p:nvSpPr>
        <p:spPr>
          <a:xfrm>
            <a:off x="4914898" y="2941155"/>
            <a:ext cx="3557196" cy="143691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TextBox 7">
            <a:extLst>
              <a:ext uri="{FF2B5EF4-FFF2-40B4-BE49-F238E27FC236}">
                <a16:creationId xmlns:a16="http://schemas.microsoft.com/office/drawing/2014/main" id="{D691405A-3137-8827-2686-492B835E0394}"/>
              </a:ext>
            </a:extLst>
          </p:cNvPr>
          <p:cNvSpPr txBox="1"/>
          <p:nvPr/>
        </p:nvSpPr>
        <p:spPr>
          <a:xfrm>
            <a:off x="4974428" y="3010162"/>
            <a:ext cx="3589719" cy="1200329"/>
          </a:xfrm>
          <a:prstGeom prst="rect">
            <a:avLst/>
          </a:prstGeom>
          <a:noFill/>
        </p:spPr>
        <p:txBody>
          <a:bodyPr wrap="square" rtlCol="0">
            <a:spAutoFit/>
          </a:bodyPr>
          <a:lstStyle/>
          <a:p>
            <a:r>
              <a:rPr lang="en-US" sz="900" b="1" dirty="0">
                <a:latin typeface="Calibri" panose="020F0502020204030204" pitchFamily="34" charset="0"/>
                <a:ea typeface="Calibri" panose="020F0502020204030204" pitchFamily="34" charset="0"/>
                <a:cs typeface="Calibri" panose="020F0502020204030204" pitchFamily="34" charset="0"/>
              </a:rPr>
              <a:t>3. Outlier Detection</a:t>
            </a:r>
          </a:p>
          <a:p>
            <a:pPr marL="171450" indent="-171450">
              <a:buFont typeface="Wingdings" panose="05000000000000000000" pitchFamily="2" charset="2"/>
              <a:buChar char="Ø"/>
            </a:pPr>
            <a:r>
              <a:rPr lang="en-US" sz="900" dirty="0">
                <a:latin typeface="Calibri" panose="020F0502020204030204" pitchFamily="34" charset="0"/>
                <a:ea typeface="Calibri" panose="020F0502020204030204" pitchFamily="34" charset="0"/>
                <a:cs typeface="Calibri" panose="020F0502020204030204" pitchFamily="34" charset="0"/>
              </a:rPr>
              <a:t>Analysed key numerical columns like </a:t>
            </a:r>
            <a:r>
              <a:rPr lang="en-US" sz="900" b="1" dirty="0">
                <a:latin typeface="Calibri" panose="020F0502020204030204" pitchFamily="34" charset="0"/>
                <a:ea typeface="Calibri" panose="020F0502020204030204" pitchFamily="34" charset="0"/>
                <a:cs typeface="Calibri" panose="020F0502020204030204" pitchFamily="34" charset="0"/>
              </a:rPr>
              <a:t>views</a:t>
            </a:r>
            <a:r>
              <a:rPr lang="en-US" sz="900" dirty="0">
                <a:latin typeface="Calibri" panose="020F0502020204030204" pitchFamily="34" charset="0"/>
                <a:ea typeface="Calibri" panose="020F0502020204030204" pitchFamily="34" charset="0"/>
                <a:cs typeface="Calibri" panose="020F0502020204030204" pitchFamily="34" charset="0"/>
              </a:rPr>
              <a:t> and </a:t>
            </a:r>
            <a:r>
              <a:rPr lang="en-US" sz="900" b="1" dirty="0">
                <a:latin typeface="Calibri" panose="020F0502020204030204" pitchFamily="34" charset="0"/>
                <a:ea typeface="Calibri" panose="020F0502020204030204" pitchFamily="34" charset="0"/>
                <a:cs typeface="Calibri" panose="020F0502020204030204" pitchFamily="34" charset="0"/>
              </a:rPr>
              <a:t>applies</a:t>
            </a:r>
            <a:r>
              <a:rPr lang="en-US" sz="900" dirty="0">
                <a:latin typeface="Calibri" panose="020F0502020204030204" pitchFamily="34" charset="0"/>
                <a:ea typeface="Calibri" panose="020F0502020204030204" pitchFamily="34" charset="0"/>
                <a:cs typeface="Calibri" panose="020F0502020204030204" pitchFamily="34" charset="0"/>
              </a:rPr>
              <a:t> to identify extreme values using the </a:t>
            </a:r>
            <a:r>
              <a:rPr lang="en-US" sz="900" b="1" dirty="0">
                <a:latin typeface="Calibri" panose="020F0502020204030204" pitchFamily="34" charset="0"/>
                <a:ea typeface="Calibri" panose="020F0502020204030204" pitchFamily="34" charset="0"/>
                <a:cs typeface="Calibri" panose="020F0502020204030204" pitchFamily="34" charset="0"/>
              </a:rPr>
              <a:t>IQR method</a:t>
            </a:r>
            <a:r>
              <a:rPr lang="en-US" sz="900" dirty="0">
                <a:latin typeface="Calibri" panose="020F0502020204030204" pitchFamily="34" charset="0"/>
                <a:ea typeface="Calibri" panose="020F0502020204030204" pitchFamily="34" charset="0"/>
                <a:cs typeface="Calibri" panose="020F0502020204030204" pitchFamily="34" charset="0"/>
              </a:rPr>
              <a:t>.</a:t>
            </a:r>
          </a:p>
          <a:p>
            <a:pPr marL="171450" indent="-171450">
              <a:buFont typeface="Wingdings" panose="05000000000000000000" pitchFamily="2" charset="2"/>
              <a:buChar char="Ø"/>
            </a:pPr>
            <a:r>
              <a:rPr lang="en-US" sz="900" dirty="0">
                <a:latin typeface="Calibri" panose="020F0502020204030204" pitchFamily="34" charset="0"/>
                <a:ea typeface="Calibri" panose="020F0502020204030204" pitchFamily="34" charset="0"/>
                <a:cs typeface="Calibri" panose="020F0502020204030204" pitchFamily="34" charset="0"/>
              </a:rPr>
              <a:t>Outliers were values outside </a:t>
            </a:r>
            <a:r>
              <a:rPr lang="en-US" sz="900" b="1" dirty="0">
                <a:latin typeface="Calibri" panose="020F0502020204030204" pitchFamily="34" charset="0"/>
                <a:ea typeface="Calibri" panose="020F0502020204030204" pitchFamily="34" charset="0"/>
                <a:cs typeface="Calibri" panose="020F0502020204030204" pitchFamily="34" charset="0"/>
              </a:rPr>
              <a:t>Q1 - 1.5*IQR</a:t>
            </a:r>
            <a:r>
              <a:rPr lang="en-US" sz="900" dirty="0">
                <a:latin typeface="Calibri" panose="020F0502020204030204" pitchFamily="34" charset="0"/>
                <a:ea typeface="Calibri" panose="020F0502020204030204" pitchFamily="34" charset="0"/>
                <a:cs typeface="Calibri" panose="020F0502020204030204" pitchFamily="34" charset="0"/>
              </a:rPr>
              <a:t> or </a:t>
            </a:r>
            <a:r>
              <a:rPr lang="en-US" sz="900" b="1" dirty="0">
                <a:latin typeface="Calibri" panose="020F0502020204030204" pitchFamily="34" charset="0"/>
                <a:ea typeface="Calibri" panose="020F0502020204030204" pitchFamily="34" charset="0"/>
                <a:cs typeface="Calibri" panose="020F0502020204030204" pitchFamily="34" charset="0"/>
              </a:rPr>
              <a:t>Q3 + 1.5*IQR</a:t>
            </a:r>
            <a:r>
              <a:rPr lang="en-US" sz="900" dirty="0">
                <a:latin typeface="Calibri" panose="020F0502020204030204" pitchFamily="34" charset="0"/>
                <a:ea typeface="Calibri" panose="020F0502020204030204" pitchFamily="34" charset="0"/>
                <a:cs typeface="Calibri" panose="020F0502020204030204" pitchFamily="34" charset="0"/>
              </a:rPr>
              <a:t>.</a:t>
            </a:r>
          </a:p>
          <a:p>
            <a:pPr marL="171450" indent="-171450">
              <a:buFont typeface="Wingdings" panose="05000000000000000000" pitchFamily="2" charset="2"/>
              <a:buChar char="Ø"/>
            </a:pPr>
            <a:r>
              <a:rPr lang="en-US" sz="900" dirty="0">
                <a:latin typeface="Calibri" panose="020F0502020204030204" pitchFamily="34" charset="0"/>
                <a:ea typeface="Calibri" panose="020F0502020204030204" pitchFamily="34" charset="0"/>
                <a:cs typeface="Calibri" panose="020F0502020204030204" pitchFamily="34" charset="0"/>
              </a:rPr>
              <a:t>Applied </a:t>
            </a:r>
            <a:r>
              <a:rPr lang="en-US" sz="900" b="1" dirty="0">
                <a:latin typeface="Calibri" panose="020F0502020204030204" pitchFamily="34" charset="0"/>
                <a:ea typeface="Calibri" panose="020F0502020204030204" pitchFamily="34" charset="0"/>
                <a:cs typeface="Calibri" panose="020F0502020204030204" pitchFamily="34" charset="0"/>
              </a:rPr>
              <a:t>capping</a:t>
            </a:r>
            <a:r>
              <a:rPr lang="en-US" sz="900" dirty="0">
                <a:latin typeface="Calibri" panose="020F0502020204030204" pitchFamily="34" charset="0"/>
                <a:ea typeface="Calibri" panose="020F0502020204030204" pitchFamily="34" charset="0"/>
                <a:cs typeface="Calibri" panose="020F0502020204030204" pitchFamily="34" charset="0"/>
              </a:rPr>
              <a:t> to replace values beyond these bounds with the nearest limit.</a:t>
            </a:r>
          </a:p>
          <a:p>
            <a:pPr marL="171450" indent="-171450">
              <a:buFont typeface="Wingdings" panose="05000000000000000000" pitchFamily="2" charset="2"/>
              <a:buChar char="Ø"/>
            </a:pPr>
            <a:r>
              <a:rPr lang="en-US" sz="900" dirty="0">
                <a:latin typeface="Calibri" panose="020F0502020204030204" pitchFamily="34" charset="0"/>
                <a:ea typeface="Calibri" panose="020F0502020204030204" pitchFamily="34" charset="0"/>
                <a:cs typeface="Calibri" panose="020F0502020204030204" pitchFamily="34" charset="0"/>
              </a:rPr>
              <a:t>Ensured a clean, reliable dataset by minimising the impact of extreme values on insights.</a:t>
            </a:r>
          </a:p>
        </p:txBody>
      </p:sp>
      <p:sp>
        <p:nvSpPr>
          <p:cNvPr id="9" name="Rectangle: Rounded Corners 8">
            <a:extLst>
              <a:ext uri="{FF2B5EF4-FFF2-40B4-BE49-F238E27FC236}">
                <a16:creationId xmlns:a16="http://schemas.microsoft.com/office/drawing/2014/main" id="{2FB2104F-DE52-0739-E441-7F3CACC21F40}"/>
              </a:ext>
            </a:extLst>
          </p:cNvPr>
          <p:cNvSpPr/>
          <p:nvPr/>
        </p:nvSpPr>
        <p:spPr>
          <a:xfrm>
            <a:off x="623078" y="2951443"/>
            <a:ext cx="3456059" cy="14382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 name="TextBox 9">
            <a:extLst>
              <a:ext uri="{FF2B5EF4-FFF2-40B4-BE49-F238E27FC236}">
                <a16:creationId xmlns:a16="http://schemas.microsoft.com/office/drawing/2014/main" id="{EAA95D66-EDC3-C386-7B5C-72DA189D818D}"/>
              </a:ext>
            </a:extLst>
          </p:cNvPr>
          <p:cNvSpPr txBox="1"/>
          <p:nvPr/>
        </p:nvSpPr>
        <p:spPr>
          <a:xfrm>
            <a:off x="623079" y="3012110"/>
            <a:ext cx="3456059" cy="1338828"/>
          </a:xfrm>
          <a:prstGeom prst="rect">
            <a:avLst/>
          </a:prstGeom>
          <a:noFill/>
        </p:spPr>
        <p:txBody>
          <a:bodyPr wrap="square" rtlCol="0">
            <a:spAutoFit/>
          </a:bodyPr>
          <a:lstStyle/>
          <a:p>
            <a:r>
              <a:rPr lang="en-US" sz="900" b="1" dirty="0">
                <a:latin typeface="Calibri" panose="020F0502020204030204" pitchFamily="34" charset="0"/>
                <a:ea typeface="Calibri" panose="020F0502020204030204" pitchFamily="34" charset="0"/>
                <a:cs typeface="Calibri" panose="020F0502020204030204" pitchFamily="34" charset="0"/>
              </a:rPr>
              <a:t>4. Data Visualisation (Matplotlib)</a:t>
            </a:r>
          </a:p>
          <a:p>
            <a:pPr marL="171450" indent="-171450">
              <a:buFont typeface="Wingdings" panose="05000000000000000000" pitchFamily="2" charset="2"/>
              <a:buChar char="q"/>
            </a:pPr>
            <a:r>
              <a:rPr lang="en-US" sz="900" dirty="0">
                <a:latin typeface="Calibri" panose="020F0502020204030204" pitchFamily="34" charset="0"/>
                <a:ea typeface="Calibri" panose="020F0502020204030204" pitchFamily="34" charset="0"/>
                <a:cs typeface="Calibri" panose="020F0502020204030204" pitchFamily="34" charset="0"/>
              </a:rPr>
              <a:t>Used </a:t>
            </a:r>
            <a:r>
              <a:rPr lang="en-US" sz="900" b="1" dirty="0">
                <a:latin typeface="Calibri" panose="020F0502020204030204" pitchFamily="34" charset="0"/>
                <a:ea typeface="Calibri" panose="020F0502020204030204" pitchFamily="34" charset="0"/>
                <a:cs typeface="Calibri" panose="020F0502020204030204" pitchFamily="34" charset="0"/>
              </a:rPr>
              <a:t>Matplotlib</a:t>
            </a:r>
            <a:r>
              <a:rPr lang="en-US" sz="900" dirty="0">
                <a:latin typeface="Calibri" panose="020F0502020204030204" pitchFamily="34" charset="0"/>
                <a:ea typeface="Calibri" panose="020F0502020204030204" pitchFamily="34" charset="0"/>
                <a:cs typeface="Calibri" panose="020F0502020204030204" pitchFamily="34" charset="0"/>
              </a:rPr>
              <a:t> to create detailed charts and plots:</a:t>
            </a:r>
          </a:p>
          <a:p>
            <a:pPr marL="742950" lvl="1" indent="-285750">
              <a:buFont typeface="Wingdings" panose="05000000000000000000" pitchFamily="2" charset="2"/>
              <a:buChar char="Ø"/>
            </a:pPr>
            <a:r>
              <a:rPr lang="en-US" sz="900" b="1" dirty="0">
                <a:latin typeface="Calibri" panose="020F0502020204030204" pitchFamily="34" charset="0"/>
                <a:ea typeface="Calibri" panose="020F0502020204030204" pitchFamily="34" charset="0"/>
                <a:cs typeface="Calibri" panose="020F0502020204030204" pitchFamily="34" charset="0"/>
              </a:rPr>
              <a:t>Bar Charts</a:t>
            </a:r>
            <a:r>
              <a:rPr lang="en-US" sz="900" dirty="0">
                <a:latin typeface="Calibri" panose="020F0502020204030204" pitchFamily="34" charset="0"/>
                <a:ea typeface="Calibri" panose="020F0502020204030204" pitchFamily="34" charset="0"/>
                <a:cs typeface="Calibri" panose="020F0502020204030204" pitchFamily="34" charset="0"/>
              </a:rPr>
              <a:t> for top IT roles and job locations.</a:t>
            </a:r>
          </a:p>
          <a:p>
            <a:pPr marL="742950" lvl="1" indent="-285750">
              <a:buFont typeface="Wingdings" panose="05000000000000000000" pitchFamily="2" charset="2"/>
              <a:buChar char="Ø"/>
            </a:pPr>
            <a:r>
              <a:rPr lang="en-US" sz="900" b="1" dirty="0">
                <a:latin typeface="Calibri" panose="020F0502020204030204" pitchFamily="34" charset="0"/>
                <a:ea typeface="Calibri" panose="020F0502020204030204" pitchFamily="34" charset="0"/>
                <a:cs typeface="Calibri" panose="020F0502020204030204" pitchFamily="34" charset="0"/>
              </a:rPr>
              <a:t>Pie Chart</a:t>
            </a:r>
            <a:r>
              <a:rPr lang="en-US" sz="900" dirty="0">
                <a:latin typeface="Calibri" panose="020F0502020204030204" pitchFamily="34" charset="0"/>
                <a:ea typeface="Calibri" panose="020F0502020204030204" pitchFamily="34" charset="0"/>
                <a:cs typeface="Calibri" panose="020F0502020204030204" pitchFamily="34" charset="0"/>
              </a:rPr>
              <a:t> for most in-demand IT skills.</a:t>
            </a:r>
          </a:p>
          <a:p>
            <a:pPr marL="742950" lvl="1" indent="-285750">
              <a:buFont typeface="Wingdings" panose="05000000000000000000" pitchFamily="2" charset="2"/>
              <a:buChar char="Ø"/>
            </a:pPr>
            <a:r>
              <a:rPr lang="en-US" sz="900" b="1" dirty="0">
                <a:latin typeface="Calibri" panose="020F0502020204030204" pitchFamily="34" charset="0"/>
                <a:ea typeface="Calibri" panose="020F0502020204030204" pitchFamily="34" charset="0"/>
                <a:cs typeface="Calibri" panose="020F0502020204030204" pitchFamily="34" charset="0"/>
              </a:rPr>
              <a:t>Box Plots</a:t>
            </a:r>
            <a:r>
              <a:rPr lang="en-US" sz="900" dirty="0">
                <a:latin typeface="Calibri" panose="020F0502020204030204" pitchFamily="34" charset="0"/>
                <a:ea typeface="Calibri" panose="020F0502020204030204" pitchFamily="34" charset="0"/>
                <a:cs typeface="Calibri" panose="020F0502020204030204" pitchFamily="34" charset="0"/>
              </a:rPr>
              <a:t> for salary distributions by experience level.</a:t>
            </a:r>
          </a:p>
          <a:p>
            <a:pPr marL="742950" lvl="1" indent="-285750">
              <a:buFont typeface="Wingdings" panose="05000000000000000000" pitchFamily="2" charset="2"/>
              <a:buChar char="Ø"/>
            </a:pPr>
            <a:r>
              <a:rPr lang="en-US" sz="900" b="1" dirty="0">
                <a:latin typeface="Calibri" panose="020F0502020204030204" pitchFamily="34" charset="0"/>
                <a:ea typeface="Calibri" panose="020F0502020204030204" pitchFamily="34" charset="0"/>
                <a:cs typeface="Calibri" panose="020F0502020204030204" pitchFamily="34" charset="0"/>
              </a:rPr>
              <a:t>Histograms</a:t>
            </a:r>
            <a:r>
              <a:rPr lang="en-US" sz="900" dirty="0">
                <a:latin typeface="Calibri" panose="020F0502020204030204" pitchFamily="34" charset="0"/>
                <a:ea typeface="Calibri" panose="020F0502020204030204" pitchFamily="34" charset="0"/>
                <a:cs typeface="Calibri" panose="020F0502020204030204" pitchFamily="34" charset="0"/>
              </a:rPr>
              <a:t> for maximum salary distribution by location.</a:t>
            </a:r>
          </a:p>
          <a:p>
            <a:pPr marL="742950" lvl="1" indent="-285750">
              <a:buFont typeface="Wingdings" panose="05000000000000000000" pitchFamily="2" charset="2"/>
              <a:buChar char="Ø"/>
            </a:pPr>
            <a:r>
              <a:rPr lang="en-US" sz="900" b="1" dirty="0">
                <a:latin typeface="Calibri" panose="020F0502020204030204" pitchFamily="34" charset="0"/>
                <a:ea typeface="Calibri" panose="020F0502020204030204" pitchFamily="34" charset="0"/>
                <a:cs typeface="Calibri" panose="020F0502020204030204" pitchFamily="34" charset="0"/>
              </a:rPr>
              <a:t>Scatter Plot</a:t>
            </a:r>
            <a:r>
              <a:rPr lang="en-US" sz="900" dirty="0">
                <a:latin typeface="Calibri" panose="020F0502020204030204" pitchFamily="34" charset="0"/>
                <a:ea typeface="Calibri" panose="020F0502020204030204" pitchFamily="34" charset="0"/>
                <a:cs typeface="Calibri" panose="020F0502020204030204" pitchFamily="34" charset="0"/>
              </a:rPr>
              <a:t> for the relationship between job views and applications.</a:t>
            </a:r>
          </a:p>
        </p:txBody>
      </p:sp>
      <p:sp>
        <p:nvSpPr>
          <p:cNvPr id="14" name="Arrow: Right 13">
            <a:extLst>
              <a:ext uri="{FF2B5EF4-FFF2-40B4-BE49-F238E27FC236}">
                <a16:creationId xmlns:a16="http://schemas.microsoft.com/office/drawing/2014/main" id="{E9978769-DBA5-355B-788C-161ACDC24CF6}"/>
              </a:ext>
            </a:extLst>
          </p:cNvPr>
          <p:cNvSpPr/>
          <p:nvPr/>
        </p:nvSpPr>
        <p:spPr>
          <a:xfrm>
            <a:off x="4127964" y="1453322"/>
            <a:ext cx="651653" cy="6537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 name="Arrow: Down 14">
            <a:extLst>
              <a:ext uri="{FF2B5EF4-FFF2-40B4-BE49-F238E27FC236}">
                <a16:creationId xmlns:a16="http://schemas.microsoft.com/office/drawing/2014/main" id="{CB8CE5E9-7F42-AA5F-E84D-15903116D624}"/>
              </a:ext>
            </a:extLst>
          </p:cNvPr>
          <p:cNvSpPr/>
          <p:nvPr/>
        </p:nvSpPr>
        <p:spPr>
          <a:xfrm>
            <a:off x="6432023" y="2571750"/>
            <a:ext cx="463891" cy="31198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7" name="Arrow: Right 16">
            <a:extLst>
              <a:ext uri="{FF2B5EF4-FFF2-40B4-BE49-F238E27FC236}">
                <a16:creationId xmlns:a16="http://schemas.microsoft.com/office/drawing/2014/main" id="{5F4293A4-D171-84A1-4680-E6FBF4498BF9}"/>
              </a:ext>
            </a:extLst>
          </p:cNvPr>
          <p:cNvSpPr/>
          <p:nvPr/>
        </p:nvSpPr>
        <p:spPr>
          <a:xfrm rot="10800000">
            <a:off x="4171192" y="3345429"/>
            <a:ext cx="651653" cy="6537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23791356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F7158-700D-C564-08CF-2C36442F6F6D}"/>
              </a:ext>
            </a:extLst>
          </p:cNvPr>
          <p:cNvSpPr>
            <a:spLocks noGrp="1"/>
          </p:cNvSpPr>
          <p:nvPr>
            <p:ph type="title"/>
          </p:nvPr>
        </p:nvSpPr>
        <p:spPr>
          <a:xfrm>
            <a:off x="713250" y="76404"/>
            <a:ext cx="7717500" cy="453900"/>
          </a:xfrm>
        </p:spPr>
        <p:txBody>
          <a:bodyPr/>
          <a:lstStyle/>
          <a:p>
            <a:r>
              <a:rPr lang="en-SG" sz="2400" dirty="0">
                <a:latin typeface="Calibri" panose="020F0502020204030204" pitchFamily="34" charset="0"/>
                <a:ea typeface="Calibri" panose="020F0502020204030204" pitchFamily="34" charset="0"/>
                <a:cs typeface="Calibri" panose="020F0502020204030204" pitchFamily="34" charset="0"/>
              </a:rPr>
              <a:t>Final Conclusions</a:t>
            </a:r>
          </a:p>
        </p:txBody>
      </p:sp>
      <p:sp>
        <p:nvSpPr>
          <p:cNvPr id="3" name="Rectangle 2">
            <a:extLst>
              <a:ext uri="{FF2B5EF4-FFF2-40B4-BE49-F238E27FC236}">
                <a16:creationId xmlns:a16="http://schemas.microsoft.com/office/drawing/2014/main" id="{C8803301-2C99-5F9C-2DA6-784567DA3DE4}"/>
              </a:ext>
            </a:extLst>
          </p:cNvPr>
          <p:cNvSpPr/>
          <p:nvPr/>
        </p:nvSpPr>
        <p:spPr>
          <a:xfrm>
            <a:off x="-1" y="518877"/>
            <a:ext cx="9144000" cy="11374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 name="TextBox 3">
            <a:extLst>
              <a:ext uri="{FF2B5EF4-FFF2-40B4-BE49-F238E27FC236}">
                <a16:creationId xmlns:a16="http://schemas.microsoft.com/office/drawing/2014/main" id="{11F212DA-C6AB-0FDF-D870-7E7475B46DC1}"/>
              </a:ext>
            </a:extLst>
          </p:cNvPr>
          <p:cNvSpPr txBox="1"/>
          <p:nvPr/>
        </p:nvSpPr>
        <p:spPr>
          <a:xfrm>
            <a:off x="361298" y="568604"/>
            <a:ext cx="9024001" cy="861774"/>
          </a:xfrm>
          <a:prstGeom prst="rect">
            <a:avLst/>
          </a:prstGeom>
          <a:noFill/>
        </p:spPr>
        <p:txBody>
          <a:bodyPr wrap="square" rtlCol="0">
            <a:spAutoFit/>
          </a:bodyPr>
          <a:lstStyle/>
          <a:p>
            <a:r>
              <a:rPr lang="en-US" sz="1000" b="1" dirty="0">
                <a:latin typeface="Calibri" panose="020F0502020204030204" pitchFamily="34" charset="0"/>
                <a:ea typeface="Calibri" panose="020F0502020204030204" pitchFamily="34" charset="0"/>
                <a:cs typeface="Calibri" panose="020F0502020204030204" pitchFamily="34" charset="0"/>
              </a:rPr>
              <a:t>1. Hiring Trends</a:t>
            </a:r>
          </a:p>
          <a:p>
            <a:pPr marL="171450" indent="-171450">
              <a:buFont typeface="Wingdings" panose="05000000000000000000" pitchFamily="2" charset="2"/>
              <a:buChar char="§"/>
            </a:pPr>
            <a:r>
              <a:rPr lang="en-US" sz="1000" b="1" dirty="0">
                <a:latin typeface="Calibri" panose="020F0502020204030204" pitchFamily="34" charset="0"/>
                <a:ea typeface="Calibri" panose="020F0502020204030204" pitchFamily="34" charset="0"/>
                <a:cs typeface="Calibri" panose="020F0502020204030204" pitchFamily="34" charset="0"/>
              </a:rPr>
              <a:t>Top IT Job Titles</a:t>
            </a:r>
            <a:r>
              <a:rPr lang="en-US" sz="1000" dirty="0">
                <a:latin typeface="Calibri" panose="020F0502020204030204" pitchFamily="34" charset="0"/>
                <a:ea typeface="Calibri" panose="020F0502020204030204" pitchFamily="34" charset="0"/>
                <a:cs typeface="Calibri" panose="020F0502020204030204" pitchFamily="34" charset="0"/>
              </a:rPr>
              <a:t>:</a:t>
            </a:r>
          </a:p>
          <a:p>
            <a:pPr marL="628650" lvl="1" indent="-171450">
              <a:buFont typeface="Wingdings" panose="05000000000000000000" pitchFamily="2" charset="2"/>
              <a:buChar char="§"/>
            </a:pPr>
            <a:r>
              <a:rPr lang="en-US" sz="1000" b="1" dirty="0">
                <a:latin typeface="Calibri" panose="020F0502020204030204" pitchFamily="34" charset="0"/>
                <a:ea typeface="Calibri" panose="020F0502020204030204" pitchFamily="34" charset="0"/>
                <a:cs typeface="Calibri" panose="020F0502020204030204" pitchFamily="34" charset="0"/>
              </a:rPr>
              <a:t>Software Engineer</a:t>
            </a:r>
            <a:r>
              <a:rPr lang="en-US" sz="1000" dirty="0">
                <a:latin typeface="Calibri" panose="020F0502020204030204" pitchFamily="34" charset="0"/>
                <a:ea typeface="Calibri" panose="020F0502020204030204" pitchFamily="34" charset="0"/>
                <a:cs typeface="Calibri" panose="020F0502020204030204" pitchFamily="34" charset="0"/>
              </a:rPr>
              <a:t> is the most in-demand role with 181 postings.</a:t>
            </a:r>
          </a:p>
          <a:p>
            <a:pPr marL="628650" lvl="1" indent="-171450">
              <a:buFont typeface="Wingdings" panose="05000000000000000000" pitchFamily="2" charset="2"/>
              <a:buChar char="§"/>
            </a:pPr>
            <a:r>
              <a:rPr lang="en-US" sz="1000" dirty="0">
                <a:latin typeface="Calibri" panose="020F0502020204030204" pitchFamily="34" charset="0"/>
                <a:ea typeface="Calibri" panose="020F0502020204030204" pitchFamily="34" charset="0"/>
                <a:cs typeface="Calibri" panose="020F0502020204030204" pitchFamily="34" charset="0"/>
              </a:rPr>
              <a:t>Senior positions like </a:t>
            </a:r>
            <a:r>
              <a:rPr lang="en-US" sz="1000" b="1" dirty="0">
                <a:latin typeface="Calibri" panose="020F0502020204030204" pitchFamily="34" charset="0"/>
                <a:ea typeface="Calibri" panose="020F0502020204030204" pitchFamily="34" charset="0"/>
                <a:cs typeface="Calibri" panose="020F0502020204030204" pitchFamily="34" charset="0"/>
              </a:rPr>
              <a:t>Senior Software Engineer</a:t>
            </a:r>
            <a:r>
              <a:rPr lang="en-US" sz="1000" dirty="0">
                <a:latin typeface="Calibri" panose="020F0502020204030204" pitchFamily="34" charset="0"/>
                <a:ea typeface="Calibri" panose="020F0502020204030204" pitchFamily="34" charset="0"/>
                <a:cs typeface="Calibri" panose="020F0502020204030204" pitchFamily="34" charset="0"/>
              </a:rPr>
              <a:t> show high demand for experienced professionals.</a:t>
            </a:r>
          </a:p>
          <a:p>
            <a:pPr marL="171450" indent="-171450">
              <a:buFont typeface="Wingdings" panose="05000000000000000000" pitchFamily="2" charset="2"/>
              <a:buChar char="§"/>
            </a:pPr>
            <a:r>
              <a:rPr lang="en-US" sz="1000" b="1" dirty="0">
                <a:latin typeface="Calibri" panose="020F0502020204030204" pitchFamily="34" charset="0"/>
                <a:ea typeface="Calibri" panose="020F0502020204030204" pitchFamily="34" charset="0"/>
                <a:cs typeface="Calibri" panose="020F0502020204030204" pitchFamily="34" charset="0"/>
              </a:rPr>
              <a:t>Conclusion</a:t>
            </a:r>
            <a:r>
              <a:rPr lang="en-US" sz="1000" dirty="0">
                <a:latin typeface="Calibri" panose="020F0502020204030204" pitchFamily="34" charset="0"/>
                <a:ea typeface="Calibri" panose="020F0502020204030204" pitchFamily="34" charset="0"/>
                <a:cs typeface="Calibri" panose="020F0502020204030204" pitchFamily="34" charset="0"/>
              </a:rPr>
              <a:t>: Highlights the market's demand for skilled IT professionals, especially in software and business analysis roles.</a:t>
            </a:r>
          </a:p>
        </p:txBody>
      </p:sp>
      <p:sp>
        <p:nvSpPr>
          <p:cNvPr id="5" name="Rectangle 4">
            <a:extLst>
              <a:ext uri="{FF2B5EF4-FFF2-40B4-BE49-F238E27FC236}">
                <a16:creationId xmlns:a16="http://schemas.microsoft.com/office/drawing/2014/main" id="{84EB362D-9306-3A71-D749-505560A75DE9}"/>
              </a:ext>
            </a:extLst>
          </p:cNvPr>
          <p:cNvSpPr/>
          <p:nvPr/>
        </p:nvSpPr>
        <p:spPr>
          <a:xfrm>
            <a:off x="0" y="1507323"/>
            <a:ext cx="9144000" cy="1137424"/>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 name="TextBox 5">
            <a:extLst>
              <a:ext uri="{FF2B5EF4-FFF2-40B4-BE49-F238E27FC236}">
                <a16:creationId xmlns:a16="http://schemas.microsoft.com/office/drawing/2014/main" id="{435622A9-B607-3053-594D-30A5ADF4ABCE}"/>
              </a:ext>
            </a:extLst>
          </p:cNvPr>
          <p:cNvSpPr txBox="1"/>
          <p:nvPr/>
        </p:nvSpPr>
        <p:spPr>
          <a:xfrm>
            <a:off x="361297" y="1598570"/>
            <a:ext cx="8592203" cy="707886"/>
          </a:xfrm>
          <a:prstGeom prst="rect">
            <a:avLst/>
          </a:prstGeom>
          <a:noFill/>
        </p:spPr>
        <p:txBody>
          <a:bodyPr wrap="square" rtlCol="0">
            <a:spAutoFit/>
          </a:bodyPr>
          <a:lstStyle/>
          <a:p>
            <a:pPr lvl="1"/>
            <a:r>
              <a:rPr lang="en-US" sz="1000" b="1" dirty="0">
                <a:latin typeface="Calibri" panose="020F0502020204030204" pitchFamily="34" charset="0"/>
                <a:ea typeface="Calibri" panose="020F0502020204030204" pitchFamily="34" charset="0"/>
                <a:cs typeface="Calibri" panose="020F0502020204030204" pitchFamily="34" charset="0"/>
              </a:rPr>
              <a:t>2. Salary Ranges</a:t>
            </a:r>
          </a:p>
          <a:p>
            <a:pPr lvl="1"/>
            <a:r>
              <a:rPr lang="en-US" sz="1000" dirty="0">
                <a:latin typeface="Calibri" panose="020F0502020204030204" pitchFamily="34" charset="0"/>
                <a:ea typeface="Calibri" panose="020F0502020204030204" pitchFamily="34" charset="0"/>
                <a:cs typeface="Calibri" panose="020F0502020204030204" pitchFamily="34" charset="0"/>
              </a:rPr>
              <a:t>Locations like Rye, NY offer the </a:t>
            </a:r>
            <a:r>
              <a:rPr lang="en-US" sz="1000" b="1" dirty="0">
                <a:latin typeface="Calibri" panose="020F0502020204030204" pitchFamily="34" charset="0"/>
                <a:ea typeface="Calibri" panose="020F0502020204030204" pitchFamily="34" charset="0"/>
                <a:cs typeface="Calibri" panose="020F0502020204030204" pitchFamily="34" charset="0"/>
              </a:rPr>
              <a:t>highest salaries (£175,000/year)</a:t>
            </a:r>
            <a:r>
              <a:rPr lang="en-US" sz="1000" dirty="0">
                <a:latin typeface="Calibri" panose="020F0502020204030204" pitchFamily="34" charset="0"/>
                <a:ea typeface="Calibri" panose="020F0502020204030204" pitchFamily="34" charset="0"/>
                <a:cs typeface="Calibri" panose="020F0502020204030204" pitchFamily="34" charset="0"/>
              </a:rPr>
              <a:t>, with most IT job salaries ranging between </a:t>
            </a:r>
            <a:r>
              <a:rPr lang="en-US" sz="1000" b="1" dirty="0">
                <a:latin typeface="Calibri" panose="020F0502020204030204" pitchFamily="34" charset="0"/>
                <a:ea typeface="Calibri" panose="020F0502020204030204" pitchFamily="34" charset="0"/>
                <a:cs typeface="Calibri" panose="020F0502020204030204" pitchFamily="34" charset="0"/>
              </a:rPr>
              <a:t>£100k-£150k</a:t>
            </a:r>
            <a:r>
              <a:rPr lang="en-US" sz="1000" dirty="0">
                <a:latin typeface="Calibri" panose="020F0502020204030204" pitchFamily="34" charset="0"/>
                <a:ea typeface="Calibri" panose="020F0502020204030204" pitchFamily="34" charset="0"/>
                <a:cs typeface="Calibri" panose="020F0502020204030204" pitchFamily="34" charset="0"/>
              </a:rPr>
              <a:t>, accounting for over 11,000 postings. Salaries increase with seniority, with Directors earning £163,205 and Executives £153,649, while Entry-Level and Internship roles offer £110,000–£125,000. Overall, salaries vary significantly by experience and location, with seniority playing a key role in earning potential..</a:t>
            </a:r>
          </a:p>
        </p:txBody>
      </p:sp>
      <p:sp>
        <p:nvSpPr>
          <p:cNvPr id="7" name="Rectangle 6">
            <a:extLst>
              <a:ext uri="{FF2B5EF4-FFF2-40B4-BE49-F238E27FC236}">
                <a16:creationId xmlns:a16="http://schemas.microsoft.com/office/drawing/2014/main" id="{07A8E793-8F62-BB2A-F327-8BB39B742868}"/>
              </a:ext>
            </a:extLst>
          </p:cNvPr>
          <p:cNvSpPr/>
          <p:nvPr/>
        </p:nvSpPr>
        <p:spPr>
          <a:xfrm>
            <a:off x="-1" y="2476445"/>
            <a:ext cx="9144000" cy="11374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TextBox 7">
            <a:extLst>
              <a:ext uri="{FF2B5EF4-FFF2-40B4-BE49-F238E27FC236}">
                <a16:creationId xmlns:a16="http://schemas.microsoft.com/office/drawing/2014/main" id="{04DBEBFB-866F-137B-A758-31FEA4FACBB7}"/>
              </a:ext>
            </a:extLst>
          </p:cNvPr>
          <p:cNvSpPr txBox="1"/>
          <p:nvPr/>
        </p:nvSpPr>
        <p:spPr>
          <a:xfrm>
            <a:off x="361298" y="2526172"/>
            <a:ext cx="9024001" cy="861774"/>
          </a:xfrm>
          <a:prstGeom prst="rect">
            <a:avLst/>
          </a:prstGeom>
          <a:noFill/>
        </p:spPr>
        <p:txBody>
          <a:bodyPr wrap="square" rtlCol="0">
            <a:spAutoFit/>
          </a:bodyPr>
          <a:lstStyle/>
          <a:p>
            <a:r>
              <a:rPr lang="en-US" sz="1000" b="1" dirty="0">
                <a:latin typeface="Calibri" panose="020F0502020204030204" pitchFamily="34" charset="0"/>
                <a:ea typeface="Calibri" panose="020F0502020204030204" pitchFamily="34" charset="0"/>
                <a:cs typeface="Calibri" panose="020F0502020204030204" pitchFamily="34" charset="0"/>
              </a:rPr>
              <a:t>3. Required Skills</a:t>
            </a:r>
          </a:p>
          <a:p>
            <a:pPr marL="171450" indent="-171450">
              <a:buFont typeface="Wingdings" panose="05000000000000000000" pitchFamily="2" charset="2"/>
              <a:buChar char="§"/>
            </a:pPr>
            <a:r>
              <a:rPr lang="en-US" sz="1000" b="1" dirty="0">
                <a:latin typeface="Calibri" panose="020F0502020204030204" pitchFamily="34" charset="0"/>
                <a:ea typeface="Calibri" panose="020F0502020204030204" pitchFamily="34" charset="0"/>
                <a:cs typeface="Calibri" panose="020F0502020204030204" pitchFamily="34" charset="0"/>
              </a:rPr>
              <a:t>Top IT Skills</a:t>
            </a:r>
            <a:r>
              <a:rPr lang="en-US" sz="1000" dirty="0">
                <a:latin typeface="Calibri" panose="020F0502020204030204" pitchFamily="34" charset="0"/>
                <a:ea typeface="Calibri" panose="020F0502020204030204" pitchFamily="34" charset="0"/>
                <a:cs typeface="Calibri" panose="020F0502020204030204" pitchFamily="34" charset="0"/>
              </a:rPr>
              <a:t>:</a:t>
            </a:r>
          </a:p>
          <a:p>
            <a:pPr marL="742950" lvl="1" indent="-285750">
              <a:buFont typeface="Wingdings" panose="05000000000000000000" pitchFamily="2" charset="2"/>
              <a:buChar char="§"/>
            </a:pPr>
            <a:r>
              <a:rPr lang="en-US" sz="1000" b="1" dirty="0">
                <a:latin typeface="Calibri" panose="020F0502020204030204" pitchFamily="34" charset="0"/>
                <a:ea typeface="Calibri" panose="020F0502020204030204" pitchFamily="34" charset="0"/>
                <a:cs typeface="Calibri" panose="020F0502020204030204" pitchFamily="34" charset="0"/>
              </a:rPr>
              <a:t>Java</a:t>
            </a:r>
            <a:r>
              <a:rPr lang="en-US" sz="1000" dirty="0">
                <a:latin typeface="Calibri" panose="020F0502020204030204" pitchFamily="34" charset="0"/>
                <a:ea typeface="Calibri" panose="020F0502020204030204" pitchFamily="34" charset="0"/>
                <a:cs typeface="Calibri" panose="020F0502020204030204" pitchFamily="34" charset="0"/>
              </a:rPr>
              <a:t> (30.4%), </a:t>
            </a:r>
            <a:r>
              <a:rPr lang="en-US" sz="1000" b="1" dirty="0">
                <a:latin typeface="Calibri" panose="020F0502020204030204" pitchFamily="34" charset="0"/>
                <a:ea typeface="Calibri" panose="020F0502020204030204" pitchFamily="34" charset="0"/>
                <a:cs typeface="Calibri" panose="020F0502020204030204" pitchFamily="34" charset="0"/>
              </a:rPr>
              <a:t>SQL</a:t>
            </a:r>
            <a:r>
              <a:rPr lang="en-US" sz="1000" dirty="0">
                <a:latin typeface="Calibri" panose="020F0502020204030204" pitchFamily="34" charset="0"/>
                <a:ea typeface="Calibri" panose="020F0502020204030204" pitchFamily="34" charset="0"/>
                <a:cs typeface="Calibri" panose="020F0502020204030204" pitchFamily="34" charset="0"/>
              </a:rPr>
              <a:t> (26.1%), and </a:t>
            </a:r>
            <a:r>
              <a:rPr lang="en-US" sz="1000" b="1" dirty="0">
                <a:latin typeface="Calibri" panose="020F0502020204030204" pitchFamily="34" charset="0"/>
                <a:ea typeface="Calibri" panose="020F0502020204030204" pitchFamily="34" charset="0"/>
                <a:cs typeface="Calibri" panose="020F0502020204030204" pitchFamily="34" charset="0"/>
              </a:rPr>
              <a:t>Python</a:t>
            </a:r>
            <a:r>
              <a:rPr lang="en-US" sz="1000" dirty="0">
                <a:latin typeface="Calibri" panose="020F0502020204030204" pitchFamily="34" charset="0"/>
                <a:ea typeface="Calibri" panose="020F0502020204030204" pitchFamily="34" charset="0"/>
                <a:cs typeface="Calibri" panose="020F0502020204030204" pitchFamily="34" charset="0"/>
              </a:rPr>
              <a:t> (24.6%) dominate the market.</a:t>
            </a:r>
          </a:p>
          <a:p>
            <a:pPr marL="742950" lvl="1" indent="-285750">
              <a:buFont typeface="Wingdings" panose="05000000000000000000" pitchFamily="2" charset="2"/>
              <a:buChar char="§"/>
            </a:pPr>
            <a:r>
              <a:rPr lang="en-US" sz="1000" dirty="0">
                <a:latin typeface="Calibri" panose="020F0502020204030204" pitchFamily="34" charset="0"/>
                <a:ea typeface="Calibri" panose="020F0502020204030204" pitchFamily="34" charset="0"/>
                <a:cs typeface="Calibri" panose="020F0502020204030204" pitchFamily="34" charset="0"/>
              </a:rPr>
              <a:t>Cloud-related skills like </a:t>
            </a:r>
            <a:r>
              <a:rPr lang="en-US" sz="1000" b="1" dirty="0">
                <a:latin typeface="Calibri" panose="020F0502020204030204" pitchFamily="34" charset="0"/>
                <a:ea typeface="Calibri" panose="020F0502020204030204" pitchFamily="34" charset="0"/>
                <a:cs typeface="Calibri" panose="020F0502020204030204" pitchFamily="34" charset="0"/>
              </a:rPr>
              <a:t>AWS</a:t>
            </a:r>
            <a:r>
              <a:rPr lang="en-US" sz="1000" dirty="0">
                <a:latin typeface="Calibri" panose="020F0502020204030204" pitchFamily="34" charset="0"/>
                <a:ea typeface="Calibri" panose="020F0502020204030204" pitchFamily="34" charset="0"/>
                <a:cs typeface="Calibri" panose="020F0502020204030204" pitchFamily="34" charset="0"/>
              </a:rPr>
              <a:t> (15.9%) reflect growing demand for cloud technologies.</a:t>
            </a:r>
          </a:p>
          <a:p>
            <a:pPr marL="171450" indent="-171450">
              <a:buFont typeface="Wingdings" panose="05000000000000000000" pitchFamily="2" charset="2"/>
              <a:buChar char="§"/>
            </a:pPr>
            <a:r>
              <a:rPr lang="en-US" sz="1000" b="1" dirty="0">
                <a:latin typeface="Calibri" panose="020F0502020204030204" pitchFamily="34" charset="0"/>
                <a:ea typeface="Calibri" panose="020F0502020204030204" pitchFamily="34" charset="0"/>
                <a:cs typeface="Calibri" panose="020F0502020204030204" pitchFamily="34" charset="0"/>
              </a:rPr>
              <a:t>Conclusion</a:t>
            </a:r>
            <a:r>
              <a:rPr lang="en-US" sz="1000" dirty="0">
                <a:latin typeface="Calibri" panose="020F0502020204030204" pitchFamily="34" charset="0"/>
                <a:ea typeface="Calibri" panose="020F0502020204030204" pitchFamily="34" charset="0"/>
                <a:cs typeface="Calibri" panose="020F0502020204030204" pitchFamily="34" charset="0"/>
              </a:rPr>
              <a:t>: Job seekers should </a:t>
            </a:r>
            <a:r>
              <a:rPr lang="en-US" sz="1000" dirty="0" err="1">
                <a:latin typeface="Calibri" panose="020F0502020204030204" pitchFamily="34" charset="0"/>
                <a:ea typeface="Calibri" panose="020F0502020204030204" pitchFamily="34" charset="0"/>
                <a:cs typeface="Calibri" panose="020F0502020204030204" pitchFamily="34" charset="0"/>
              </a:rPr>
              <a:t>prioritise</a:t>
            </a:r>
            <a:r>
              <a:rPr lang="en-US" sz="1000" dirty="0">
                <a:latin typeface="Calibri" panose="020F0502020204030204" pitchFamily="34" charset="0"/>
                <a:ea typeface="Calibri" panose="020F0502020204030204" pitchFamily="34" charset="0"/>
                <a:cs typeface="Calibri" panose="020F0502020204030204" pitchFamily="34" charset="0"/>
              </a:rPr>
              <a:t> these skills to align with industry demand.</a:t>
            </a:r>
          </a:p>
        </p:txBody>
      </p:sp>
      <p:sp>
        <p:nvSpPr>
          <p:cNvPr id="9" name="Rectangle 8">
            <a:extLst>
              <a:ext uri="{FF2B5EF4-FFF2-40B4-BE49-F238E27FC236}">
                <a16:creationId xmlns:a16="http://schemas.microsoft.com/office/drawing/2014/main" id="{91728E3D-BD31-94EC-99FD-84FA18CF72B5}"/>
              </a:ext>
            </a:extLst>
          </p:cNvPr>
          <p:cNvSpPr/>
          <p:nvPr/>
        </p:nvSpPr>
        <p:spPr>
          <a:xfrm>
            <a:off x="-2" y="3415164"/>
            <a:ext cx="9144000" cy="1018849"/>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 name="TextBox 9">
            <a:extLst>
              <a:ext uri="{FF2B5EF4-FFF2-40B4-BE49-F238E27FC236}">
                <a16:creationId xmlns:a16="http://schemas.microsoft.com/office/drawing/2014/main" id="{D1225745-8CAA-29BE-6D67-B7C01991FA4D}"/>
              </a:ext>
            </a:extLst>
          </p:cNvPr>
          <p:cNvSpPr txBox="1"/>
          <p:nvPr/>
        </p:nvSpPr>
        <p:spPr>
          <a:xfrm>
            <a:off x="361297" y="3464891"/>
            <a:ext cx="9024001" cy="861774"/>
          </a:xfrm>
          <a:prstGeom prst="rect">
            <a:avLst/>
          </a:prstGeom>
          <a:noFill/>
        </p:spPr>
        <p:txBody>
          <a:bodyPr wrap="square" rtlCol="0">
            <a:spAutoFit/>
          </a:bodyPr>
          <a:lstStyle/>
          <a:p>
            <a:r>
              <a:rPr lang="en-US" sz="1000" b="1" dirty="0">
                <a:latin typeface="Calibri" panose="020F0502020204030204" pitchFamily="34" charset="0"/>
                <a:ea typeface="Calibri" panose="020F0502020204030204" pitchFamily="34" charset="0"/>
                <a:cs typeface="Calibri" panose="020F0502020204030204" pitchFamily="34" charset="0"/>
              </a:rPr>
              <a:t>4. Experience Levels</a:t>
            </a:r>
          </a:p>
          <a:p>
            <a:pPr>
              <a:buFont typeface="Arial" panose="020B0604020202020204" pitchFamily="34" charset="0"/>
              <a:buChar char="•"/>
            </a:pPr>
            <a:r>
              <a:rPr lang="en-US" sz="1000" b="1" dirty="0">
                <a:latin typeface="Calibri" panose="020F0502020204030204" pitchFamily="34" charset="0"/>
                <a:ea typeface="Calibri" panose="020F0502020204030204" pitchFamily="34" charset="0"/>
                <a:cs typeface="Calibri" panose="020F0502020204030204" pitchFamily="34" charset="0"/>
              </a:rPr>
              <a:t>Key Insights</a:t>
            </a:r>
            <a:r>
              <a:rPr lang="en-US" sz="1000" dirty="0">
                <a:latin typeface="Calibri" panose="020F0502020204030204" pitchFamily="34" charset="0"/>
                <a:ea typeface="Calibri" panose="020F0502020204030204" pitchFamily="34" charset="0"/>
                <a:cs typeface="Calibri" panose="020F0502020204030204" pitchFamily="34" charset="0"/>
              </a:rPr>
              <a:t>:</a:t>
            </a:r>
          </a:p>
          <a:p>
            <a:pPr marL="742950" lvl="1" indent="-285750">
              <a:buFont typeface="Arial" panose="020B0604020202020204" pitchFamily="34" charset="0"/>
              <a:buChar char="•"/>
            </a:pPr>
            <a:r>
              <a:rPr lang="en-US" sz="1000" b="1" dirty="0">
                <a:latin typeface="Calibri" panose="020F0502020204030204" pitchFamily="34" charset="0"/>
                <a:ea typeface="Calibri" panose="020F0502020204030204" pitchFamily="34" charset="0"/>
                <a:cs typeface="Calibri" panose="020F0502020204030204" pitchFamily="34" charset="0"/>
              </a:rPr>
              <a:t>Mid-Senior Level</a:t>
            </a:r>
            <a:r>
              <a:rPr lang="en-US" sz="1000" dirty="0">
                <a:latin typeface="Calibri" panose="020F0502020204030204" pitchFamily="34" charset="0"/>
                <a:ea typeface="Calibri" panose="020F0502020204030204" pitchFamily="34" charset="0"/>
                <a:cs typeface="Calibri" panose="020F0502020204030204" pitchFamily="34" charset="0"/>
              </a:rPr>
              <a:t>: Salaries range from £90,000–£150,000 and represent a significant portion of postings.</a:t>
            </a:r>
          </a:p>
          <a:p>
            <a:pPr marL="742950" lvl="1" indent="-285750">
              <a:buFont typeface="Arial" panose="020B0604020202020204" pitchFamily="34" charset="0"/>
              <a:buChar char="•"/>
            </a:pPr>
            <a:r>
              <a:rPr lang="en-US" sz="1000" b="1" dirty="0">
                <a:latin typeface="Calibri" panose="020F0502020204030204" pitchFamily="34" charset="0"/>
                <a:ea typeface="Calibri" panose="020F0502020204030204" pitchFamily="34" charset="0"/>
                <a:cs typeface="Calibri" panose="020F0502020204030204" pitchFamily="34" charset="0"/>
              </a:rPr>
              <a:t>Entry-Level Roles</a:t>
            </a:r>
            <a:r>
              <a:rPr lang="en-US" sz="1000" dirty="0">
                <a:latin typeface="Calibri" panose="020F0502020204030204" pitchFamily="34" charset="0"/>
                <a:ea typeface="Calibri" panose="020F0502020204030204" pitchFamily="34" charset="0"/>
                <a:cs typeface="Calibri" panose="020F0502020204030204" pitchFamily="34" charset="0"/>
              </a:rPr>
              <a:t>: Common, providing opportunities for fresh graduates.</a:t>
            </a:r>
          </a:p>
          <a:p>
            <a:pPr>
              <a:buFont typeface="Arial" panose="020B0604020202020204" pitchFamily="34" charset="0"/>
              <a:buChar char="•"/>
            </a:pPr>
            <a:r>
              <a:rPr lang="en-US" sz="1000" b="1" dirty="0">
                <a:latin typeface="Calibri" panose="020F0502020204030204" pitchFamily="34" charset="0"/>
                <a:ea typeface="Calibri" panose="020F0502020204030204" pitchFamily="34" charset="0"/>
                <a:cs typeface="Calibri" panose="020F0502020204030204" pitchFamily="34" charset="0"/>
              </a:rPr>
              <a:t>Conclusion</a:t>
            </a:r>
            <a:r>
              <a:rPr lang="en-US" sz="1000" dirty="0">
                <a:latin typeface="Calibri" panose="020F0502020204030204" pitchFamily="34" charset="0"/>
                <a:ea typeface="Calibri" panose="020F0502020204030204" pitchFamily="34" charset="0"/>
                <a:cs typeface="Calibri" panose="020F0502020204030204" pitchFamily="34" charset="0"/>
              </a:rPr>
              <a:t>: Experience level greatly influences salary and job opportunities.</a:t>
            </a:r>
          </a:p>
        </p:txBody>
      </p:sp>
      <p:sp>
        <p:nvSpPr>
          <p:cNvPr id="11" name="Rectangle 10">
            <a:extLst>
              <a:ext uri="{FF2B5EF4-FFF2-40B4-BE49-F238E27FC236}">
                <a16:creationId xmlns:a16="http://schemas.microsoft.com/office/drawing/2014/main" id="{E6CAB776-0978-ACA8-46A8-F923B225ACFA}"/>
              </a:ext>
            </a:extLst>
          </p:cNvPr>
          <p:cNvSpPr/>
          <p:nvPr/>
        </p:nvSpPr>
        <p:spPr>
          <a:xfrm>
            <a:off x="0" y="4341737"/>
            <a:ext cx="9143998" cy="8017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3" name="TextBox 12">
            <a:extLst>
              <a:ext uri="{FF2B5EF4-FFF2-40B4-BE49-F238E27FC236}">
                <a16:creationId xmlns:a16="http://schemas.microsoft.com/office/drawing/2014/main" id="{77DB66FA-560C-B7B4-EE28-DB41B566897A}"/>
              </a:ext>
            </a:extLst>
          </p:cNvPr>
          <p:cNvSpPr txBox="1"/>
          <p:nvPr/>
        </p:nvSpPr>
        <p:spPr>
          <a:xfrm>
            <a:off x="361297" y="4384286"/>
            <a:ext cx="8808101" cy="707886"/>
          </a:xfrm>
          <a:prstGeom prst="rect">
            <a:avLst/>
          </a:prstGeom>
          <a:noFill/>
        </p:spPr>
        <p:txBody>
          <a:bodyPr wrap="square" rtlCol="0">
            <a:spAutoFit/>
          </a:bodyPr>
          <a:lstStyle/>
          <a:p>
            <a:r>
              <a:rPr lang="en-US" sz="1000" b="1" dirty="0">
                <a:latin typeface="Calibri" panose="020F0502020204030204" pitchFamily="34" charset="0"/>
                <a:ea typeface="Calibri" panose="020F0502020204030204" pitchFamily="34" charset="0"/>
                <a:cs typeface="Calibri" panose="020F0502020204030204" pitchFamily="34" charset="0"/>
              </a:rPr>
              <a:t>5. Work Types &amp; Locations</a:t>
            </a:r>
          </a:p>
          <a:p>
            <a:r>
              <a:rPr lang="en-US" sz="1000" b="1" dirty="0">
                <a:latin typeface="Calibri" panose="020F0502020204030204" pitchFamily="34" charset="0"/>
                <a:ea typeface="Calibri" panose="020F0502020204030204" pitchFamily="34" charset="0"/>
                <a:cs typeface="Calibri" panose="020F0502020204030204" pitchFamily="34" charset="0"/>
              </a:rPr>
              <a:t>Rye, NY, Long Beach, CA, and Boulder County, CO</a:t>
            </a:r>
            <a:r>
              <a:rPr lang="en-US" sz="1000" dirty="0">
                <a:latin typeface="Calibri" panose="020F0502020204030204" pitchFamily="34" charset="0"/>
                <a:ea typeface="Calibri" panose="020F0502020204030204" pitchFamily="34" charset="0"/>
                <a:cs typeface="Calibri" panose="020F0502020204030204" pitchFamily="34" charset="0"/>
              </a:rPr>
              <a:t> are </a:t>
            </a:r>
            <a:r>
              <a:rPr lang="en-US" sz="1000" b="1" u="sng" dirty="0">
                <a:latin typeface="Calibri" panose="020F0502020204030204" pitchFamily="34" charset="0"/>
                <a:ea typeface="Calibri" panose="020F0502020204030204" pitchFamily="34" charset="0"/>
                <a:cs typeface="Calibri" panose="020F0502020204030204" pitchFamily="34" charset="0"/>
              </a:rPr>
              <a:t>top location</a:t>
            </a:r>
            <a:r>
              <a:rPr lang="en-US" sz="1000" dirty="0">
                <a:latin typeface="Calibri" panose="020F0502020204030204" pitchFamily="34" charset="0"/>
                <a:ea typeface="Calibri" panose="020F0502020204030204" pitchFamily="34" charset="0"/>
                <a:cs typeface="Calibri" panose="020F0502020204030204" pitchFamily="34" charset="0"/>
              </a:rPr>
              <a:t>s offering the highest salaries, often exceeding £</a:t>
            </a:r>
            <a:r>
              <a:rPr lang="en-US" sz="1000" dirty="0">
                <a:solidFill>
                  <a:srgbClr val="00B050"/>
                </a:solidFill>
                <a:latin typeface="Calibri" panose="020F0502020204030204" pitchFamily="34" charset="0"/>
                <a:ea typeface="Calibri" panose="020F0502020204030204" pitchFamily="34" charset="0"/>
                <a:cs typeface="Calibri" panose="020F0502020204030204" pitchFamily="34" charset="0"/>
              </a:rPr>
              <a:t>120,000</a:t>
            </a:r>
            <a:r>
              <a:rPr lang="en-US" sz="1000" dirty="0">
                <a:latin typeface="Calibri" panose="020F0502020204030204" pitchFamily="34" charset="0"/>
                <a:ea typeface="Calibri" panose="020F0502020204030204" pitchFamily="34" charset="0"/>
                <a:cs typeface="Calibri" panose="020F0502020204030204" pitchFamily="34" charset="0"/>
              </a:rPr>
              <a:t>/year, reflecting the geographic concentration of IT hubs. The Histogram of Maximum Salaries by Location highlights significant salary variations across regions, </a:t>
            </a:r>
            <a:r>
              <a:rPr lang="en-US" sz="1000" u="sng" dirty="0" err="1">
                <a:latin typeface="Calibri" panose="020F0502020204030204" pitchFamily="34" charset="0"/>
                <a:ea typeface="Calibri" panose="020F0502020204030204" pitchFamily="34" charset="0"/>
                <a:cs typeface="Calibri" panose="020F0502020204030204" pitchFamily="34" charset="0"/>
              </a:rPr>
              <a:t>emphasising</a:t>
            </a:r>
            <a:r>
              <a:rPr lang="en-US" sz="1000" u="sng" dirty="0">
                <a:latin typeface="Calibri" panose="020F0502020204030204" pitchFamily="34" charset="0"/>
                <a:ea typeface="Calibri" panose="020F0502020204030204" pitchFamily="34" charset="0"/>
                <a:cs typeface="Calibri" panose="020F0502020204030204" pitchFamily="34" charset="0"/>
              </a:rPr>
              <a:t> the critical role of location in determining competitive compensation in the IT sector</a:t>
            </a:r>
            <a:r>
              <a:rPr lang="en-US" sz="1000"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28312915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84052DA-1900-0218-993B-C42D86EC5956}"/>
              </a:ext>
            </a:extLst>
          </p:cNvPr>
          <p:cNvSpPr>
            <a:spLocks noGrp="1"/>
          </p:cNvSpPr>
          <p:nvPr>
            <p:ph type="ctrTitle"/>
          </p:nvPr>
        </p:nvSpPr>
        <p:spPr>
          <a:xfrm>
            <a:off x="2021323" y="1806176"/>
            <a:ext cx="4825564" cy="1385100"/>
          </a:xfrm>
        </p:spPr>
        <p:txBody>
          <a:bodyPr/>
          <a:lstStyle/>
          <a:p>
            <a:r>
              <a:rPr lang="en-SG" dirty="0"/>
              <a:t>Thank You!</a:t>
            </a:r>
          </a:p>
        </p:txBody>
      </p:sp>
      <p:sp>
        <p:nvSpPr>
          <p:cNvPr id="4" name="Subtitle 3">
            <a:extLst>
              <a:ext uri="{FF2B5EF4-FFF2-40B4-BE49-F238E27FC236}">
                <a16:creationId xmlns:a16="http://schemas.microsoft.com/office/drawing/2014/main" id="{F6F48C71-A3D0-0E10-83A0-F6E7C19C1B19}"/>
              </a:ext>
            </a:extLst>
          </p:cNvPr>
          <p:cNvSpPr>
            <a:spLocks noGrp="1"/>
          </p:cNvSpPr>
          <p:nvPr>
            <p:ph type="subTitle" idx="1"/>
          </p:nvPr>
        </p:nvSpPr>
        <p:spPr>
          <a:xfrm>
            <a:off x="2021323" y="2943624"/>
            <a:ext cx="4825565" cy="405000"/>
          </a:xfrm>
        </p:spPr>
        <p:txBody>
          <a:bodyPr/>
          <a:lstStyle/>
          <a:p>
            <a:r>
              <a:rPr lang="en-SG" sz="1050" dirty="0"/>
              <a:t>End Of CA1 Assignment : Done by Balamurugan Siddhartha (P2404312) </a:t>
            </a:r>
          </a:p>
        </p:txBody>
      </p:sp>
    </p:spTree>
    <p:extLst>
      <p:ext uri="{BB962C8B-B14F-4D97-AF65-F5344CB8AC3E}">
        <p14:creationId xmlns:p14="http://schemas.microsoft.com/office/powerpoint/2010/main" val="2297481535"/>
      </p:ext>
    </p:extLst>
  </p:cSld>
  <p:clrMapOvr>
    <a:masterClrMapping/>
  </p:clrMapOvr>
</p:sld>
</file>

<file path=ppt/theme/theme1.xml><?xml version="1.0" encoding="utf-8"?>
<a:theme xmlns:a="http://schemas.openxmlformats.org/drawingml/2006/main" name="Statistics and Data Analysis - 6th Grade by Slidesgo">
  <a:themeElements>
    <a:clrScheme name="Simple Light">
      <a:dk1>
        <a:srgbClr val="334157"/>
      </a:dk1>
      <a:lt1>
        <a:srgbClr val="4C69B2"/>
      </a:lt1>
      <a:dk2>
        <a:srgbClr val="FDFDFD"/>
      </a:dk2>
      <a:lt2>
        <a:srgbClr val="6389EB"/>
      </a:lt2>
      <a:accent1>
        <a:srgbClr val="CBDDFA"/>
      </a:accent1>
      <a:accent2>
        <a:srgbClr val="FF4949"/>
      </a:accent2>
      <a:accent3>
        <a:srgbClr val="FF7A78"/>
      </a:accent3>
      <a:accent4>
        <a:srgbClr val="FF9D35"/>
      </a:accent4>
      <a:accent5>
        <a:srgbClr val="FFC53A"/>
      </a:accent5>
      <a:accent6>
        <a:srgbClr val="EBEBEB"/>
      </a:accent6>
      <a:hlink>
        <a:srgbClr val="33415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864</TotalTime>
  <Words>2956</Words>
  <Application>Microsoft Office PowerPoint</Application>
  <PresentationFormat>On-screen Show (16:9)</PresentationFormat>
  <Paragraphs>218</Paragraphs>
  <Slides>18</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Calibri</vt:lpstr>
      <vt:lpstr>Arial</vt:lpstr>
      <vt:lpstr>Commissioner ExtraBold</vt:lpstr>
      <vt:lpstr>DM Sans</vt:lpstr>
      <vt:lpstr>Wingdings</vt:lpstr>
      <vt:lpstr>Book Antiqua</vt:lpstr>
      <vt:lpstr>Baloo 2 ExtraBold</vt:lpstr>
      <vt:lpstr>Statistics and Data Analysis - 6th Grade by Slidesgo</vt:lpstr>
      <vt:lpstr>A Deep Dive Into IT Job Trends</vt:lpstr>
      <vt:lpstr>PowerPoint Presentation</vt:lpstr>
      <vt:lpstr>Research Question</vt:lpstr>
      <vt:lpstr>Datasets Provided</vt:lpstr>
      <vt:lpstr>Background Information</vt:lpstr>
      <vt:lpstr>Exploratory Data Analysis &amp; Data Wrangling With Pandas</vt:lpstr>
      <vt:lpstr>Individual Data Exploration : Structure &amp; Missing Values </vt:lpstr>
      <vt:lpstr>Comprehensive Data Analysis &amp; Sorting Datasets</vt:lpstr>
      <vt:lpstr>Data Wrangling: Merging &amp; Cleaning  </vt:lpstr>
      <vt:lpstr>Final DataFrame Overview</vt:lpstr>
      <vt:lpstr>Data Visualisation With MatPlotLib</vt:lpstr>
      <vt:lpstr>Data Visualisation: Pie Chart &amp; Bar Chart</vt:lpstr>
      <vt:lpstr>Data Visualisation: Histogram, Line Chart &amp; Scatter Plot</vt:lpstr>
      <vt:lpstr>Data Visualisation: Boxplot, Bar Chart, Histogram</vt:lpstr>
      <vt:lpstr>Conclusions To Research Question</vt:lpstr>
      <vt:lpstr>Steps Taken to Answer the Research Question</vt:lpstr>
      <vt:lpstr>Final Conclusions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BALAMURUGAN SIDDHARTHA</cp:lastModifiedBy>
  <cp:revision>31</cp:revision>
  <dcterms:modified xsi:type="dcterms:W3CDTF">2024-12-11T15:45:43Z</dcterms:modified>
</cp:coreProperties>
</file>